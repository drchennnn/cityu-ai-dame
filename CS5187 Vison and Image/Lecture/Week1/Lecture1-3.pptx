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1" r:id="rId3"/>
    <p:sldMasterId id="2147483673" r:id="rId4"/>
    <p:sldMasterId id="2147483685" r:id="rId5"/>
    <p:sldMasterId id="2147483697" r:id="rId6"/>
    <p:sldMasterId id="2147483709" r:id="rId7"/>
    <p:sldMasterId id="2147483722" r:id="rId8"/>
    <p:sldMasterId id="2147483735" r:id="rId9"/>
  </p:sldMasterIdLst>
  <p:notesMasterIdLst>
    <p:notesMasterId r:id="rId11"/>
  </p:notesMasterIdLst>
  <p:sldIdLst>
    <p:sldId id="352" r:id="rId10"/>
    <p:sldId id="296" r:id="rId12"/>
    <p:sldId id="333" r:id="rId13"/>
    <p:sldId id="297" r:id="rId14"/>
    <p:sldId id="321" r:id="rId15"/>
    <p:sldId id="335" r:id="rId16"/>
    <p:sldId id="336" r:id="rId17"/>
    <p:sldId id="337" r:id="rId18"/>
    <p:sldId id="338" r:id="rId19"/>
    <p:sldId id="298" r:id="rId20"/>
    <p:sldId id="299" r:id="rId21"/>
    <p:sldId id="300" r:id="rId22"/>
    <p:sldId id="301" r:id="rId23"/>
    <p:sldId id="302" r:id="rId24"/>
    <p:sldId id="303" r:id="rId25"/>
    <p:sldId id="304" r:id="rId26"/>
    <p:sldId id="323" r:id="rId27"/>
    <p:sldId id="306" r:id="rId28"/>
    <p:sldId id="307" r:id="rId29"/>
    <p:sldId id="308" r:id="rId30"/>
    <p:sldId id="327" r:id="rId31"/>
    <p:sldId id="344" r:id="rId32"/>
    <p:sldId id="345" r:id="rId33"/>
    <p:sldId id="351" r:id="rId34"/>
    <p:sldId id="350" r:id="rId35"/>
    <p:sldId id="341" r:id="rId36"/>
    <p:sldId id="343" r:id="rId37"/>
    <p:sldId id="309" r:id="rId38"/>
    <p:sldId id="310" r:id="rId39"/>
    <p:sldId id="311" r:id="rId40"/>
    <p:sldId id="324" r:id="rId41"/>
    <p:sldId id="328" r:id="rId42"/>
    <p:sldId id="325" r:id="rId43"/>
    <p:sldId id="326" r:id="rId44"/>
    <p:sldId id="313" r:id="rId45"/>
    <p:sldId id="314" r:id="rId46"/>
    <p:sldId id="315" r:id="rId47"/>
    <p:sldId id="330" r:id="rId48"/>
    <p:sldId id="331" r:id="rId49"/>
    <p:sldId id="332" r:id="rId50"/>
    <p:sldId id="329" r:id="rId5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7" autoAdjust="0"/>
    <p:restoredTop sz="94626" autoAdjust="0"/>
  </p:normalViewPr>
  <p:slideViewPr>
    <p:cSldViewPr showGuides="1">
      <p:cViewPr varScale="1">
        <p:scale>
          <a:sx n="62" d="100"/>
          <a:sy n="62" d="100"/>
        </p:scale>
        <p:origin x="802" y="3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1.xml"/><Relationship Id="rId50" Type="http://schemas.openxmlformats.org/officeDocument/2006/relationships/slide" Target="slides/slide40.xml"/><Relationship Id="rId5" Type="http://schemas.openxmlformats.org/officeDocument/2006/relationships/slideMaster" Target="slideMasters/slideMaster4.xml"/><Relationship Id="rId49" Type="http://schemas.openxmlformats.org/officeDocument/2006/relationships/slide" Target="slides/slide39.xml"/><Relationship Id="rId48" Type="http://schemas.openxmlformats.org/officeDocument/2006/relationships/slide" Target="slides/slide38.xml"/><Relationship Id="rId47" Type="http://schemas.openxmlformats.org/officeDocument/2006/relationships/slide" Target="slides/slide37.xml"/><Relationship Id="rId46" Type="http://schemas.openxmlformats.org/officeDocument/2006/relationships/slide" Target="slides/slide36.xml"/><Relationship Id="rId45" Type="http://schemas.openxmlformats.org/officeDocument/2006/relationships/slide" Target="slides/slide35.xml"/><Relationship Id="rId44" Type="http://schemas.openxmlformats.org/officeDocument/2006/relationships/slide" Target="slides/slide34.xml"/><Relationship Id="rId43" Type="http://schemas.openxmlformats.org/officeDocument/2006/relationships/slide" Target="slides/slide33.xml"/><Relationship Id="rId42" Type="http://schemas.openxmlformats.org/officeDocument/2006/relationships/slide" Target="slides/slide32.xml"/><Relationship Id="rId41" Type="http://schemas.openxmlformats.org/officeDocument/2006/relationships/slide" Target="slides/slide31.xml"/><Relationship Id="rId40" Type="http://schemas.openxmlformats.org/officeDocument/2006/relationships/slide" Target="slides/slide30.xml"/><Relationship Id="rId4" Type="http://schemas.openxmlformats.org/officeDocument/2006/relationships/slideMaster" Target="slideMasters/slideMaster3.xml"/><Relationship Id="rId39" Type="http://schemas.openxmlformats.org/officeDocument/2006/relationships/slide" Target="slides/slide29.xml"/><Relationship Id="rId38" Type="http://schemas.openxmlformats.org/officeDocument/2006/relationships/slide" Target="slides/slide28.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image" Target="../media/image2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D492CD9C-0936-4CB5-8F47-4F37A3C1BD80}" type="datetimeFigureOut">
              <a:rPr lang="en-US" smtClean="0"/>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A8A4206-02EB-4F55-B83C-8E908C558B6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eaLnBrk="0" hangingPunct="0">
              <a:defRPr sz="2400">
                <a:solidFill>
                  <a:schemeClr val="tx1"/>
                </a:solidFill>
                <a:latin typeface="Tahoma" panose="020B0604030504040204" pitchFamily="34" charset="0"/>
              </a:defRPr>
            </a:lvl1pPr>
            <a:lvl2pPr marL="742950" indent="-285750" defTabSz="948055" eaLnBrk="0" hangingPunct="0">
              <a:defRPr sz="2400">
                <a:solidFill>
                  <a:schemeClr val="tx1"/>
                </a:solidFill>
                <a:latin typeface="Tahoma" panose="020B0604030504040204" pitchFamily="34" charset="0"/>
              </a:defRPr>
            </a:lvl2pPr>
            <a:lvl3pPr marL="1143000" indent="-228600" defTabSz="948055" eaLnBrk="0" hangingPunct="0">
              <a:defRPr sz="2400">
                <a:solidFill>
                  <a:schemeClr val="tx1"/>
                </a:solidFill>
                <a:latin typeface="Tahoma" panose="020B0604030504040204" pitchFamily="34" charset="0"/>
              </a:defRPr>
            </a:lvl3pPr>
            <a:lvl4pPr marL="1600200" indent="-228600" defTabSz="948055" eaLnBrk="0" hangingPunct="0">
              <a:defRPr sz="2400">
                <a:solidFill>
                  <a:schemeClr val="tx1"/>
                </a:solidFill>
                <a:latin typeface="Tahoma" panose="020B0604030504040204" pitchFamily="34" charset="0"/>
              </a:defRPr>
            </a:lvl4pPr>
            <a:lvl5pPr marL="2057400" indent="-228600" defTabSz="948055" eaLnBrk="0" hangingPunct="0">
              <a:defRPr sz="2400">
                <a:solidFill>
                  <a:schemeClr val="tx1"/>
                </a:solidFill>
                <a:latin typeface="Tahoma" panose="020B0604030504040204" pitchFamily="34" charset="0"/>
              </a:defRPr>
            </a:lvl5pPr>
            <a:lvl6pPr marL="2514600" indent="-228600" algn="ctr" defTabSz="948055"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48055"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48055"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48055"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r" defTabSz="948055" rtl="0" eaLnBrk="1" fontAlgn="base" latinLnBrk="0" hangingPunct="1">
              <a:lnSpc>
                <a:spcPct val="100000"/>
              </a:lnSpc>
              <a:spcBef>
                <a:spcPct val="0"/>
              </a:spcBef>
              <a:spcAft>
                <a:spcPct val="0"/>
              </a:spcAft>
              <a:buClrTx/>
              <a:buSzTx/>
              <a:buFontTx/>
              <a:buNone/>
              <a:defRPr/>
            </a:pPr>
            <a:fld id="{4DAFBE10-24F1-40A5-929B-A7304CD2D597}" type="slidenum">
              <a:rPr kumimoji="0" lang="en-US" sz="1200" b="0" i="0" u="none" strike="noStrike" kern="1200" cap="none" spc="0" normalizeH="0" baseline="0" noProof="0" smtClean="0">
                <a:ln>
                  <a:noFill/>
                </a:ln>
                <a:solidFill>
                  <a:srgbClr val="000000"/>
                </a:solidFill>
                <a:effectLst/>
                <a:uLnTx/>
                <a:uFillTx/>
                <a:latin typeface="Times New Roman" panose="02020503050405090304" pitchFamily="18" charset="0"/>
                <a:ea typeface="+mn-ea"/>
                <a:cs typeface="+mn-cs"/>
              </a:rPr>
            </a:fld>
            <a:endParaRPr kumimoji="0" lang="en-US" sz="1200" b="0" i="0" u="none" strike="noStrike" kern="1200" cap="none" spc="0" normalizeH="0" baseline="0" noProof="0">
              <a:ln>
                <a:noFill/>
              </a:ln>
              <a:solidFill>
                <a:srgbClr val="000000"/>
              </a:solidFill>
              <a:effectLst/>
              <a:uLnTx/>
              <a:uFillTx/>
              <a:latin typeface="Times New Roman" panose="02020503050405090304" pitchFamily="18" charset="0"/>
              <a:ea typeface="+mn-ea"/>
              <a:cs typeface="+mn-cs"/>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D61C155-FDB6-45B3-A8EB-64DCB3A41D3B}" type="slidenum">
              <a:rPr lang="en-US"/>
            </a:fld>
            <a:endParaRPr lang="en-US"/>
          </a:p>
        </p:txBody>
      </p:sp>
      <p:sp>
        <p:nvSpPr>
          <p:cNvPr id="482306" name="Rectangle 2"/>
          <p:cNvSpPr>
            <a:spLocks noGrp="1" noRot="1" noChangeAspect="1" noChangeArrowheads="1" noTextEdit="1"/>
          </p:cNvSpPr>
          <p:nvPr>
            <p:ph type="sldImg"/>
          </p:nvPr>
        </p:nvSpPr>
        <p:spPr>
          <a:xfrm>
            <a:off x="1179513" y="695325"/>
            <a:ext cx="4624387" cy="3470275"/>
          </a:xfrm>
        </p:spPr>
      </p:sp>
      <p:sp>
        <p:nvSpPr>
          <p:cNvPr id="4823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A03D039-7F9F-4A88-9D5C-788DCC1B8F18}" type="slidenum">
              <a:rPr lang="en-US" altLang="en-US" smtClean="0">
                <a:solidFill>
                  <a:prstClr val="black"/>
                </a:solidFill>
              </a:rPr>
            </a:fld>
            <a:endParaRPr lang="en-US" altLang="en-US">
              <a:solidFill>
                <a:prstClr val="black"/>
              </a:solidFill>
            </a:endParaRPr>
          </a:p>
        </p:txBody>
      </p:sp>
      <p:sp>
        <p:nvSpPr>
          <p:cNvPr id="1638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3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EB6B1AF-0CDC-4AFE-91EB-1BA445E390DC}" type="slidenum">
              <a:rPr lang="en-US"/>
            </a:fld>
            <a:endParaRPr lang="en-US"/>
          </a:p>
        </p:txBody>
      </p:sp>
      <p:sp>
        <p:nvSpPr>
          <p:cNvPr id="483330" name="Rectangle 2"/>
          <p:cNvSpPr>
            <a:spLocks noGrp="1" noRot="1" noChangeAspect="1" noChangeArrowheads="1" noTextEdit="1"/>
          </p:cNvSpPr>
          <p:nvPr>
            <p:ph type="sldImg"/>
          </p:nvPr>
        </p:nvSpPr>
        <p:spPr>
          <a:xfrm>
            <a:off x="1179513" y="695325"/>
            <a:ext cx="4624387" cy="3470275"/>
          </a:xfrm>
        </p:spPr>
      </p:sp>
      <p:sp>
        <p:nvSpPr>
          <p:cNvPr id="483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A519368F-EAE0-4D3F-A58D-0C61B9EB5CDD}" type="slidenum">
              <a:rPr lang="en-US" smtClean="0"/>
            </a:fld>
            <a:endParaRPr lang="en-US"/>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C8FF5886-D4A8-4A49-8F34-B8597D3588FD}" type="slidenum">
              <a:rPr lang="en-US" smtClean="0"/>
            </a:fld>
            <a:endParaRPr lang="en-US"/>
          </a:p>
        </p:txBody>
      </p:sp>
      <p:sp>
        <p:nvSpPr>
          <p:cNvPr id="36867" name="Rectangle 2"/>
          <p:cNvSpPr>
            <a:spLocks noGrp="1" noRot="1" noChangeAspect="1" noChangeArrowheads="1" noTextEdit="1"/>
          </p:cNvSpPr>
          <p:nvPr>
            <p:ph type="sldImg"/>
          </p:nvPr>
        </p:nvSpPr>
        <p:spPr>
          <a:xfrm>
            <a:off x="1179513" y="695325"/>
            <a:ext cx="4624387" cy="3470275"/>
          </a:xfrm>
        </p:spPr>
      </p:sp>
      <p:sp>
        <p:nvSpPr>
          <p:cNvPr id="36868" name="Rectangle 3"/>
          <p:cNvSpPr>
            <a:spLocks noGrp="1" noChangeArrowheads="1"/>
          </p:cNvSpPr>
          <p:nvPr>
            <p:ph type="body" idx="1"/>
          </p:nvPr>
        </p:nvSpPr>
        <p:spPr>
          <a:xfrm>
            <a:off x="909770" y="4396116"/>
            <a:ext cx="5160433" cy="4240868"/>
          </a:xfrm>
          <a:noFill/>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4BD0F738-C018-426C-9157-CC508A339379}" type="slidenum">
              <a:rPr lang="en-US" smtClean="0"/>
            </a:fld>
            <a:endParaRPr lang="en-US"/>
          </a:p>
        </p:txBody>
      </p:sp>
      <p:sp>
        <p:nvSpPr>
          <p:cNvPr id="40963" name="Rectangle 2"/>
          <p:cNvSpPr>
            <a:spLocks noGrp="1" noRot="1" noChangeAspect="1" noChangeArrowheads="1" noTextEdit="1"/>
          </p:cNvSpPr>
          <p:nvPr>
            <p:ph type="sldImg"/>
          </p:nvPr>
        </p:nvSpPr>
        <p:spPr>
          <a:xfrm>
            <a:off x="1179513" y="695325"/>
            <a:ext cx="4624387" cy="3470275"/>
          </a:xfrm>
        </p:spPr>
      </p:sp>
      <p:sp>
        <p:nvSpPr>
          <p:cNvPr id="40964" name="Rectangle 3"/>
          <p:cNvSpPr>
            <a:spLocks noGrp="1" noChangeArrowheads="1"/>
          </p:cNvSpPr>
          <p:nvPr>
            <p:ph type="body" idx="1"/>
          </p:nvPr>
        </p:nvSpPr>
        <p:spPr>
          <a:xfrm>
            <a:off x="909770" y="4396116"/>
            <a:ext cx="5160433" cy="4240868"/>
          </a:xfrm>
          <a:noFill/>
        </p:spPr>
        <p:txBody>
          <a:bodyPr/>
          <a:lstStyle/>
          <a:p>
            <a:pPr eaLnBrk="1" hangingPunct="1"/>
            <a:r>
              <a:rPr lang="en-US"/>
              <a:t>How to fix?</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D30E5181-7D8B-4D93-BCED-A4CB54E04535}" type="slidenum">
              <a:rPr lang="en-US" smtClean="0"/>
            </a:fld>
            <a:endParaRPr lang="en-US"/>
          </a:p>
        </p:txBody>
      </p:sp>
      <p:sp>
        <p:nvSpPr>
          <p:cNvPr id="44035" name="Rectangle 2"/>
          <p:cNvSpPr>
            <a:spLocks noGrp="1" noRot="1" noChangeAspect="1" noChangeArrowheads="1" noTextEdit="1"/>
          </p:cNvSpPr>
          <p:nvPr>
            <p:ph type="sldImg"/>
          </p:nvPr>
        </p:nvSpPr>
        <p:spPr>
          <a:xfrm>
            <a:off x="1179513" y="695325"/>
            <a:ext cx="4624387" cy="3470275"/>
          </a:xfrm>
        </p:spPr>
      </p:sp>
      <p:sp>
        <p:nvSpPr>
          <p:cNvPr id="44036" name="Rectangle 3"/>
          <p:cNvSpPr>
            <a:spLocks noGrp="1" noChangeArrowheads="1"/>
          </p:cNvSpPr>
          <p:nvPr>
            <p:ph type="body" idx="1"/>
          </p:nvPr>
        </p:nvSpPr>
        <p:spPr>
          <a:xfrm>
            <a:off x="909770" y="4396116"/>
            <a:ext cx="5160433" cy="4240868"/>
          </a:xfrm>
          <a:noFill/>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770F13A1-DA61-48C2-B89C-2B2DDFCE63B9}" type="slidenum">
              <a:rPr lang="en-US" smtClean="0"/>
            </a:fld>
            <a:endParaRPr lang="en-US"/>
          </a:p>
        </p:txBody>
      </p:sp>
      <p:sp>
        <p:nvSpPr>
          <p:cNvPr id="45059" name="Rectangle 2"/>
          <p:cNvSpPr>
            <a:spLocks noGrp="1" noRot="1" noChangeAspect="1" noChangeArrowheads="1" noTextEdit="1"/>
          </p:cNvSpPr>
          <p:nvPr>
            <p:ph type="sldImg"/>
          </p:nvPr>
        </p:nvSpPr>
        <p:spPr>
          <a:xfrm>
            <a:off x="1179513" y="695325"/>
            <a:ext cx="4624387" cy="3470275"/>
          </a:xfrm>
        </p:spPr>
      </p:sp>
      <p:sp>
        <p:nvSpPr>
          <p:cNvPr id="45060" name="Rectangle 3"/>
          <p:cNvSpPr>
            <a:spLocks noGrp="1" noChangeArrowheads="1"/>
          </p:cNvSpPr>
          <p:nvPr>
            <p:ph type="body" idx="1"/>
          </p:nvPr>
        </p:nvSpPr>
        <p:spPr>
          <a:xfrm>
            <a:off x="909770" y="4396116"/>
            <a:ext cx="5160433" cy="4240868"/>
          </a:xfrm>
          <a:noFill/>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78FCEA50-995A-484F-A7D6-79A1942CBCF7}" type="slidenum">
              <a:rPr lang="en-US" smtClean="0"/>
            </a:fld>
            <a:endParaRPr lang="en-US"/>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p:txBody>
          <a:bodyPr/>
          <a:lstStyle/>
          <a:p>
            <a:fld id="{54E7AF4E-50B3-4AEC-A02E-C05AF9D042D7}" type="slidenum">
              <a:rPr lang="en-US"/>
            </a:fld>
            <a:endParaRPr lang="en-US"/>
          </a:p>
        </p:txBody>
      </p:sp>
      <p:sp>
        <p:nvSpPr>
          <p:cNvPr id="467970" name="Rectangle 7"/>
          <p:cNvSpPr txBox="1">
            <a:spLocks noGrp="1" noChangeArrowheads="1"/>
          </p:cNvSpPr>
          <p:nvPr/>
        </p:nvSpPr>
        <p:spPr bwMode="auto">
          <a:xfrm>
            <a:off x="3946393" y="8869085"/>
            <a:ext cx="3033580" cy="462669"/>
          </a:xfrm>
          <a:prstGeom prst="rect">
            <a:avLst/>
          </a:prstGeom>
          <a:noFill/>
          <a:ln w="9525">
            <a:noFill/>
            <a:miter lim="800000"/>
          </a:ln>
        </p:spPr>
        <p:txBody>
          <a:bodyPr lIns="91880" tIns="45939" rIns="91880" bIns="45939" anchor="b"/>
          <a:lstStyle/>
          <a:p>
            <a:pPr algn="r" defTabSz="919480"/>
            <a:fld id="{6566B668-B627-4CC7-846D-72C5D0232D1C}" type="slidenum">
              <a:rPr lang="en-US" sz="1200"/>
            </a:fld>
            <a:endParaRPr lang="en-US" sz="1200" dirty="0"/>
          </a:p>
        </p:txBody>
      </p:sp>
      <p:sp>
        <p:nvSpPr>
          <p:cNvPr id="467971" name="Rectangle 2"/>
          <p:cNvSpPr>
            <a:spLocks noGrp="1" noRot="1" noChangeAspect="1" noChangeArrowheads="1" noTextEdit="1"/>
          </p:cNvSpPr>
          <p:nvPr>
            <p:ph type="sldImg"/>
          </p:nvPr>
        </p:nvSpPr>
        <p:spPr>
          <a:xfrm>
            <a:off x="1179513" y="695325"/>
            <a:ext cx="4624387" cy="3470275"/>
          </a:xfrm>
        </p:spPr>
      </p:sp>
      <p:sp>
        <p:nvSpPr>
          <p:cNvPr id="467972"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p:txBody>
          <a:bodyPr/>
          <a:lstStyle/>
          <a:p>
            <a:r>
              <a:rPr lang="en-US"/>
              <a:t>© 2006 Microsoft Corporation. All rights reserved. Microsoft, Windows, Windows Vista and other product names are or may be registered trademarks and/or trademarks in the U.S. and/or other countries.</a:t>
            </a:r>
            <a:endParaRPr lang="en-US"/>
          </a:p>
          <a:p>
            <a:r>
              <a:rPr lang="en-US"/>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br>
            <a:r>
              <a:rPr lang="en-US"/>
              <a:t>MICROSOFT MAKES NO WARRANTIES, EXPRESS, IMPLIED OR STATUTORY, AS TO THE INFORMATION IN THIS PRESENTATION.</a:t>
            </a:r>
            <a:endParaRPr lang="en-US"/>
          </a:p>
        </p:txBody>
      </p:sp>
      <p:sp>
        <p:nvSpPr>
          <p:cNvPr id="7" name="Rectangle 7"/>
          <p:cNvSpPr>
            <a:spLocks noGrp="1" noChangeArrowheads="1"/>
          </p:cNvSpPr>
          <p:nvPr>
            <p:ph type="sldNum" sz="quarter" idx="5"/>
          </p:nvPr>
        </p:nvSpPr>
        <p:spPr/>
        <p:txBody>
          <a:bodyPr/>
          <a:lstStyle/>
          <a:p>
            <a:fld id="{C654EAAC-B9EF-4584-9853-917EC4D204F9}" type="slidenum">
              <a:rPr lang="en-US" smtClean="0"/>
            </a:fld>
            <a:endParaRPr lang="en-US"/>
          </a:p>
        </p:txBody>
      </p:sp>
      <p:sp>
        <p:nvSpPr>
          <p:cNvPr id="11" name="Slide Image Placeholder 10"/>
          <p:cNvSpPr>
            <a:spLocks noGrp="1" noRot="1" noChangeAspect="1"/>
          </p:cNvSpPr>
          <p:nvPr>
            <p:ph type="sldImg"/>
          </p:nvPr>
        </p:nvSpPr>
        <p:spPr/>
      </p:sp>
      <p:sp>
        <p:nvSpPr>
          <p:cNvPr id="12" name="Notes Placeholder 11"/>
          <p:cNvSpPr>
            <a:spLocks noGrp="1"/>
          </p:cNvSpPr>
          <p:nvPr>
            <p:ph type="body" idx="1"/>
          </p:nvPr>
        </p:nvSpPr>
        <p:spPr/>
        <p:txBody>
          <a:bodyPr>
            <a:normAutofit/>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ln>
        </p:spPr>
      </p:sp>
      <p:sp>
        <p:nvSpPr>
          <p:cNvPr id="22530" name="Rectangle 2"/>
          <p:cNvSpPr>
            <a:spLocks noGrp="1" noChangeArrowheads="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r>
              <a:rPr lang="en-US" sz="1200" kern="1200" dirty="0">
                <a:solidFill>
                  <a:schemeClr val="tx1"/>
                </a:solidFill>
                <a:effectLst/>
                <a:latin typeface="+mn-lt"/>
                <a:ea typeface="+mn-ea"/>
                <a:cs typeface="+mn-cs"/>
              </a:rPr>
              <a:t>Blurring an image with a Gaussian and then taking its Laplacian is equivalent to convolving directly with the </a:t>
            </a:r>
            <a:r>
              <a:rPr lang="en-US" sz="1200" i="1" kern="1200" dirty="0">
                <a:solidFill>
                  <a:schemeClr val="tx1"/>
                </a:solidFill>
                <a:effectLst/>
                <a:latin typeface="+mn-lt"/>
                <a:ea typeface="+mn-ea"/>
                <a:cs typeface="+mn-cs"/>
              </a:rPr>
              <a:t>Laplacian of Gaussian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LoG</a:t>
            </a:r>
            <a:r>
              <a:rPr lang="en-US" sz="1200" kern="1200" dirty="0">
                <a:solidFill>
                  <a:schemeClr val="tx1"/>
                </a:solidFill>
                <a:effectLst/>
                <a:latin typeface="+mn-lt"/>
                <a:ea typeface="+mn-ea"/>
                <a:cs typeface="+mn-cs"/>
              </a:rPr>
              <a:t>) filter </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4C78E82-7594-483B-8C44-0D95D89DFDA4}" type="slidenum">
              <a:rPr lang="en-US" altLang="en-US" smtClean="0">
                <a:solidFill>
                  <a:prstClr val="black"/>
                </a:solidFill>
              </a:rPr>
            </a:fld>
            <a:endParaRPr lang="en-US" altLang="en-US">
              <a:solidFill>
                <a:prstClr val="black"/>
              </a:solidFill>
            </a:endParaRPr>
          </a:p>
        </p:txBody>
      </p:sp>
      <p:sp>
        <p:nvSpPr>
          <p:cNvPr id="44035"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4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p:txBody>
          <a:bodyPr/>
          <a:lstStyle/>
          <a:p>
            <a:pPr>
              <a:defRPr/>
            </a:pPr>
            <a:fld id="{6B32AA58-BB10-4140-94B7-2596A5F648BF}" type="slidenum">
              <a:rPr lang="en-US" smtClean="0">
                <a:solidFill>
                  <a:prstClr val="black"/>
                </a:solidFill>
              </a:rPr>
            </a:fld>
            <a:endParaRPr lang="en-US">
              <a:solidFill>
                <a:prstClr val="black"/>
              </a:solidFill>
            </a:endParaRPr>
          </a:p>
        </p:txBody>
      </p:sp>
      <p:sp>
        <p:nvSpPr>
          <p:cNvPr id="70659" name="Rectangle 2"/>
          <p:cNvSpPr>
            <a:spLocks noGrp="1" noRot="1" noChangeAspect="1" noChangeArrowheads="1" noTextEdit="1"/>
          </p:cNvSpPr>
          <p:nvPr>
            <p:ph type="sldImg"/>
          </p:nvPr>
        </p:nvSpPr>
        <p:spPr bwMode="auto">
          <a:noFill/>
          <a:ln>
            <a:solidFill>
              <a:srgbClr val="000000"/>
            </a:solidFill>
            <a:miter lim="800000"/>
          </a:ln>
        </p:spPr>
      </p:sp>
      <p:sp>
        <p:nvSpPr>
          <p:cNvPr id="70660"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F64300EC-EC5B-46B8-88DB-97E06B2D2D14}" type="slidenum">
              <a:rPr lang="en-US" smtClean="0"/>
            </a:fld>
            <a:endParaRPr lang="en-US"/>
          </a:p>
        </p:txBody>
      </p:sp>
      <p:sp>
        <p:nvSpPr>
          <p:cNvPr id="53251" name="Rectangle 2"/>
          <p:cNvSpPr>
            <a:spLocks noGrp="1" noRot="1" noChangeAspect="1" noChangeArrowheads="1" noTextEdit="1"/>
          </p:cNvSpPr>
          <p:nvPr>
            <p:ph type="sldImg"/>
          </p:nvPr>
        </p:nvSpPr>
        <p:spPr>
          <a:xfrm>
            <a:off x="1179513" y="695325"/>
            <a:ext cx="4624387" cy="3470275"/>
          </a:xfrm>
        </p:spPr>
      </p:sp>
      <p:sp>
        <p:nvSpPr>
          <p:cNvPr id="53252" name="Rectangle 3"/>
          <p:cNvSpPr>
            <a:spLocks noGrp="1" noChangeArrowheads="1"/>
          </p:cNvSpPr>
          <p:nvPr>
            <p:ph type="body" idx="1"/>
          </p:nvPr>
        </p:nvSpPr>
        <p:spPr>
          <a:xfrm>
            <a:off x="909770" y="4396116"/>
            <a:ext cx="5160433" cy="4240868"/>
          </a:xfrm>
          <a:noFill/>
        </p:spPr>
        <p:txBody>
          <a:bodyPr/>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DB8BDD3E-763B-40B1-9E99-56467CB73723}" type="slidenum">
              <a:rPr lang="en-US" smtClean="0"/>
            </a:fld>
            <a:endParaRPr lang="en-US"/>
          </a:p>
        </p:txBody>
      </p:sp>
      <p:sp>
        <p:nvSpPr>
          <p:cNvPr id="54275" name="Rectangle 2"/>
          <p:cNvSpPr>
            <a:spLocks noGrp="1" noRot="1" noChangeAspect="1" noChangeArrowheads="1" noTextEdit="1"/>
          </p:cNvSpPr>
          <p:nvPr>
            <p:ph type="sldImg"/>
          </p:nvPr>
        </p:nvSpPr>
        <p:spPr>
          <a:xfrm>
            <a:off x="1179513" y="695325"/>
            <a:ext cx="4624387" cy="3470275"/>
          </a:xfrm>
        </p:spPr>
      </p:sp>
      <p:sp>
        <p:nvSpPr>
          <p:cNvPr id="54276" name="Rectangle 3"/>
          <p:cNvSpPr>
            <a:spLocks noGrp="1" noChangeArrowheads="1"/>
          </p:cNvSpPr>
          <p:nvPr>
            <p:ph type="body" idx="1"/>
          </p:nvPr>
        </p:nvSpPr>
        <p:spPr>
          <a:xfrm>
            <a:off x="909770" y="4396116"/>
            <a:ext cx="5160433" cy="4240868"/>
          </a:xfrm>
          <a:noFill/>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D25F0F6A-4F37-4F70-9747-5EA58DB911E8}" type="slidenum">
              <a:rPr lang="en-US" smtClean="0"/>
            </a:fld>
            <a:endParaRPr lang="en-US"/>
          </a:p>
        </p:txBody>
      </p:sp>
      <p:sp>
        <p:nvSpPr>
          <p:cNvPr id="55299" name="Rectangle 2"/>
          <p:cNvSpPr>
            <a:spLocks noGrp="1" noRot="1" noChangeAspect="1" noChangeArrowheads="1" noTextEdit="1"/>
          </p:cNvSpPr>
          <p:nvPr>
            <p:ph type="sldImg"/>
          </p:nvPr>
        </p:nvSpPr>
        <p:spPr>
          <a:xfrm>
            <a:off x="1179513" y="695325"/>
            <a:ext cx="4624387" cy="3470275"/>
          </a:xfrm>
        </p:spPr>
      </p:sp>
      <p:sp>
        <p:nvSpPr>
          <p:cNvPr id="55300" name="Rectangle 3"/>
          <p:cNvSpPr>
            <a:spLocks noGrp="1" noChangeArrowheads="1"/>
          </p:cNvSpPr>
          <p:nvPr>
            <p:ph type="body" idx="1"/>
          </p:nvPr>
        </p:nvSpPr>
        <p:spPr>
          <a:xfrm>
            <a:off x="909770" y="4396116"/>
            <a:ext cx="5160433" cy="4240868"/>
          </a:xfrm>
          <a:noFill/>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D25F0F6A-4F37-4F70-9747-5EA58DB911E8}" type="slidenum">
              <a:rPr lang="en-US" smtClean="0"/>
            </a:fld>
            <a:endParaRPr lang="en-US"/>
          </a:p>
        </p:txBody>
      </p:sp>
      <p:sp>
        <p:nvSpPr>
          <p:cNvPr id="55299" name="Rectangle 2"/>
          <p:cNvSpPr>
            <a:spLocks noGrp="1" noRot="1" noChangeAspect="1" noChangeArrowheads="1" noTextEdit="1"/>
          </p:cNvSpPr>
          <p:nvPr>
            <p:ph type="sldImg"/>
          </p:nvPr>
        </p:nvSpPr>
        <p:spPr>
          <a:xfrm>
            <a:off x="1179513" y="695325"/>
            <a:ext cx="4624387" cy="3470275"/>
          </a:xfrm>
        </p:spPr>
      </p:sp>
      <p:sp>
        <p:nvSpPr>
          <p:cNvPr id="55300" name="Rectangle 3"/>
          <p:cNvSpPr>
            <a:spLocks noGrp="1" noChangeArrowheads="1"/>
          </p:cNvSpPr>
          <p:nvPr>
            <p:ph type="body" idx="1"/>
          </p:nvPr>
        </p:nvSpPr>
        <p:spPr>
          <a:xfrm>
            <a:off x="909770" y="4396116"/>
            <a:ext cx="5160433" cy="4240868"/>
          </a:xfrm>
          <a:noFill/>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9A7EF8A6-361E-481F-B292-4B0DFD99E6D8}" type="slidenum">
              <a:rPr lang="en-US" smtClean="0"/>
            </a:fld>
            <a:endParaRPr lang="en-US"/>
          </a:p>
        </p:txBody>
      </p:sp>
      <p:sp>
        <p:nvSpPr>
          <p:cNvPr id="56323" name="Rectangle 2"/>
          <p:cNvSpPr>
            <a:spLocks noGrp="1" noRot="1" noChangeAspect="1" noChangeArrowheads="1" noTextEdit="1"/>
          </p:cNvSpPr>
          <p:nvPr>
            <p:ph type="sldImg"/>
          </p:nvPr>
        </p:nvSpPr>
        <p:spPr>
          <a:xfrm>
            <a:off x="1179513" y="695325"/>
            <a:ext cx="4624387" cy="3470275"/>
          </a:xfrm>
        </p:spPr>
      </p:sp>
      <p:sp>
        <p:nvSpPr>
          <p:cNvPr id="56324" name="Rectangle 3"/>
          <p:cNvSpPr>
            <a:spLocks noGrp="1" noChangeArrowheads="1"/>
          </p:cNvSpPr>
          <p:nvPr>
            <p:ph type="body" idx="1"/>
          </p:nvPr>
        </p:nvSpPr>
        <p:spPr>
          <a:xfrm>
            <a:off x="909770" y="4396116"/>
            <a:ext cx="5160433" cy="4240868"/>
          </a:xfrm>
          <a:noFill/>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D4272B6-521F-4D44-91D1-C5931EDFFC76}" type="slidenum">
              <a:rPr lang="en-US" smtClean="0"/>
            </a:fld>
            <a:endParaRPr lang="en-US"/>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bwMode="auto">
          <a:xfrm>
            <a:off x="1139825" y="682625"/>
            <a:ext cx="4552950" cy="3414713"/>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3" name="Rectangle 3"/>
          <p:cNvSpPr>
            <a:spLocks noGrp="1" noChangeArrowheads="1"/>
          </p:cNvSpPr>
          <p:nvPr>
            <p:ph type="body" idx="1"/>
          </p:nvPr>
        </p:nvSpPr>
        <p:spPr bwMode="auto">
          <a:xfrm>
            <a:off x="890588" y="4324350"/>
            <a:ext cx="5048250" cy="4170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4C10892-2C53-4DFD-9C95-DC6F4C426993}" type="slidenum">
              <a:rPr lang="en-US" altLang="en-US" smtClean="0">
                <a:solidFill>
                  <a:prstClr val="black"/>
                </a:solidFill>
              </a:rPr>
            </a:fld>
            <a:endParaRPr lang="en-US" altLang="en-US">
              <a:solidFill>
                <a:prstClr val="black"/>
              </a:solidFill>
            </a:endParaRPr>
          </a:p>
        </p:txBody>
      </p:sp>
      <p:sp>
        <p:nvSpPr>
          <p:cNvPr id="71683" name="Rectangle 2"/>
          <p:cNvSpPr>
            <a:spLocks noGrp="1" noRot="1" noChangeAspect="1" noChangeArrowheads="1" noTextEdit="1"/>
          </p:cNvSpPr>
          <p:nvPr>
            <p:ph type="sldImg"/>
          </p:nvPr>
        </p:nvSpPr>
        <p:spPr bwMode="auto">
          <a:xfrm>
            <a:off x="1139825" y="682625"/>
            <a:ext cx="4552950" cy="3414713"/>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xfrm>
            <a:off x="890588" y="4324350"/>
            <a:ext cx="5048250" cy="4170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9CB140F9-FF78-484D-9880-35FF4CA78FA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4043568-F8B5-4B08-9F56-33688856547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25C7B49-702A-471E-A8E2-FA173ABC5D5A}"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0E1680C2-965A-470D-9F6E-C86F5C20D4C5}"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2F6BABA-0B3F-493B-ABF1-D6A5D657F8E5}"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6" name="Date Placeholder 5"/>
          <p:cNvSpPr>
            <a:spLocks noGrp="1"/>
          </p:cNvSpPr>
          <p:nvPr>
            <p:ph type="dt" sz="half" idx="10"/>
          </p:nvPr>
        </p:nvSpPr>
        <p:spPr/>
        <p:txBody>
          <a:bodyPr/>
          <a:lstStyle/>
          <a:p>
            <a:fld id="{E5E6A7C1-FFF8-47D2-9B42-57DE5AA1E710}" type="datetime1">
              <a:rPr lang="en-US" smtClean="0"/>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2941B2BE-37E8-49C8-A941-FB00A9E058CF}" type="slidenum">
              <a:rPr lang="en-US" smtClean="0"/>
            </a:fld>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5FCB7C-0CE2-4D41-AD10-13A860A4878B}"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A89FA0C-8DD4-4352-B36C-17851D193D1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0255F7B-CDF8-4735-8A76-4D391CFB99B9}"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C1CE4AC-7F52-4ECC-8A6E-68B870FCAB2A}"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4B138AA-F637-4C33-BFDE-8D5C9EC740B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381000" y="1414198"/>
            <a:ext cx="8380412" cy="750205"/>
          </a:xfrm>
        </p:spPr>
        <p:txBody>
          <a:bodyPr>
            <a:normAutofit/>
          </a:bodyPr>
          <a:lstStyle>
            <a:lvl1pPr algn="l" rtl="0" fontAlgn="base">
              <a:lnSpc>
                <a:spcPct val="90000"/>
              </a:lnSpc>
              <a:spcBef>
                <a:spcPct val="0"/>
              </a:spcBef>
              <a:spcAft>
                <a:spcPct val="0"/>
              </a:spcAft>
              <a:defRPr lang="en-US" sz="3600" spc="-300" dirty="0">
                <a:ln w="3175">
                  <a:noFill/>
                </a:ln>
                <a:solidFill>
                  <a:schemeClr val="tx1"/>
                </a:solidFill>
                <a:effectLst/>
                <a:latin typeface="Kalinga" pitchFamily="34" charset="0"/>
                <a:ea typeface="+mn-ea"/>
                <a:cs typeface="Kalinga"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381000" y="2600062"/>
            <a:ext cx="8380412" cy="2076450"/>
          </a:xfrm>
        </p:spPr>
        <p:txBody>
          <a:bodyPr/>
          <a:lstStyle>
            <a:lvl1pPr>
              <a:buFontTx/>
              <a:buBlip>
                <a:blip r:embed="rId2"/>
              </a:buBlip>
              <a:defRPr/>
            </a:lvl1pPr>
            <a:lvl2pPr>
              <a:buFontTx/>
              <a:buBlip>
                <a:blip r:embed="rId3"/>
              </a:buBlip>
              <a:defRPr/>
            </a:lvl2pPr>
            <a:lvl3pPr>
              <a:buFontTx/>
              <a:buBlip>
                <a:blip r:embed="rId3"/>
              </a:buBlip>
              <a:defRPr/>
            </a:lvl3pPr>
            <a:lvl4pPr>
              <a:buFontTx/>
              <a:buBlip>
                <a:blip r:embed="rId3"/>
              </a:buBlip>
              <a:defRPr/>
            </a:lvl4pPr>
            <a:lvl5pPr>
              <a:buFontTx/>
              <a:buBlip>
                <a:blip r:embed="rId3"/>
              </a:buBlip>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normAutofit/>
          </a:bodyPr>
          <a:lstStyle>
            <a:lvl1pPr algn="ctr">
              <a:defRPr sz="4000"/>
            </a:lvl1pPr>
          </a:lstStyle>
          <a:p>
            <a:r>
              <a:rPr lang="en-US"/>
              <a:t>Click to edit Master title style</a:t>
            </a:r>
            <a:endParaRPr lang="en-US"/>
          </a:p>
        </p:txBody>
      </p:sp>
      <p:sp>
        <p:nvSpPr>
          <p:cNvPr id="3" name="Subtitle 2"/>
          <p:cNvSpPr>
            <a:spLocks noGrp="1"/>
          </p:cNvSpPr>
          <p:nvPr>
            <p:ph type="subTitle" idx="1"/>
          </p:nvPr>
        </p:nvSpPr>
        <p:spPr>
          <a:xfrm>
            <a:off x="1371600" y="3355975"/>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2D066C-596D-49CE-A2F5-8CBB785CD94B}"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6C594DD-5FC9-4A0F-821E-3B98AE256D8A}" type="slidenum">
              <a:rPr lang="en-US" altLang="en-US"/>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lvl1pPr algn="l">
              <a:defRPr sz="4000"/>
            </a:lvl1pPr>
          </a:lstStyle>
          <a:p>
            <a:r>
              <a:rPr lang="en-US" dirty="0"/>
              <a:t>Click to edit Master title style</a:t>
            </a:r>
            <a:endParaRPr lang="en-US" dirty="0"/>
          </a:p>
        </p:txBody>
      </p:sp>
      <p:sp>
        <p:nvSpPr>
          <p:cNvPr id="3" name="Content Placeholder 2"/>
          <p:cNvSpPr>
            <a:spLocks noGrp="1"/>
          </p:cNvSpPr>
          <p:nvPr>
            <p:ph idx="1"/>
          </p:nvPr>
        </p:nvSpPr>
        <p:spPr>
          <a:xfrm>
            <a:off x="457200" y="990600"/>
            <a:ext cx="8229600" cy="5135563"/>
          </a:xfrm>
        </p:spPr>
        <p:txBody>
          <a:bodyPr>
            <a:normAutofit/>
          </a:bodyPr>
          <a:lstStyle>
            <a:lvl1pPr>
              <a:defRPr sz="3200"/>
            </a:lvl1pPr>
            <a:lvl2pPr>
              <a:defRPr sz="2800"/>
            </a:lvl2pPr>
            <a:lvl3pPr>
              <a:defRPr sz="2400"/>
            </a:lvl3pPr>
            <a:lvl4pPr>
              <a:defRPr sz="2000"/>
            </a:lvl4pPr>
            <a:lvl5pPr>
              <a:defRPr sz="20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B9383FE-81D7-4188-8C10-8F5D0C0FD2FA}"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BB7035E-7F07-48E0-B6CD-AF661E7CEF08}" type="slidenum">
              <a:rPr lang="en-US" altLang="en-US"/>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1332BCB6-A698-4189-B413-4951ED31D534}"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7E0C5E-4F22-44AE-82CD-CD4C71025C1C}" type="slidenum">
              <a:rPr lang="en-US" altLang="en-US"/>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DDE82E6B-8973-4203-A15F-85DE5985AD5E}"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32A22E3-6B98-4EF0-9C0D-09FD4F90C5C8}" type="slidenum">
              <a:rPr lang="en-US" altLang="en-US"/>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F6D6B339-7797-44F4-81B9-C3816808FCEA}" type="datetime1">
              <a:rPr lang="en-US" smtClean="0">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8C0CDF8-BD26-4DEB-808C-B3E366351893}" type="slidenum">
              <a:rPr lang="en-US" altLang="en-US"/>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A29CB66-A643-4FC5-A242-A1B55E3E5122}" type="datetime1">
              <a:rPr lang="en-US" smtClean="0">
                <a:solidFill>
                  <a:prstClr val="black">
                    <a:tint val="75000"/>
                  </a:prstClr>
                </a:solidFill>
              </a:rPr>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FEF89315-E386-4877-A1F0-01B082BEB717}" type="slidenum">
              <a:rPr lang="en-US" altLang="en-US"/>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23C906D-D248-4492-9D37-6D3C28CD13BE}" type="datetime1">
              <a:rPr lang="en-US" smtClean="0">
                <a:solidFill>
                  <a:prstClr val="black">
                    <a:tint val="75000"/>
                  </a:prstClr>
                </a:solidFill>
              </a:rPr>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E5F51810-AB31-4D84-B94B-207DE3D5B9A4}" type="slidenum">
              <a:rPr lang="en-US" altLang="en-US"/>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3F28A125-6B96-4DD4-9347-0BF43C99DCEC}"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AF86A3-9CD9-4B5B-A8AC-C9E02589FD3E}" type="slidenum">
              <a:rPr lang="en-US" altLang="en-US"/>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4AF24695-4463-4537-B6DD-1452A592A3D0}"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C60A3A0-A621-4B1D-9FDA-A406DB3AEE53}" type="slidenum">
              <a:rPr lang="en-US" altLang="en-US"/>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E8CDBBD8-9307-4A72-B89E-9BCAEDEF41A9}"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6A316CF-E153-402C-B856-7BC364AA84AA}" type="slidenum">
              <a:rPr lang="en-US" altLang="en-US"/>
            </a:fld>
            <a:endParaRPr lang="en-US"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9652BAD1-B7CA-4147-856B-811673FED149}"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46DD150-62CE-4284-95A3-24734A1D8F86}" type="slidenum">
              <a:rPr lang="en-US" altLang="en-US"/>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normAutofit/>
          </a:bodyPr>
          <a:lstStyle>
            <a:lvl1pPr algn="ctr">
              <a:defRPr sz="4000"/>
            </a:lvl1pPr>
          </a:lstStyle>
          <a:p>
            <a:r>
              <a:rPr lang="en-US"/>
              <a:t>Click to edit Master title style</a:t>
            </a:r>
            <a:endParaRPr lang="en-US"/>
          </a:p>
        </p:txBody>
      </p:sp>
      <p:sp>
        <p:nvSpPr>
          <p:cNvPr id="3" name="Subtitle 2"/>
          <p:cNvSpPr>
            <a:spLocks noGrp="1"/>
          </p:cNvSpPr>
          <p:nvPr>
            <p:ph type="subTitle" idx="1"/>
          </p:nvPr>
        </p:nvSpPr>
        <p:spPr>
          <a:xfrm>
            <a:off x="1371600" y="3355975"/>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1922DE39-D846-429F-A927-2E4BD5B19F22}"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6C594DD-5FC9-4A0F-821E-3B98AE256D8A}" type="slidenum">
              <a:rPr lang="en-US" altLang="en-US"/>
            </a:fld>
            <a:endParaRPr lang="en-US"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lvl1pPr algn="l">
              <a:defRPr sz="4000"/>
            </a:lvl1pPr>
          </a:lstStyle>
          <a:p>
            <a:r>
              <a:rPr lang="en-US" dirty="0"/>
              <a:t>Click to edit Master title style</a:t>
            </a:r>
            <a:endParaRPr lang="en-US" dirty="0"/>
          </a:p>
        </p:txBody>
      </p:sp>
      <p:sp>
        <p:nvSpPr>
          <p:cNvPr id="3" name="Content Placeholder 2"/>
          <p:cNvSpPr>
            <a:spLocks noGrp="1"/>
          </p:cNvSpPr>
          <p:nvPr>
            <p:ph idx="1"/>
          </p:nvPr>
        </p:nvSpPr>
        <p:spPr>
          <a:xfrm>
            <a:off x="457200" y="990600"/>
            <a:ext cx="8229600" cy="5135563"/>
          </a:xfrm>
        </p:spPr>
        <p:txBody>
          <a:bodyPr>
            <a:normAutofit/>
          </a:bodyPr>
          <a:lstStyle>
            <a:lvl1pPr>
              <a:defRPr sz="3200"/>
            </a:lvl1pPr>
            <a:lvl2pPr>
              <a:defRPr sz="2800"/>
            </a:lvl2pPr>
            <a:lvl3pPr>
              <a:defRPr sz="2400"/>
            </a:lvl3pPr>
            <a:lvl4pPr>
              <a:defRPr sz="2000"/>
            </a:lvl4pPr>
            <a:lvl5pPr>
              <a:defRPr sz="20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FF5B3A4-7A72-411C-BDC9-0AA27D0F7D15}"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BB7035E-7F07-48E0-B6CD-AF661E7CEF08}" type="slidenum">
              <a:rPr lang="en-US" altLang="en-US"/>
            </a:fld>
            <a:endParaRPr lang="en-US"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3BDD0FFC-86B4-4C79-AA62-9EEE4EF1F99D}"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7E0C5E-4F22-44AE-82CD-CD4C71025C1C}" type="slidenum">
              <a:rPr lang="en-US" altLang="en-US"/>
            </a:fld>
            <a:endParaRPr lang="en-US"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F50EEA9B-F594-4E96-BD43-2D65C1EC3732}"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32A22E3-6B98-4EF0-9C0D-09FD4F90C5C8}" type="slidenum">
              <a:rPr lang="en-US" altLang="en-US"/>
            </a:fld>
            <a:endParaRPr lang="en-US"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79873F67-D58A-4A82-AE83-ACBDCE1D1BC9}" type="datetime1">
              <a:rPr lang="en-US" smtClean="0">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8C0CDF8-BD26-4DEB-808C-B3E366351893}" type="slidenum">
              <a:rPr lang="en-US" altLang="en-US"/>
            </a:fld>
            <a:endParaRPr lang="en-US"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A4543EB8-9FD0-490E-9BC6-628BE099ABA3}" type="datetime1">
              <a:rPr lang="en-US" smtClean="0">
                <a:solidFill>
                  <a:prstClr val="black">
                    <a:tint val="75000"/>
                  </a:prstClr>
                </a:solidFill>
              </a:rPr>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FEF89315-E386-4877-A1F0-01B082BEB717}" type="slidenum">
              <a:rPr lang="en-US" altLang="en-US"/>
            </a:fld>
            <a:endParaRPr lang="en-US"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C370D39-9148-4FE9-953C-6CA5ED648426}" type="datetime1">
              <a:rPr lang="en-US" smtClean="0">
                <a:solidFill>
                  <a:prstClr val="black">
                    <a:tint val="75000"/>
                  </a:prstClr>
                </a:solidFill>
              </a:rPr>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E5F51810-AB31-4D84-B94B-207DE3D5B9A4}" type="slidenum">
              <a:rPr lang="en-US" altLang="en-US"/>
            </a:fld>
            <a:endParaRPr lang="en-US"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A77E39D9-2221-4313-84FB-75A52E193B00}"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AF86A3-9CD9-4B5B-A8AC-C9E02589FD3E}" type="slidenum">
              <a:rPr lang="en-US" altLang="en-US"/>
            </a:fld>
            <a:endParaRPr lang="en-US"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DCEA39B7-FA90-4216-A670-C9A82AAEF82D}"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C60A3A0-A621-4B1D-9FDA-A406DB3AEE53}" type="slidenum">
              <a:rPr lang="en-US" altLang="en-US"/>
            </a:fld>
            <a:endParaRPr lang="en-US"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E67DEA62-BDA9-4A54-925C-AE3B1A379D40}"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6A316CF-E153-402C-B856-7BC364AA84AA}" type="slidenum">
              <a:rPr lang="en-US" altLang="en-US"/>
            </a:fld>
            <a:endParaRPr lang="en-US"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1D9F4642-D90A-4FC6-82A0-93F4823CBD4D}"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46DD150-62CE-4284-95A3-24734A1D8F86}" type="slidenum">
              <a:rPr lang="en-US" altLang="en-US"/>
            </a:fld>
            <a:endParaRPr lang="en-US"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normAutofit/>
          </a:bodyPr>
          <a:lstStyle>
            <a:lvl1pPr algn="ctr">
              <a:defRPr sz="4000"/>
            </a:lvl1pPr>
          </a:lstStyle>
          <a:p>
            <a:r>
              <a:rPr lang="en-US"/>
              <a:t>Click to edit Master title style</a:t>
            </a:r>
            <a:endParaRPr lang="en-US"/>
          </a:p>
        </p:txBody>
      </p:sp>
      <p:sp>
        <p:nvSpPr>
          <p:cNvPr id="3" name="Subtitle 2"/>
          <p:cNvSpPr>
            <a:spLocks noGrp="1"/>
          </p:cNvSpPr>
          <p:nvPr>
            <p:ph type="subTitle" idx="1"/>
          </p:nvPr>
        </p:nvSpPr>
        <p:spPr>
          <a:xfrm>
            <a:off x="1371600" y="3355975"/>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9397C8D5-7551-42C5-8AC8-B2B5896B9F65}"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6C594DD-5FC9-4A0F-821E-3B98AE256D8A}" type="slidenum">
              <a:rPr lang="en-US" altLang="en-US"/>
            </a:fld>
            <a:endParaRPr lang="en-US"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lvl1pPr algn="l">
              <a:defRPr sz="4000"/>
            </a:lvl1pPr>
          </a:lstStyle>
          <a:p>
            <a:r>
              <a:rPr lang="en-US" dirty="0"/>
              <a:t>Click to edit Master title style</a:t>
            </a:r>
            <a:endParaRPr lang="en-US" dirty="0"/>
          </a:p>
        </p:txBody>
      </p:sp>
      <p:sp>
        <p:nvSpPr>
          <p:cNvPr id="3" name="Content Placeholder 2"/>
          <p:cNvSpPr>
            <a:spLocks noGrp="1"/>
          </p:cNvSpPr>
          <p:nvPr>
            <p:ph idx="1"/>
          </p:nvPr>
        </p:nvSpPr>
        <p:spPr>
          <a:xfrm>
            <a:off x="457200" y="990600"/>
            <a:ext cx="8229600" cy="5135563"/>
          </a:xfrm>
        </p:spPr>
        <p:txBody>
          <a:bodyPr>
            <a:normAutofit/>
          </a:bodyPr>
          <a:lstStyle>
            <a:lvl1pPr>
              <a:defRPr sz="3200"/>
            </a:lvl1pPr>
            <a:lvl2pPr>
              <a:defRPr sz="2800"/>
            </a:lvl2pPr>
            <a:lvl3pPr>
              <a:defRPr sz="2400"/>
            </a:lvl3pPr>
            <a:lvl4pPr>
              <a:defRPr sz="2000"/>
            </a:lvl4pPr>
            <a:lvl5pPr>
              <a:defRPr sz="20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5D9CD35-3B57-4B21-94B8-430A91BD5499}"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BB7035E-7F07-48E0-B6CD-AF661E7CEF08}" type="slidenum">
              <a:rPr lang="en-US" altLang="en-US"/>
            </a:fld>
            <a:endParaRPr lang="en-US"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E2426C3C-6885-46C0-BF17-433ADA664560}"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7E0C5E-4F22-44AE-82CD-CD4C71025C1C}" type="slidenum">
              <a:rPr lang="en-US" altLang="en-US"/>
            </a:fld>
            <a:endParaRPr lang="en-US"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193C38C6-062F-401C-96D7-CCBC796A228B}"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32A22E3-6B98-4EF0-9C0D-09FD4F90C5C8}" type="slidenum">
              <a:rPr lang="en-US" altLang="en-US"/>
            </a:fld>
            <a:endParaRPr lang="en-US"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8BECEA2C-8D56-429B-BD30-03F57B7FBCFA}" type="datetime1">
              <a:rPr lang="en-US" smtClean="0">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8C0CDF8-BD26-4DEB-808C-B3E366351893}" type="slidenum">
              <a:rPr lang="en-US" altLang="en-US"/>
            </a:fld>
            <a:endParaRPr lang="en-US"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19AB10EB-981E-490A-A7F4-8F81B526D215}" type="datetime1">
              <a:rPr lang="en-US" smtClean="0">
                <a:solidFill>
                  <a:prstClr val="black">
                    <a:tint val="75000"/>
                  </a:prstClr>
                </a:solidFill>
              </a:rPr>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FEF89315-E386-4877-A1F0-01B082BEB717}" type="slidenum">
              <a:rPr lang="en-US" altLang="en-US"/>
            </a:fld>
            <a:endParaRPr lang="en-US"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458BA8C-2326-42DD-8636-569E52959ED2}" type="datetime1">
              <a:rPr lang="en-US" smtClean="0">
                <a:solidFill>
                  <a:prstClr val="black">
                    <a:tint val="75000"/>
                  </a:prstClr>
                </a:solidFill>
              </a:rPr>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E5F51810-AB31-4D84-B94B-207DE3D5B9A4}" type="slidenum">
              <a:rPr lang="en-US" altLang="en-US"/>
            </a:fld>
            <a:endParaRPr lang="en-US"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F290B66E-461E-4A23-8E5E-40A5020FAE9E}"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AF86A3-9CD9-4B5B-A8AC-C9E02589FD3E}" type="slidenum">
              <a:rPr lang="en-US" altLang="en-US"/>
            </a:fld>
            <a:endParaRPr lang="en-US"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2158BCD3-22E2-4729-BEC4-251EC0F90274}"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C60A3A0-A621-4B1D-9FDA-A406DB3AEE53}" type="slidenum">
              <a:rPr lang="en-US" altLang="en-US"/>
            </a:fld>
            <a:endParaRPr lang="en-US"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696F1100-323E-4448-9145-273B621CC7E3}"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6A316CF-E153-402C-B856-7BC364AA84AA}" type="slidenum">
              <a:rPr lang="en-US" altLang="en-US"/>
            </a:fld>
            <a:endParaRPr lang="en-US"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6B0D717D-4650-4D95-BF80-21A957DF4C27}"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46DD150-62CE-4284-95A3-24734A1D8F86}" type="slidenum">
              <a:rPr lang="en-US" altLang="en-US"/>
            </a:fld>
            <a:endParaRPr lang="en-US"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normAutofit/>
          </a:bodyPr>
          <a:lstStyle>
            <a:lvl1pPr algn="ctr">
              <a:defRPr sz="4000"/>
            </a:lvl1pPr>
          </a:lstStyle>
          <a:p>
            <a:r>
              <a:rPr lang="en-US"/>
              <a:t>Click to edit Master title style</a:t>
            </a:r>
            <a:endParaRPr lang="en-US"/>
          </a:p>
        </p:txBody>
      </p:sp>
      <p:sp>
        <p:nvSpPr>
          <p:cNvPr id="3" name="Subtitle 2"/>
          <p:cNvSpPr>
            <a:spLocks noGrp="1"/>
          </p:cNvSpPr>
          <p:nvPr>
            <p:ph type="subTitle" idx="1"/>
          </p:nvPr>
        </p:nvSpPr>
        <p:spPr>
          <a:xfrm>
            <a:off x="1371600" y="3355975"/>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20652063-5338-4C42-9ED3-22301F35CD16}"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6C594DD-5FC9-4A0F-821E-3B98AE256D8A}" type="slidenum">
              <a:rPr lang="en-US" altLang="en-US"/>
            </a:fld>
            <a:endParaRPr lang="en-US"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lvl1pPr algn="l">
              <a:defRPr sz="4000"/>
            </a:lvl1pPr>
          </a:lstStyle>
          <a:p>
            <a:r>
              <a:rPr lang="en-US" dirty="0"/>
              <a:t>Click to edit Master title style</a:t>
            </a:r>
            <a:endParaRPr lang="en-US" dirty="0"/>
          </a:p>
        </p:txBody>
      </p:sp>
      <p:sp>
        <p:nvSpPr>
          <p:cNvPr id="3" name="Content Placeholder 2"/>
          <p:cNvSpPr>
            <a:spLocks noGrp="1"/>
          </p:cNvSpPr>
          <p:nvPr>
            <p:ph idx="1"/>
          </p:nvPr>
        </p:nvSpPr>
        <p:spPr>
          <a:xfrm>
            <a:off x="457200" y="990600"/>
            <a:ext cx="8229600" cy="5135563"/>
          </a:xfrm>
        </p:spPr>
        <p:txBody>
          <a:bodyPr>
            <a:normAutofit/>
          </a:bodyPr>
          <a:lstStyle>
            <a:lvl1pPr>
              <a:defRPr sz="3200"/>
            </a:lvl1pPr>
            <a:lvl2pPr>
              <a:defRPr sz="2800"/>
            </a:lvl2pPr>
            <a:lvl3pPr>
              <a:defRPr sz="2400"/>
            </a:lvl3pPr>
            <a:lvl4pPr>
              <a:defRPr sz="2000"/>
            </a:lvl4pPr>
            <a:lvl5pPr>
              <a:defRPr sz="20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A81021D6-DEEF-49D2-8BD3-7760CC3263F6}"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BB7035E-7F07-48E0-B6CD-AF661E7CEF08}" type="slidenum">
              <a:rPr lang="en-US" altLang="en-US"/>
            </a:fld>
            <a:endParaRPr lang="en-US"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C70C090B-268D-4A2D-A79F-DE4F84DD31EE}"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837E0C5E-4F22-44AE-82CD-CD4C71025C1C}" type="slidenum">
              <a:rPr lang="en-US" altLang="en-US"/>
            </a:fld>
            <a:endParaRPr lang="en-US"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AAFFD64D-05E2-4F26-9DE7-61BDA9534D5F}"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32A22E3-6B98-4EF0-9C0D-09FD4F90C5C8}" type="slidenum">
              <a:rPr lang="en-US" altLang="en-US"/>
            </a:fld>
            <a:endParaRPr lang="en-US"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43E22E08-A2DC-4898-8582-0A8E6DDFCACD}" type="datetime1">
              <a:rPr lang="en-US" smtClean="0">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8C0CDF8-BD26-4DEB-808C-B3E366351893}" type="slidenum">
              <a:rPr lang="en-US" altLang="en-US"/>
            </a:fld>
            <a:endParaRPr lang="en-US"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ADFF553-3C20-4E26-B8F0-4961E25BED26}" type="datetime1">
              <a:rPr lang="en-US" smtClean="0">
                <a:solidFill>
                  <a:prstClr val="black">
                    <a:tint val="75000"/>
                  </a:prstClr>
                </a:solidFill>
              </a:rPr>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FEF89315-E386-4877-A1F0-01B082BEB717}" type="slidenum">
              <a:rPr lang="en-US" altLang="en-US"/>
            </a:fld>
            <a:endParaRPr lang="en-US"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93E094C-05D9-4CAD-83BD-2175E07CED83}" type="datetime1">
              <a:rPr lang="en-US" smtClean="0">
                <a:solidFill>
                  <a:prstClr val="black">
                    <a:tint val="75000"/>
                  </a:prstClr>
                </a:solidFill>
              </a:rPr>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E5F51810-AB31-4D84-B94B-207DE3D5B9A4}" type="slidenum">
              <a:rPr lang="en-US" altLang="en-US"/>
            </a:fld>
            <a:endParaRPr lang="en-US"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5A1007F2-1B6A-4929-82CB-C5F57392AFBB}"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AF86A3-9CD9-4B5B-A8AC-C9E02589FD3E}" type="slidenum">
              <a:rPr lang="en-US" altLang="en-US"/>
            </a:fld>
            <a:endParaRPr lang="en-US"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851E7DD4-9A0E-47FA-A5E3-A3701C9DE58C}" type="datetime1">
              <a:rPr lang="en-US" smtClean="0">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2C60A3A0-A621-4B1D-9FDA-A406DB3AEE53}" type="slidenum">
              <a:rPr lang="en-US" altLang="en-US"/>
            </a:fld>
            <a:endParaRPr lang="en-US"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0F594090-B0CB-44AC-BC78-5A2F0E5B6EF7}"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6A316CF-E153-402C-B856-7BC364AA84AA}" type="slidenum">
              <a:rPr lang="en-US" altLang="en-US"/>
            </a:fld>
            <a:endParaRPr lang="en-US"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89568C22-AED4-4799-9946-39471C5DABC6}"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46DD150-62CE-4284-95A3-24734A1D8F86}" type="slidenum">
              <a:rPr lang="en-US" altLang="en-US"/>
            </a:fld>
            <a:endParaRPr lang="en-US"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B4C5AC31-EC70-42FF-9291-719B9B0B6290}"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793F900-9786-46FB-8C17-DBE080EA8E16}"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7FE40D1-506F-461B-B5FC-AB1445107793}"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2E4F90B1-6029-449A-98D0-4981DDCA0A62}"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3BA048D-10DA-4830-BDDA-3EB3E3B7798E}" type="datetime1">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0E522746-B57D-496E-A16C-D34D261E169A}"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AC5F84-4B1E-45E1-BB4F-EE81E3542A9C}" type="datetime1">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D2396592-8B62-4257-AD84-A4336C4E2F77}"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A58CB86-2B18-4FEB-B3F9-27FAAB4F27B1}"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80F5812-E7DD-4E78-A354-5EBAED2A2945}"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FDF2D2D-9408-4B64-AD3A-5CD421A11FEC}"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381000" y="1414198"/>
            <a:ext cx="8380412" cy="750205"/>
          </a:xfrm>
        </p:spPr>
        <p:txBody>
          <a:bodyPr>
            <a:normAutofit/>
          </a:bodyPr>
          <a:lstStyle>
            <a:lvl1pPr algn="l" rtl="0" fontAlgn="base">
              <a:lnSpc>
                <a:spcPct val="90000"/>
              </a:lnSpc>
              <a:spcBef>
                <a:spcPct val="0"/>
              </a:spcBef>
              <a:spcAft>
                <a:spcPct val="0"/>
              </a:spcAft>
              <a:defRPr lang="en-US" sz="3600" spc="-300" dirty="0">
                <a:ln w="3175">
                  <a:noFill/>
                </a:ln>
                <a:solidFill>
                  <a:schemeClr val="tx1"/>
                </a:solidFill>
                <a:effectLst/>
                <a:latin typeface="Kalinga" pitchFamily="34" charset="0"/>
                <a:ea typeface="+mn-ea"/>
                <a:cs typeface="Kalinga"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381000" y="2600062"/>
            <a:ext cx="8380412" cy="2076450"/>
          </a:xfrm>
        </p:spPr>
        <p:txBody>
          <a:bodyPr/>
          <a:lstStyle>
            <a:lvl1pPr>
              <a:buFontTx/>
              <a:buBlip>
                <a:blip r:embed="rId2"/>
              </a:buBlip>
              <a:defRPr/>
            </a:lvl1pPr>
            <a:lvl2pPr>
              <a:buFontTx/>
              <a:buBlip>
                <a:blip r:embed="rId3"/>
              </a:buBlip>
              <a:defRPr/>
            </a:lvl2pPr>
            <a:lvl3pPr>
              <a:buFontTx/>
              <a:buBlip>
                <a:blip r:embed="rId3"/>
              </a:buBlip>
              <a:defRPr/>
            </a:lvl3pPr>
            <a:lvl4pPr>
              <a:buFontTx/>
              <a:buBlip>
                <a:blip r:embed="rId3"/>
              </a:buBlip>
              <a:defRPr/>
            </a:lvl4pPr>
            <a:lvl5pPr>
              <a:buFontTx/>
              <a:buBlip>
                <a:blip r:embed="rId3"/>
              </a:buBlip>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63A52B1-7939-4A13-99FB-CEF9BF0C13FD}"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811BB3B-4704-4052-AF90-D1EA30972E1E}"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4C7C049-5680-484F-AC86-3AAD85D66BB7}"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090A5C71-DBC9-4872-99A3-86AD62DA9D51}"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8001A23B-3C07-40FC-A9C0-A8085400DBE7}" type="datetime1">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C388E54D-F779-4AB7-9E26-F4972AB88DD6}" type="datetime1">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7E06C8-74AD-4536-8141-2CC6AED0D348}" type="datetime1">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7815D87-BE59-424F-9255-C1A0B6813B5D}"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FD9C582-284B-4464-8E26-04304E3CB9C7}" type="datetime1">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35B758-6826-426A-8D57-69C9448BB0C1}"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4B727EE-E4E8-4E44-8EDD-504640E9F112}"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381000" y="1414198"/>
            <a:ext cx="8380412" cy="750205"/>
          </a:xfrm>
        </p:spPr>
        <p:txBody>
          <a:bodyPr>
            <a:normAutofit/>
          </a:bodyPr>
          <a:lstStyle>
            <a:lvl1pPr algn="l" rtl="0" fontAlgn="base">
              <a:lnSpc>
                <a:spcPct val="90000"/>
              </a:lnSpc>
              <a:spcBef>
                <a:spcPct val="0"/>
              </a:spcBef>
              <a:spcAft>
                <a:spcPct val="0"/>
              </a:spcAft>
              <a:defRPr lang="en-US" sz="3600" spc="-300" dirty="0">
                <a:ln w="3175">
                  <a:noFill/>
                </a:ln>
                <a:solidFill>
                  <a:schemeClr val="tx1"/>
                </a:solidFill>
                <a:effectLst/>
                <a:latin typeface="Kalinga" pitchFamily="34" charset="0"/>
                <a:ea typeface="+mn-ea"/>
                <a:cs typeface="Kalinga" pitchFamily="34" charset="0"/>
              </a:defRPr>
            </a:lvl1pPr>
          </a:lstStyle>
          <a:p>
            <a:r>
              <a:rPr lang="en-US" dirty="0"/>
              <a:t>Click to edit Master title style</a:t>
            </a:r>
            <a:endParaRPr lang="en-US" dirty="0"/>
          </a:p>
        </p:txBody>
      </p:sp>
      <p:sp>
        <p:nvSpPr>
          <p:cNvPr id="3" name="Text Placeholder 2"/>
          <p:cNvSpPr>
            <a:spLocks noGrp="1"/>
          </p:cNvSpPr>
          <p:nvPr>
            <p:ph type="body" idx="1"/>
          </p:nvPr>
        </p:nvSpPr>
        <p:spPr>
          <a:xfrm>
            <a:off x="381000" y="2600062"/>
            <a:ext cx="8380412" cy="2076450"/>
          </a:xfrm>
        </p:spPr>
        <p:txBody>
          <a:bodyPr/>
          <a:lstStyle>
            <a:lvl1pPr>
              <a:buFontTx/>
              <a:buBlip>
                <a:blip r:embed="rId2"/>
              </a:buBlip>
              <a:defRPr/>
            </a:lvl1pPr>
            <a:lvl2pPr>
              <a:buFontTx/>
              <a:buBlip>
                <a:blip r:embed="rId3"/>
              </a:buBlip>
              <a:defRPr/>
            </a:lvl2pPr>
            <a:lvl3pPr>
              <a:buFontTx/>
              <a:buBlip>
                <a:blip r:embed="rId3"/>
              </a:buBlip>
              <a:defRPr/>
            </a:lvl3pPr>
            <a:lvl4pPr>
              <a:buFontTx/>
              <a:buBlip>
                <a:blip r:embed="rId3"/>
              </a:buBlip>
              <a:defRPr/>
            </a:lvl4pPr>
            <a:lvl5pPr>
              <a:buFontTx/>
              <a:buBlip>
                <a:blip r:embed="rId3"/>
              </a:buBlip>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4" name="Group 2"/>
          <p:cNvGrpSpPr/>
          <p:nvPr/>
        </p:nvGrpSpPr>
        <p:grpSpPr bwMode="auto">
          <a:xfrm>
            <a:off x="0" y="2438400"/>
            <a:ext cx="9009063" cy="1052513"/>
            <a:chOff x="0" y="1536"/>
            <a:chExt cx="5675" cy="663"/>
          </a:xfrm>
        </p:grpSpPr>
        <p:grpSp>
          <p:nvGrpSpPr>
            <p:cNvPr id="5"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grpSp>
          <p:nvGrpSpPr>
            <p:cNvPr id="6"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57356"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endParaRPr lang="en-US"/>
          </a:p>
        </p:txBody>
      </p:sp>
      <p:sp>
        <p:nvSpPr>
          <p:cNvPr id="57357"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en-US"/>
              <a:t>Click to edit Master subtitle style</a:t>
            </a:r>
            <a:endParaRPr lang="en-US"/>
          </a:p>
        </p:txBody>
      </p:sp>
      <p:sp>
        <p:nvSpPr>
          <p:cNvPr id="14" name="Rectangle 15"/>
          <p:cNvSpPr>
            <a:spLocks noGrp="1" noChangeArrowheads="1"/>
          </p:cNvSpPr>
          <p:nvPr>
            <p:ph type="ftr" sz="quarter" idx="10"/>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sz="1400">
                <a:solidFill>
                  <a:schemeClr val="bg2"/>
                </a:solidFill>
              </a:defRPr>
            </a:lvl1pPr>
          </a:lstStyle>
          <a:p>
            <a:pPr>
              <a:defRPr/>
            </a:pPr>
            <a:endParaRPr lang="en-US"/>
          </a:p>
        </p:txBody>
      </p:sp>
      <p:sp>
        <p:nvSpPr>
          <p:cNvPr id="15" name="Rectangle 17"/>
          <p:cNvSpPr>
            <a:spLocks noGrp="1" noChangeArrowheads="1"/>
          </p:cNvSpPr>
          <p:nvPr>
            <p:ph type="dt" sz="half" idx="11"/>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lgn="l">
              <a:defRPr sz="1400">
                <a:solidFill>
                  <a:schemeClr val="bg2"/>
                </a:solidFill>
              </a:defRPr>
            </a:lvl1pPr>
          </a:lstStyle>
          <a:p>
            <a:pPr>
              <a:defRPr/>
            </a:pPr>
            <a:fld id="{2D00C8C4-99E1-4560-90FC-F400B1728904}" type="datetime1">
              <a:rPr lang="en-US" smtClean="0"/>
            </a:fld>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981200"/>
            <a:ext cx="3886200" cy="4535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876800" y="1981200"/>
            <a:ext cx="3886200" cy="4535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04800"/>
            <a:ext cx="1981200" cy="621188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04800"/>
            <a:ext cx="5791200" cy="621188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2" Type="http://schemas.openxmlformats.org/officeDocument/2006/relationships/theme" Target="../theme/theme5.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3" Type="http://schemas.openxmlformats.org/officeDocument/2006/relationships/theme" Target="../theme/theme6.xml"/><Relationship Id="rId12" Type="http://schemas.openxmlformats.org/officeDocument/2006/relationships/slideLayout" Target="../slideLayouts/slideLayout68.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 Type="http://schemas.openxmlformats.org/officeDocument/2006/relationships/slideLayout" Target="../slideLayouts/slideLayout70.xml"/><Relationship Id="rId13" Type="http://schemas.openxmlformats.org/officeDocument/2006/relationships/theme" Target="../theme/theme7.xml"/><Relationship Id="rId12" Type="http://schemas.openxmlformats.org/officeDocument/2006/relationships/slideLayout" Target="../slideLayouts/slideLayout80.xml"/><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9.xml"/><Relationship Id="rId8" Type="http://schemas.openxmlformats.org/officeDocument/2006/relationships/slideLayout" Target="../slideLayouts/slideLayout88.xml"/><Relationship Id="rId7" Type="http://schemas.openxmlformats.org/officeDocument/2006/relationships/slideLayout" Target="../slideLayouts/slideLayout87.xml"/><Relationship Id="rId6" Type="http://schemas.openxmlformats.org/officeDocument/2006/relationships/slideLayout" Target="../slideLayouts/slideLayout86.xml"/><Relationship Id="rId5" Type="http://schemas.openxmlformats.org/officeDocument/2006/relationships/slideLayout" Target="../slideLayouts/slideLayout85.xml"/><Relationship Id="rId4" Type="http://schemas.openxmlformats.org/officeDocument/2006/relationships/slideLayout" Target="../slideLayouts/slideLayout84.xml"/><Relationship Id="rId3" Type="http://schemas.openxmlformats.org/officeDocument/2006/relationships/slideLayout" Target="../slideLayouts/slideLayout83.xml"/><Relationship Id="rId2" Type="http://schemas.openxmlformats.org/officeDocument/2006/relationships/slideLayout" Target="../slideLayouts/slideLayout82.xml"/><Relationship Id="rId12" Type="http://schemas.openxmlformats.org/officeDocument/2006/relationships/theme" Target="../theme/theme8.xml"/><Relationship Id="rId11" Type="http://schemas.openxmlformats.org/officeDocument/2006/relationships/slideLayout" Target="../slideLayouts/slideLayout91.xml"/><Relationship Id="rId10" Type="http://schemas.openxmlformats.org/officeDocument/2006/relationships/slideLayout" Target="../slideLayouts/slideLayout90.xml"/><Relationship Id="rId1"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697E7-8589-4312-BC9A-2E0BBDD22D34}"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1B2BE-37E8-49C8-A941-FB00A9E058C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457200" y="1066800"/>
            <a:ext cx="8229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F42E1E3-F00B-4954-9B82-F3074C710674}"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fontAlgn="base">
              <a:spcBef>
                <a:spcPct val="0"/>
              </a:spcBef>
              <a:spcAft>
                <a:spcPct val="0"/>
              </a:spcAft>
              <a:defRPr/>
            </a:pPr>
            <a:fld id="{B99E89F6-B254-4A40-9D97-9AB96584A8D7}" type="slidenum">
              <a:rPr lang="en-US" altLang="en-US">
                <a:cs typeface="Arial" panose="020B0604020202090204" pitchFamily="34" charset="0"/>
              </a:rPr>
            </a:fld>
            <a:endParaRPr lang="en-US" altLang="en-US">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anose="020F0502020204030204" pitchFamily="34" charset="0"/>
        </a:defRPr>
      </a:lvl2pPr>
      <a:lvl3pPr algn="l" rtl="0" eaLnBrk="0" fontAlgn="base" hangingPunct="0">
        <a:spcBef>
          <a:spcPct val="0"/>
        </a:spcBef>
        <a:spcAft>
          <a:spcPct val="0"/>
        </a:spcAft>
        <a:defRPr sz="3600">
          <a:solidFill>
            <a:schemeClr val="tx1"/>
          </a:solidFill>
          <a:latin typeface="Calibri" panose="020F0502020204030204" pitchFamily="34" charset="0"/>
        </a:defRPr>
      </a:lvl3pPr>
      <a:lvl4pPr algn="l" rtl="0" eaLnBrk="0" fontAlgn="base" hangingPunct="0">
        <a:spcBef>
          <a:spcPct val="0"/>
        </a:spcBef>
        <a:spcAft>
          <a:spcPct val="0"/>
        </a:spcAft>
        <a:defRPr sz="3600">
          <a:solidFill>
            <a:schemeClr val="tx1"/>
          </a:solidFill>
          <a:latin typeface="Calibri" panose="020F0502020204030204" pitchFamily="34" charset="0"/>
        </a:defRPr>
      </a:lvl4pPr>
      <a:lvl5pPr algn="l" rtl="0" eaLnBrk="0" fontAlgn="base" hangingPunct="0">
        <a:spcBef>
          <a:spcPct val="0"/>
        </a:spcBef>
        <a:spcAft>
          <a:spcPct val="0"/>
        </a:spcAft>
        <a:defRPr sz="3600">
          <a:solidFill>
            <a:schemeClr val="tx1"/>
          </a:solidFill>
          <a:latin typeface="Calibri" panose="020F0502020204030204" pitchFamily="34" charset="0"/>
        </a:defRPr>
      </a:lvl5pPr>
      <a:lvl6pPr marL="457200" algn="l" rtl="0" fontAlgn="base">
        <a:spcBef>
          <a:spcPct val="0"/>
        </a:spcBef>
        <a:spcAft>
          <a:spcPct val="0"/>
        </a:spcAft>
        <a:defRPr sz="3600">
          <a:solidFill>
            <a:schemeClr val="tx1"/>
          </a:solidFill>
          <a:latin typeface="Calibri" panose="020F0502020204030204" pitchFamily="34" charset="0"/>
        </a:defRPr>
      </a:lvl6pPr>
      <a:lvl7pPr marL="914400" algn="l" rtl="0" fontAlgn="base">
        <a:spcBef>
          <a:spcPct val="0"/>
        </a:spcBef>
        <a:spcAft>
          <a:spcPct val="0"/>
        </a:spcAft>
        <a:defRPr sz="3600">
          <a:solidFill>
            <a:schemeClr val="tx1"/>
          </a:solidFill>
          <a:latin typeface="Calibri" panose="020F0502020204030204" pitchFamily="34" charset="0"/>
        </a:defRPr>
      </a:lvl7pPr>
      <a:lvl8pPr marL="1371600" algn="l" rtl="0" fontAlgn="base">
        <a:spcBef>
          <a:spcPct val="0"/>
        </a:spcBef>
        <a:spcAft>
          <a:spcPct val="0"/>
        </a:spcAft>
        <a:defRPr sz="3600">
          <a:solidFill>
            <a:schemeClr val="tx1"/>
          </a:solidFill>
          <a:latin typeface="Calibri" panose="020F0502020204030204" pitchFamily="34" charset="0"/>
        </a:defRPr>
      </a:lvl8pPr>
      <a:lvl9pPr marL="1828800" algn="l" rtl="0" fontAlgn="base">
        <a:spcBef>
          <a:spcPct val="0"/>
        </a:spcBef>
        <a:spcAft>
          <a:spcPct val="0"/>
        </a:spcAft>
        <a:defRPr sz="36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457200" y="1066800"/>
            <a:ext cx="8229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E4672DD-8D74-4239-B1AE-66540D59AA20}"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fontAlgn="base">
              <a:spcBef>
                <a:spcPct val="0"/>
              </a:spcBef>
              <a:spcAft>
                <a:spcPct val="0"/>
              </a:spcAft>
              <a:defRPr/>
            </a:pPr>
            <a:fld id="{B99E89F6-B254-4A40-9D97-9AB96584A8D7}" type="slidenum">
              <a:rPr lang="en-US" altLang="en-US">
                <a:cs typeface="Arial" panose="020B0604020202090204" pitchFamily="34" charset="0"/>
              </a:rPr>
            </a:fld>
            <a:endParaRPr lang="en-US" altLang="en-US">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anose="020F0502020204030204" pitchFamily="34" charset="0"/>
        </a:defRPr>
      </a:lvl2pPr>
      <a:lvl3pPr algn="l" rtl="0" eaLnBrk="0" fontAlgn="base" hangingPunct="0">
        <a:spcBef>
          <a:spcPct val="0"/>
        </a:spcBef>
        <a:spcAft>
          <a:spcPct val="0"/>
        </a:spcAft>
        <a:defRPr sz="3600">
          <a:solidFill>
            <a:schemeClr val="tx1"/>
          </a:solidFill>
          <a:latin typeface="Calibri" panose="020F0502020204030204" pitchFamily="34" charset="0"/>
        </a:defRPr>
      </a:lvl3pPr>
      <a:lvl4pPr algn="l" rtl="0" eaLnBrk="0" fontAlgn="base" hangingPunct="0">
        <a:spcBef>
          <a:spcPct val="0"/>
        </a:spcBef>
        <a:spcAft>
          <a:spcPct val="0"/>
        </a:spcAft>
        <a:defRPr sz="3600">
          <a:solidFill>
            <a:schemeClr val="tx1"/>
          </a:solidFill>
          <a:latin typeface="Calibri" panose="020F0502020204030204" pitchFamily="34" charset="0"/>
        </a:defRPr>
      </a:lvl4pPr>
      <a:lvl5pPr algn="l" rtl="0" eaLnBrk="0" fontAlgn="base" hangingPunct="0">
        <a:spcBef>
          <a:spcPct val="0"/>
        </a:spcBef>
        <a:spcAft>
          <a:spcPct val="0"/>
        </a:spcAft>
        <a:defRPr sz="3600">
          <a:solidFill>
            <a:schemeClr val="tx1"/>
          </a:solidFill>
          <a:latin typeface="Calibri" panose="020F0502020204030204" pitchFamily="34" charset="0"/>
        </a:defRPr>
      </a:lvl5pPr>
      <a:lvl6pPr marL="457200" algn="l" rtl="0" fontAlgn="base">
        <a:spcBef>
          <a:spcPct val="0"/>
        </a:spcBef>
        <a:spcAft>
          <a:spcPct val="0"/>
        </a:spcAft>
        <a:defRPr sz="3600">
          <a:solidFill>
            <a:schemeClr val="tx1"/>
          </a:solidFill>
          <a:latin typeface="Calibri" panose="020F0502020204030204" pitchFamily="34" charset="0"/>
        </a:defRPr>
      </a:lvl6pPr>
      <a:lvl7pPr marL="914400" algn="l" rtl="0" fontAlgn="base">
        <a:spcBef>
          <a:spcPct val="0"/>
        </a:spcBef>
        <a:spcAft>
          <a:spcPct val="0"/>
        </a:spcAft>
        <a:defRPr sz="3600">
          <a:solidFill>
            <a:schemeClr val="tx1"/>
          </a:solidFill>
          <a:latin typeface="Calibri" panose="020F0502020204030204" pitchFamily="34" charset="0"/>
        </a:defRPr>
      </a:lvl7pPr>
      <a:lvl8pPr marL="1371600" algn="l" rtl="0" fontAlgn="base">
        <a:spcBef>
          <a:spcPct val="0"/>
        </a:spcBef>
        <a:spcAft>
          <a:spcPct val="0"/>
        </a:spcAft>
        <a:defRPr sz="3600">
          <a:solidFill>
            <a:schemeClr val="tx1"/>
          </a:solidFill>
          <a:latin typeface="Calibri" panose="020F0502020204030204" pitchFamily="34" charset="0"/>
        </a:defRPr>
      </a:lvl8pPr>
      <a:lvl9pPr marL="1828800" algn="l" rtl="0" fontAlgn="base">
        <a:spcBef>
          <a:spcPct val="0"/>
        </a:spcBef>
        <a:spcAft>
          <a:spcPct val="0"/>
        </a:spcAft>
        <a:defRPr sz="36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457200" y="1066800"/>
            <a:ext cx="8229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432FD2EB-1FC9-490E-BEC1-140FBB3BC37A}"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fontAlgn="base">
              <a:spcBef>
                <a:spcPct val="0"/>
              </a:spcBef>
              <a:spcAft>
                <a:spcPct val="0"/>
              </a:spcAft>
              <a:defRPr/>
            </a:pPr>
            <a:fld id="{B99E89F6-B254-4A40-9D97-9AB96584A8D7}" type="slidenum">
              <a:rPr lang="en-US" altLang="en-US">
                <a:cs typeface="Arial" panose="020B0604020202090204" pitchFamily="34" charset="0"/>
              </a:rPr>
            </a:fld>
            <a:endParaRPr lang="en-US" altLang="en-US">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anose="020F0502020204030204" pitchFamily="34" charset="0"/>
        </a:defRPr>
      </a:lvl2pPr>
      <a:lvl3pPr algn="l" rtl="0" eaLnBrk="0" fontAlgn="base" hangingPunct="0">
        <a:spcBef>
          <a:spcPct val="0"/>
        </a:spcBef>
        <a:spcAft>
          <a:spcPct val="0"/>
        </a:spcAft>
        <a:defRPr sz="3600">
          <a:solidFill>
            <a:schemeClr val="tx1"/>
          </a:solidFill>
          <a:latin typeface="Calibri" panose="020F0502020204030204" pitchFamily="34" charset="0"/>
        </a:defRPr>
      </a:lvl3pPr>
      <a:lvl4pPr algn="l" rtl="0" eaLnBrk="0" fontAlgn="base" hangingPunct="0">
        <a:spcBef>
          <a:spcPct val="0"/>
        </a:spcBef>
        <a:spcAft>
          <a:spcPct val="0"/>
        </a:spcAft>
        <a:defRPr sz="3600">
          <a:solidFill>
            <a:schemeClr val="tx1"/>
          </a:solidFill>
          <a:latin typeface="Calibri" panose="020F0502020204030204" pitchFamily="34" charset="0"/>
        </a:defRPr>
      </a:lvl4pPr>
      <a:lvl5pPr algn="l" rtl="0" eaLnBrk="0" fontAlgn="base" hangingPunct="0">
        <a:spcBef>
          <a:spcPct val="0"/>
        </a:spcBef>
        <a:spcAft>
          <a:spcPct val="0"/>
        </a:spcAft>
        <a:defRPr sz="3600">
          <a:solidFill>
            <a:schemeClr val="tx1"/>
          </a:solidFill>
          <a:latin typeface="Calibri" panose="020F0502020204030204" pitchFamily="34" charset="0"/>
        </a:defRPr>
      </a:lvl5pPr>
      <a:lvl6pPr marL="457200" algn="l" rtl="0" fontAlgn="base">
        <a:spcBef>
          <a:spcPct val="0"/>
        </a:spcBef>
        <a:spcAft>
          <a:spcPct val="0"/>
        </a:spcAft>
        <a:defRPr sz="3600">
          <a:solidFill>
            <a:schemeClr val="tx1"/>
          </a:solidFill>
          <a:latin typeface="Calibri" panose="020F0502020204030204" pitchFamily="34" charset="0"/>
        </a:defRPr>
      </a:lvl6pPr>
      <a:lvl7pPr marL="914400" algn="l" rtl="0" fontAlgn="base">
        <a:spcBef>
          <a:spcPct val="0"/>
        </a:spcBef>
        <a:spcAft>
          <a:spcPct val="0"/>
        </a:spcAft>
        <a:defRPr sz="3600">
          <a:solidFill>
            <a:schemeClr val="tx1"/>
          </a:solidFill>
          <a:latin typeface="Calibri" panose="020F0502020204030204" pitchFamily="34" charset="0"/>
        </a:defRPr>
      </a:lvl7pPr>
      <a:lvl8pPr marL="1371600" algn="l" rtl="0" fontAlgn="base">
        <a:spcBef>
          <a:spcPct val="0"/>
        </a:spcBef>
        <a:spcAft>
          <a:spcPct val="0"/>
        </a:spcAft>
        <a:defRPr sz="3600">
          <a:solidFill>
            <a:schemeClr val="tx1"/>
          </a:solidFill>
          <a:latin typeface="Calibri" panose="020F0502020204030204" pitchFamily="34" charset="0"/>
        </a:defRPr>
      </a:lvl8pPr>
      <a:lvl9pPr marL="1828800" algn="l" rtl="0" fontAlgn="base">
        <a:spcBef>
          <a:spcPct val="0"/>
        </a:spcBef>
        <a:spcAft>
          <a:spcPct val="0"/>
        </a:spcAft>
        <a:defRPr sz="36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US" altLang="en-US"/>
          </a:p>
        </p:txBody>
      </p:sp>
      <p:sp>
        <p:nvSpPr>
          <p:cNvPr id="1027" name="Text Placeholder 2"/>
          <p:cNvSpPr>
            <a:spLocks noGrp="1"/>
          </p:cNvSpPr>
          <p:nvPr>
            <p:ph type="body" idx="1"/>
          </p:nvPr>
        </p:nvSpPr>
        <p:spPr bwMode="auto">
          <a:xfrm>
            <a:off x="457200" y="1066800"/>
            <a:ext cx="8229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76252E24-AC11-407C-8B2B-857EB4553BC7}"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pPr fontAlgn="base">
              <a:spcBef>
                <a:spcPct val="0"/>
              </a:spcBef>
              <a:spcAft>
                <a:spcPct val="0"/>
              </a:spcAft>
              <a:defRPr/>
            </a:pPr>
            <a:fld id="{B99E89F6-B254-4A40-9D97-9AB96584A8D7}" type="slidenum">
              <a:rPr lang="en-US" altLang="en-US">
                <a:cs typeface="Arial" panose="020B0604020202090204" pitchFamily="34" charset="0"/>
              </a:rPr>
            </a:fld>
            <a:endParaRPr lang="en-US" altLang="en-US">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dt="0"/>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anose="020F0502020204030204" pitchFamily="34" charset="0"/>
        </a:defRPr>
      </a:lvl2pPr>
      <a:lvl3pPr algn="l" rtl="0" eaLnBrk="0" fontAlgn="base" hangingPunct="0">
        <a:spcBef>
          <a:spcPct val="0"/>
        </a:spcBef>
        <a:spcAft>
          <a:spcPct val="0"/>
        </a:spcAft>
        <a:defRPr sz="3600">
          <a:solidFill>
            <a:schemeClr val="tx1"/>
          </a:solidFill>
          <a:latin typeface="Calibri" panose="020F0502020204030204" pitchFamily="34" charset="0"/>
        </a:defRPr>
      </a:lvl3pPr>
      <a:lvl4pPr algn="l" rtl="0" eaLnBrk="0" fontAlgn="base" hangingPunct="0">
        <a:spcBef>
          <a:spcPct val="0"/>
        </a:spcBef>
        <a:spcAft>
          <a:spcPct val="0"/>
        </a:spcAft>
        <a:defRPr sz="3600">
          <a:solidFill>
            <a:schemeClr val="tx1"/>
          </a:solidFill>
          <a:latin typeface="Calibri" panose="020F0502020204030204" pitchFamily="34" charset="0"/>
        </a:defRPr>
      </a:lvl4pPr>
      <a:lvl5pPr algn="l" rtl="0" eaLnBrk="0" fontAlgn="base" hangingPunct="0">
        <a:spcBef>
          <a:spcPct val="0"/>
        </a:spcBef>
        <a:spcAft>
          <a:spcPct val="0"/>
        </a:spcAft>
        <a:defRPr sz="3600">
          <a:solidFill>
            <a:schemeClr val="tx1"/>
          </a:solidFill>
          <a:latin typeface="Calibri" panose="020F0502020204030204" pitchFamily="34" charset="0"/>
        </a:defRPr>
      </a:lvl5pPr>
      <a:lvl6pPr marL="457200" algn="l" rtl="0" fontAlgn="base">
        <a:spcBef>
          <a:spcPct val="0"/>
        </a:spcBef>
        <a:spcAft>
          <a:spcPct val="0"/>
        </a:spcAft>
        <a:defRPr sz="3600">
          <a:solidFill>
            <a:schemeClr val="tx1"/>
          </a:solidFill>
          <a:latin typeface="Calibri" panose="020F0502020204030204" pitchFamily="34" charset="0"/>
        </a:defRPr>
      </a:lvl6pPr>
      <a:lvl7pPr marL="914400" algn="l" rtl="0" fontAlgn="base">
        <a:spcBef>
          <a:spcPct val="0"/>
        </a:spcBef>
        <a:spcAft>
          <a:spcPct val="0"/>
        </a:spcAft>
        <a:defRPr sz="3600">
          <a:solidFill>
            <a:schemeClr val="tx1"/>
          </a:solidFill>
          <a:latin typeface="Calibri" panose="020F0502020204030204" pitchFamily="34" charset="0"/>
        </a:defRPr>
      </a:lvl7pPr>
      <a:lvl8pPr marL="1371600" algn="l" rtl="0" fontAlgn="base">
        <a:spcBef>
          <a:spcPct val="0"/>
        </a:spcBef>
        <a:spcAft>
          <a:spcPct val="0"/>
        </a:spcAft>
        <a:defRPr sz="3600">
          <a:solidFill>
            <a:schemeClr val="tx1"/>
          </a:solidFill>
          <a:latin typeface="Calibri" panose="020F0502020204030204" pitchFamily="34" charset="0"/>
        </a:defRPr>
      </a:lvl8pPr>
      <a:lvl9pPr marL="1828800" algn="l" rtl="0" fontAlgn="base">
        <a:spcBef>
          <a:spcPct val="0"/>
        </a:spcBef>
        <a:spcAft>
          <a:spcPct val="0"/>
        </a:spcAft>
        <a:defRPr sz="36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90204" pitchFamily="34"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1F5EEC2F-6607-4CB8-B6E9-BAFAF456EC24}"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C5D99014-2F84-4AE8-92DC-D3A5E7F86D04}" type="datetime1">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91440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28" name="Rectangle 4"/>
          <p:cNvSpPr>
            <a:spLocks noChangeArrowheads="1"/>
          </p:cNvSpPr>
          <p:nvPr/>
        </p:nvSpPr>
        <p:spPr bwMode="ltGray">
          <a:xfrm>
            <a:off x="415925" y="12192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29" name="Rectangle 5"/>
          <p:cNvSpPr>
            <a:spLocks noChangeArrowheads="1"/>
          </p:cNvSpPr>
          <p:nvPr/>
        </p:nvSpPr>
        <p:spPr bwMode="ltGray">
          <a:xfrm>
            <a:off x="762000" y="12192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0" name="Rectangle 6"/>
          <p:cNvSpPr>
            <a:spLocks noChangeArrowheads="1"/>
          </p:cNvSpPr>
          <p:nvPr/>
        </p:nvSpPr>
        <p:spPr bwMode="ltGray">
          <a:xfrm>
            <a:off x="49213" y="1066800"/>
            <a:ext cx="560387"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1" name="Rectangle 7"/>
          <p:cNvSpPr>
            <a:spLocks noChangeArrowheads="1"/>
          </p:cNvSpPr>
          <p:nvPr/>
        </p:nvSpPr>
        <p:spPr bwMode="gray">
          <a:xfrm>
            <a:off x="762000" y="5334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2" name="Rectangle 8"/>
          <p:cNvSpPr>
            <a:spLocks noChangeArrowheads="1"/>
          </p:cNvSpPr>
          <p:nvPr/>
        </p:nvSpPr>
        <p:spPr bwMode="gray">
          <a:xfrm>
            <a:off x="457200" y="13716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3" name="Rectangle 9"/>
          <p:cNvSpPr>
            <a:spLocks noGrp="1" noChangeArrowheads="1"/>
          </p:cNvSpPr>
          <p:nvPr>
            <p:ph type="title"/>
          </p:nvPr>
        </p:nvSpPr>
        <p:spPr bwMode="auto">
          <a:xfrm>
            <a:off x="914400" y="304800"/>
            <a:ext cx="779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t>Click to edit Master title style</a:t>
            </a:r>
            <a:endParaRPr lang="en-US"/>
          </a:p>
        </p:txBody>
      </p:sp>
      <p:sp>
        <p:nvSpPr>
          <p:cNvPr id="1034" name="Rectangle 10"/>
          <p:cNvSpPr>
            <a:spLocks noGrp="1" noChangeArrowheads="1"/>
          </p:cNvSpPr>
          <p:nvPr>
            <p:ph type="body" idx="1"/>
          </p:nvPr>
        </p:nvSpPr>
        <p:spPr bwMode="auto">
          <a:xfrm>
            <a:off x="838200" y="1981200"/>
            <a:ext cx="7924800"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35" name="Rectangle 11"/>
          <p:cNvSpPr>
            <a:spLocks noChangeArrowheads="1"/>
          </p:cNvSpPr>
          <p:nvPr userDrawn="1"/>
        </p:nvSpPr>
        <p:spPr bwMode="auto">
          <a:xfrm>
            <a:off x="8305800" y="6553200"/>
            <a:ext cx="400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fld id="{7CE64373-3931-44D1-A92E-C787431BD355}" type="slidenum">
              <a:rPr lang="en-GB" sz="1400">
                <a:solidFill>
                  <a:srgbClr val="0000FF"/>
                </a:solidFill>
                <a:latin typeface="Arial" panose="020B0604020202090204" pitchFamily="34" charset="0"/>
              </a:rPr>
            </a:fld>
            <a:endParaRPr lang="en-US" sz="1400">
              <a:solidFill>
                <a:srgbClr val="0000FF"/>
              </a:solidFill>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anose="020B0604020202090204" pitchFamily="34" charset="0"/>
        </a:defRPr>
      </a:lvl2pPr>
      <a:lvl3pPr algn="ctr" rtl="0" eaLnBrk="0" fontAlgn="base" hangingPunct="0">
        <a:spcBef>
          <a:spcPct val="0"/>
        </a:spcBef>
        <a:spcAft>
          <a:spcPct val="0"/>
        </a:spcAft>
        <a:defRPr sz="3200">
          <a:solidFill>
            <a:schemeClr val="tx2"/>
          </a:solidFill>
          <a:latin typeface="Arial" panose="020B0604020202090204" pitchFamily="34" charset="0"/>
        </a:defRPr>
      </a:lvl3pPr>
      <a:lvl4pPr algn="ctr" rtl="0" eaLnBrk="0" fontAlgn="base" hangingPunct="0">
        <a:spcBef>
          <a:spcPct val="0"/>
        </a:spcBef>
        <a:spcAft>
          <a:spcPct val="0"/>
        </a:spcAft>
        <a:defRPr sz="3200">
          <a:solidFill>
            <a:schemeClr val="tx2"/>
          </a:solidFill>
          <a:latin typeface="Arial" panose="020B0604020202090204" pitchFamily="34" charset="0"/>
        </a:defRPr>
      </a:lvl4pPr>
      <a:lvl5pPr algn="ctr" rtl="0" eaLnBrk="0" fontAlgn="base" hangingPunct="0">
        <a:spcBef>
          <a:spcPct val="0"/>
        </a:spcBef>
        <a:spcAft>
          <a:spcPct val="0"/>
        </a:spcAft>
        <a:defRPr sz="3200">
          <a:solidFill>
            <a:schemeClr val="tx2"/>
          </a:solidFill>
          <a:latin typeface="Arial" panose="020B0604020202090204" pitchFamily="34" charset="0"/>
        </a:defRPr>
      </a:lvl5pPr>
      <a:lvl6pPr marL="457200" algn="ctr" rtl="0" fontAlgn="base">
        <a:spcBef>
          <a:spcPct val="0"/>
        </a:spcBef>
        <a:spcAft>
          <a:spcPct val="0"/>
        </a:spcAft>
        <a:defRPr sz="3200">
          <a:solidFill>
            <a:schemeClr val="tx2"/>
          </a:solidFill>
          <a:latin typeface="Arial" panose="020B0604020202090204" pitchFamily="34" charset="0"/>
        </a:defRPr>
      </a:lvl6pPr>
      <a:lvl7pPr marL="914400" algn="ctr" rtl="0" fontAlgn="base">
        <a:spcBef>
          <a:spcPct val="0"/>
        </a:spcBef>
        <a:spcAft>
          <a:spcPct val="0"/>
        </a:spcAft>
        <a:defRPr sz="3200">
          <a:solidFill>
            <a:schemeClr val="tx2"/>
          </a:solidFill>
          <a:latin typeface="Arial" panose="020B0604020202090204" pitchFamily="34" charset="0"/>
        </a:defRPr>
      </a:lvl7pPr>
      <a:lvl8pPr marL="1371600" algn="ctr" rtl="0" fontAlgn="base">
        <a:spcBef>
          <a:spcPct val="0"/>
        </a:spcBef>
        <a:spcAft>
          <a:spcPct val="0"/>
        </a:spcAft>
        <a:defRPr sz="3200">
          <a:solidFill>
            <a:schemeClr val="tx2"/>
          </a:solidFill>
          <a:latin typeface="Arial" panose="020B0604020202090204" pitchFamily="34" charset="0"/>
        </a:defRPr>
      </a:lvl8pPr>
      <a:lvl9pPr marL="1828800" algn="ctr" rtl="0" fontAlgn="base">
        <a:spcBef>
          <a:spcPct val="0"/>
        </a:spcBef>
        <a:spcAft>
          <a:spcPct val="0"/>
        </a:spcAft>
        <a:defRPr sz="3200">
          <a:solidFill>
            <a:schemeClr val="tx2"/>
          </a:solidFill>
          <a:latin typeface="Arial" panose="020B060402020209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0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2.vml"/><Relationship Id="rId3" Type="http://schemas.openxmlformats.org/officeDocument/2006/relationships/slideLayout" Target="../slideLayouts/slideLayout25.xml"/><Relationship Id="rId2" Type="http://schemas.openxmlformats.org/officeDocument/2006/relationships/image" Target="../media/image4.png"/><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image" Target="../media/image5.png"/><Relationship Id="rId5" Type="http://schemas.openxmlformats.org/officeDocument/2006/relationships/oleObject" Target="../embeddings/oleObject3.bin"/><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3" Type="http://schemas.openxmlformats.org/officeDocument/2006/relationships/notesSlide" Target="../notesSlides/notesSlide4.xml"/><Relationship Id="rId12" Type="http://schemas.openxmlformats.org/officeDocument/2006/relationships/vmlDrawing" Target="../drawings/vmlDrawing3.vml"/><Relationship Id="rId11" Type="http://schemas.openxmlformats.org/officeDocument/2006/relationships/slideLayout" Target="../slideLayouts/slideLayout7.xml"/><Relationship Id="rId10" Type="http://schemas.openxmlformats.org/officeDocument/2006/relationships/tags" Target="../tags/tag10.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2.png"/><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2" Type="http://schemas.openxmlformats.org/officeDocument/2006/relationships/slideLayout" Target="../slideLayouts/slideLayout2.xml"/><Relationship Id="rId11" Type="http://schemas.openxmlformats.org/officeDocument/2006/relationships/image" Target="../media/image14.png"/><Relationship Id="rId10" Type="http://schemas.openxmlformats.org/officeDocument/2006/relationships/tags" Target="../tags/tag16.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tags" Target="../tags/tag21.xml"/><Relationship Id="rId7" Type="http://schemas.openxmlformats.org/officeDocument/2006/relationships/image" Target="../media/image17.png"/><Relationship Id="rId6" Type="http://schemas.openxmlformats.org/officeDocument/2006/relationships/tags" Target="../tags/tag20.xml"/><Relationship Id="rId5" Type="http://schemas.openxmlformats.org/officeDocument/2006/relationships/image" Target="../media/image16.png"/><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image" Target="../media/image15.png"/><Relationship Id="rId15" Type="http://schemas.openxmlformats.org/officeDocument/2006/relationships/notesSlide" Target="../notesSlides/notesSlide6.xml"/><Relationship Id="rId14" Type="http://schemas.openxmlformats.org/officeDocument/2006/relationships/slideLayout" Target="../slideLayouts/slideLayout2.xml"/><Relationship Id="rId13" Type="http://schemas.openxmlformats.org/officeDocument/2006/relationships/image" Target="../media/image20.png"/><Relationship Id="rId12" Type="http://schemas.openxmlformats.org/officeDocument/2006/relationships/tags" Target="../tags/tag23.xml"/><Relationship Id="rId11" Type="http://schemas.openxmlformats.org/officeDocument/2006/relationships/image" Target="../media/image19.png"/><Relationship Id="rId10" Type="http://schemas.openxmlformats.org/officeDocument/2006/relationships/tags" Target="../tags/tag22.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tags" Target="../tags/tag25.xml"/><Relationship Id="rId6" Type="http://schemas.openxmlformats.org/officeDocument/2006/relationships/image" Target="../media/image24.png"/><Relationship Id="rId5" Type="http://schemas.openxmlformats.org/officeDocument/2006/relationships/oleObject" Target="../embeddings/oleObject5.bin"/><Relationship Id="rId4" Type="http://schemas.openxmlformats.org/officeDocument/2006/relationships/image" Target="../media/image23.png"/><Relationship Id="rId3" Type="http://schemas.openxmlformats.org/officeDocument/2006/relationships/tags" Target="../tags/tag24.xml"/><Relationship Id="rId2" Type="http://schemas.openxmlformats.org/officeDocument/2006/relationships/image" Target="../media/image22.png"/><Relationship Id="rId12" Type="http://schemas.openxmlformats.org/officeDocument/2006/relationships/notesSlide" Target="../notesSlides/notesSlide7.xml"/><Relationship Id="rId11" Type="http://schemas.openxmlformats.org/officeDocument/2006/relationships/vmlDrawing" Target="../drawings/vmlDrawing4.vml"/><Relationship Id="rId10" Type="http://schemas.openxmlformats.org/officeDocument/2006/relationships/slideLayout" Target="../slideLayouts/slideLayout2.xml"/><Relationship Id="rId1"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7.png"/><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19.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image" Target="../media/image42.png"/><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4" Type="http://schemas.openxmlformats.org/officeDocument/2006/relationships/notesSlide" Target="../notesSlides/notesSlide11.xml"/><Relationship Id="rId13" Type="http://schemas.openxmlformats.org/officeDocument/2006/relationships/slideLayout" Target="../slideLayouts/slideLayout7.xml"/><Relationship Id="rId12" Type="http://schemas.openxmlformats.org/officeDocument/2006/relationships/image" Target="../media/image44.png"/><Relationship Id="rId11" Type="http://schemas.openxmlformats.org/officeDocument/2006/relationships/tags" Target="../tags/tag34.xml"/><Relationship Id="rId10" Type="http://schemas.openxmlformats.org/officeDocument/2006/relationships/image" Target="../media/image43.png"/><Relationship Id="rId1" Type="http://schemas.openxmlformats.org/officeDocument/2006/relationships/tags" Target="../tags/tag26.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2.png"/><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jpe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70.xml"/><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0.xml"/><Relationship Id="rId8" Type="http://schemas.openxmlformats.org/officeDocument/2006/relationships/image" Target="../media/image68.png"/><Relationship Id="rId7" Type="http://schemas.openxmlformats.org/officeDocument/2006/relationships/image" Target="../media/image67.png"/><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0" Type="http://schemas.openxmlformats.org/officeDocument/2006/relationships/notesSlide" Target="../notesSlides/notesSlide13.xml"/><Relationship Id="rId1" Type="http://schemas.openxmlformats.org/officeDocument/2006/relationships/image" Target="../media/image6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0.xml"/><Relationship Id="rId1" Type="http://schemas.openxmlformats.org/officeDocument/2006/relationships/image" Target="../media/image69.tif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8.xml"/><Relationship Id="rId1" Type="http://schemas.openxmlformats.org/officeDocument/2006/relationships/hyperlink" Target="http://ieeexplore.ieee.org/xpls/abs_all.jsp?isnumber=4767846&amp;arnumber=4767851&amp;count=16&amp;index=4"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1.png"/><Relationship Id="rId1" Type="http://schemas.openxmlformats.org/officeDocument/2006/relationships/image" Target="../media/image7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8.xml"/><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ieeexplore.ieee.org/xpls/abs_all.jsp?isnumber=4767846&amp;arnumber=4767851&amp;count=16&amp;index=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914400" y="3810000"/>
            <a:ext cx="7543800" cy="2286000"/>
          </a:xfrm>
        </p:spPr>
        <p:txBody>
          <a:bodyPr/>
          <a:lstStyle/>
          <a:p>
            <a:pPr eaLnBrk="1" hangingPunct="1"/>
            <a:r>
              <a:rPr lang="en-US" b="1" dirty="0">
                <a:solidFill>
                  <a:srgbClr val="0066FF"/>
                </a:solidFill>
              </a:rPr>
              <a:t>Dr. Dapeng Oliver Wu</a:t>
            </a:r>
            <a:endParaRPr lang="en-US" b="1" dirty="0">
              <a:solidFill>
                <a:srgbClr val="0066FF"/>
              </a:solidFill>
            </a:endParaRPr>
          </a:p>
          <a:p>
            <a:pPr eaLnBrk="1" hangingPunct="1"/>
            <a:r>
              <a:rPr lang="en-US" b="1" dirty="0">
                <a:solidFill>
                  <a:srgbClr val="0066FF"/>
                </a:solidFill>
              </a:rPr>
              <a:t>City University of Hong Kong</a:t>
            </a:r>
            <a:endParaRPr lang="en-US" b="1" dirty="0">
              <a:solidFill>
                <a:srgbClr val="0066FF"/>
              </a:solidFill>
            </a:endParaRPr>
          </a:p>
          <a:p>
            <a:pPr eaLnBrk="1" hangingPunct="1"/>
            <a:r>
              <a:rPr lang="en-US" b="1" dirty="0">
                <a:solidFill>
                  <a:srgbClr val="0066FF"/>
                </a:solidFill>
              </a:rPr>
              <a:t>Department of Computer Science</a:t>
            </a:r>
            <a:endParaRPr lang="en-US" dirty="0"/>
          </a:p>
          <a:p>
            <a:pPr eaLnBrk="1" hangingPunct="1"/>
            <a:endParaRPr lang="en-US" dirty="0"/>
          </a:p>
          <a:p>
            <a:pPr eaLnBrk="1" hangingPunct="1"/>
            <a:r>
              <a:rPr lang="en-US" altLang="zh-CN" dirty="0">
                <a:solidFill>
                  <a:srgbClr val="CC0000"/>
                </a:solidFill>
              </a:rPr>
              <a:t>Semester A, 2026/27</a:t>
            </a:r>
            <a:endParaRPr lang="en-US" dirty="0">
              <a:solidFill>
                <a:srgbClr val="CC0000"/>
              </a:solidFill>
            </a:endParaRPr>
          </a:p>
        </p:txBody>
      </p:sp>
      <p:sp>
        <p:nvSpPr>
          <p:cNvPr id="3075" name="Rectangle 5"/>
          <p:cNvSpPr>
            <a:spLocks noGrp="1" noChangeArrowheads="1"/>
          </p:cNvSpPr>
          <p:nvPr>
            <p:ph type="ctrTitle"/>
          </p:nvPr>
        </p:nvSpPr>
        <p:spPr>
          <a:xfrm>
            <a:off x="914400" y="381000"/>
            <a:ext cx="7772400" cy="2590800"/>
          </a:xfrm>
          <a:noFill/>
        </p:spPr>
        <p:txBody>
          <a:bodyPr/>
          <a:lstStyle/>
          <a:p>
            <a:pPr eaLnBrk="1" hangingPunct="1"/>
            <a:r>
              <a:rPr lang="en-US" dirty="0">
                <a:solidFill>
                  <a:srgbClr val="333399"/>
                </a:solidFill>
              </a:rPr>
              <a:t> CS 5187: Vision and Image</a:t>
            </a:r>
            <a:br>
              <a:rPr lang="en-US" dirty="0">
                <a:solidFill>
                  <a:srgbClr val="333399"/>
                </a:solidFill>
              </a:rPr>
            </a:br>
            <a:r>
              <a:rPr lang="en-US" dirty="0">
                <a:solidFill>
                  <a:srgbClr val="000000"/>
                </a:solidFill>
              </a:rPr>
              <a:t>Lecture 1-3</a:t>
            </a:r>
            <a:br>
              <a:rPr lang="en-US" dirty="0">
                <a:solidFill>
                  <a:srgbClr val="333399"/>
                </a:solidFill>
              </a:rPr>
            </a:br>
            <a:r>
              <a:rPr lang="en-US" i="1" dirty="0">
                <a:solidFill>
                  <a:srgbClr val="009900"/>
                </a:solidFill>
              </a:rPr>
              <a:t>Edge Detection</a:t>
            </a:r>
            <a:endParaRPr lang="en-US" i="1" dirty="0">
              <a:solidFill>
                <a:srgbClr val="0099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idx="4294967295"/>
            <p:custDataLst>
              <p:tags r:id="rId1"/>
            </p:custDataLst>
          </p:nvPr>
        </p:nvSpPr>
        <p:spPr/>
        <p:txBody>
          <a:bodyPr/>
          <a:lstStyle/>
          <a:p>
            <a:pPr algn="ctr"/>
            <a:r>
              <a:rPr lang="en-US" dirty="0"/>
              <a:t>Edge detection</a:t>
            </a:r>
            <a:endParaRPr lang="en-US" dirty="0"/>
          </a:p>
        </p:txBody>
      </p:sp>
      <p:sp>
        <p:nvSpPr>
          <p:cNvPr id="460807" name="Text Box 7"/>
          <p:cNvSpPr txBox="1">
            <a:spLocks noChangeArrowheads="1"/>
          </p:cNvSpPr>
          <p:nvPr>
            <p:custDataLst>
              <p:tags r:id="rId2"/>
            </p:custDataLst>
          </p:nvPr>
        </p:nvSpPr>
        <p:spPr bwMode="auto">
          <a:xfrm>
            <a:off x="0" y="7112000"/>
            <a:ext cx="9144000" cy="822325"/>
          </a:xfrm>
          <a:prstGeom prst="rect">
            <a:avLst/>
          </a:prstGeom>
          <a:noFill/>
          <a:ln w="9525">
            <a:noFill/>
            <a:miter lim="800000"/>
          </a:ln>
          <a:effectLst/>
        </p:spPr>
        <p:txBody>
          <a:bodyPr>
            <a:spAutoFit/>
          </a:bodyPr>
          <a:lstStyle/>
          <a:p>
            <a:r>
              <a:rPr lang="en-US"/>
              <a:t>TexPoint fonts used in EMF. </a:t>
            </a:r>
            <a:endParaRPr lang="en-US"/>
          </a:p>
          <a:p>
            <a:r>
              <a:rPr lang="en-US"/>
              <a:t>Read the TexPoint manual before you delete this box.: </a:t>
            </a:r>
            <a:r>
              <a:rPr lang="en-US">
                <a:latin typeface="CMMI10" pitchFamily="34" charset="0"/>
              </a:rPr>
              <a:t>A</a:t>
            </a:r>
            <a:r>
              <a:rPr lang="en-US">
                <a:latin typeface="CMR7" pitchFamily="34" charset="0"/>
              </a:rPr>
              <a:t>A</a:t>
            </a:r>
            <a:r>
              <a:rPr lang="en-US">
                <a:latin typeface="CMR10" pitchFamily="34" charset="0"/>
              </a:rPr>
              <a:t>A</a:t>
            </a:r>
            <a:endParaRPr lang="en-US">
              <a:latin typeface="CMR10" pitchFamily="34" charset="0"/>
            </a:endParaRPr>
          </a:p>
        </p:txBody>
      </p:sp>
      <p:sp>
        <p:nvSpPr>
          <p:cNvPr id="7" name="Rectangle 3"/>
          <p:cNvSpPr txBox="1">
            <a:spLocks noChangeArrowheads="1"/>
          </p:cNvSpPr>
          <p:nvPr/>
        </p:nvSpPr>
        <p:spPr>
          <a:xfrm>
            <a:off x="685800" y="5257800"/>
            <a:ext cx="7772400" cy="1295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Convert a 2D image into a set of curves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90204" pitchFamily="34" charset="0"/>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Extracts salient features of the scene</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90204" pitchFamily="34" charset="0"/>
              <a:buChar char="–"/>
              <a:defRPr/>
            </a:pPr>
            <a:r>
              <a:rPr kumimoji="0" lang="en-US" sz="2400" b="0" i="0" u="none" strike="noStrike" kern="1200" cap="none" spc="0" normalizeH="0" baseline="0" noProof="0" dirty="0">
                <a:ln>
                  <a:noFill/>
                </a:ln>
                <a:solidFill>
                  <a:schemeClr val="tx1"/>
                </a:solidFill>
                <a:effectLst/>
                <a:uLnTx/>
                <a:uFillTx/>
                <a:latin typeface="+mn-lt"/>
                <a:ea typeface="+mn-ea"/>
                <a:cs typeface="+mn-cs"/>
              </a:rPr>
              <a:t>Contain </a:t>
            </a:r>
            <a:r>
              <a:rPr lang="en-US" sz="2400" dirty="0"/>
              <a:t>h</a:t>
            </a:r>
            <a:r>
              <a:rPr kumimoji="0" lang="en-US" sz="2400" b="0" i="0" u="none" strike="noStrike" kern="1200" cap="none" spc="0" normalizeH="0" baseline="0" noProof="0" dirty="0" err="1">
                <a:ln>
                  <a:noFill/>
                </a:ln>
                <a:solidFill>
                  <a:schemeClr val="tx1"/>
                </a:solidFill>
                <a:effectLst/>
                <a:uLnTx/>
                <a:uFillTx/>
                <a:latin typeface="+mn-lt"/>
                <a:ea typeface="+mn-ea"/>
                <a:cs typeface="+mn-cs"/>
              </a:rPr>
              <a:t>igher</a:t>
            </a:r>
            <a:r>
              <a:rPr kumimoji="0" lang="en-US" sz="2400" b="0" i="0" u="none" strike="noStrike" kern="1200" cap="none" spc="0" normalizeH="0" baseline="0" noProof="0" dirty="0">
                <a:ln>
                  <a:noFill/>
                </a:ln>
                <a:solidFill>
                  <a:schemeClr val="tx1"/>
                </a:solidFill>
                <a:effectLst/>
                <a:uLnTx/>
                <a:uFillTx/>
                <a:latin typeface="+mn-lt"/>
                <a:ea typeface="+mn-ea"/>
                <a:cs typeface="+mn-cs"/>
              </a:rPr>
              <a:t> level semantic info, than pixels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8" name="Object 2048"/>
          <p:cNvGraphicFramePr>
            <a:graphicFrameLocks noChangeAspect="1"/>
          </p:cNvGraphicFramePr>
          <p:nvPr/>
        </p:nvGraphicFramePr>
        <p:xfrm>
          <a:off x="1581150" y="1304925"/>
          <a:ext cx="6267450" cy="3952875"/>
        </p:xfrm>
        <a:graphic>
          <a:graphicData uri="http://schemas.openxmlformats.org/presentationml/2006/ole">
            <mc:AlternateContent xmlns:mc="http://schemas.openxmlformats.org/markup-compatibility/2006">
              <mc:Choice xmlns:v="urn:schemas-microsoft-com:vml" Requires="v">
                <p:oleObj spid="_x0000_s0" name="Photo Editor Photo" r:id="rId3" imgW="7353300" imgH="4638675" progId="">
                  <p:embed/>
                </p:oleObj>
              </mc:Choice>
              <mc:Fallback>
                <p:oleObj name="Photo Editor Photo" r:id="rId3" imgW="7353300" imgH="4638675" progId="">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150" y="1304925"/>
                        <a:ext cx="6267450" cy="395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4"/>
          <p:cNvGraphicFramePr>
            <a:graphicFrameLocks noGrp="1" noChangeAspect="1"/>
          </p:cNvGraphicFramePr>
          <p:nvPr>
            <p:ph idx="4294967295"/>
          </p:nvPr>
        </p:nvGraphicFramePr>
        <p:xfrm>
          <a:off x="5811837" y="1905000"/>
          <a:ext cx="3332163" cy="3581400"/>
        </p:xfrm>
        <a:graphic>
          <a:graphicData uri="http://schemas.openxmlformats.org/presentationml/2006/ole">
            <mc:AlternateContent xmlns:mc="http://schemas.openxmlformats.org/markup-compatibility/2006">
              <mc:Choice xmlns:v="urn:schemas-microsoft-com:vml" Requires="v">
                <p:oleObj spid="_x0000_s0" name="Bitmap Image" r:id="rId1" imgW="2162175" imgH="2324100" progId="PBrush">
                  <p:embed/>
                </p:oleObj>
              </mc:Choice>
              <mc:Fallback>
                <p:oleObj name="Bitmap Image" r:id="rId1" imgW="2162175" imgH="2324100" progId="PBrush">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837" y="1905000"/>
                        <a:ext cx="3332163"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3" name="Rectangle 5"/>
          <p:cNvSpPr>
            <a:spLocks noGrp="1" noChangeArrowheads="1"/>
          </p:cNvSpPr>
          <p:nvPr>
            <p:ph type="title"/>
          </p:nvPr>
        </p:nvSpPr>
        <p:spPr>
          <a:xfrm>
            <a:off x="457200" y="228600"/>
            <a:ext cx="8229600" cy="914400"/>
          </a:xfrm>
        </p:spPr>
        <p:txBody>
          <a:bodyPr/>
          <a:lstStyle/>
          <a:p>
            <a:r>
              <a:rPr lang="en-US" altLang="en-US"/>
              <a:t>Edge detection</a:t>
            </a:r>
            <a:endParaRPr lang="en-US" altLang="en-US"/>
          </a:p>
        </p:txBody>
      </p:sp>
      <p:sp>
        <p:nvSpPr>
          <p:cNvPr id="1028" name="Rectangle 7"/>
          <p:cNvSpPr>
            <a:spLocks noGrp="1" noChangeArrowheads="1"/>
          </p:cNvSpPr>
          <p:nvPr>
            <p:ph type="body" idx="1"/>
          </p:nvPr>
        </p:nvSpPr>
        <p:spPr>
          <a:xfrm>
            <a:off x="228600" y="1676400"/>
            <a:ext cx="5999480" cy="4572000"/>
          </a:xfrm>
        </p:spPr>
        <p:txBody>
          <a:bodyPr>
            <a:normAutofit/>
          </a:bodyPr>
          <a:lstStyle/>
          <a:p>
            <a:pPr>
              <a:buFontTx/>
              <a:buChar char="•"/>
              <a:defRPr/>
            </a:pPr>
            <a:r>
              <a:rPr lang="en-US" b="1" dirty="0"/>
              <a:t>Goal:  </a:t>
            </a:r>
            <a:r>
              <a:rPr lang="en-US" dirty="0"/>
              <a:t>Identify visual changes (discontinuities) in an image.</a:t>
            </a:r>
            <a:endParaRPr lang="en-US" dirty="0"/>
          </a:p>
          <a:p>
            <a:pPr>
              <a:defRPr/>
            </a:pPr>
            <a:endParaRPr lang="en-US" dirty="0"/>
          </a:p>
          <a:p>
            <a:pPr>
              <a:defRPr/>
            </a:pPr>
            <a:r>
              <a:rPr lang="en-US" dirty="0"/>
              <a:t>Intuitively, semantic information is encoded in edges.</a:t>
            </a:r>
            <a:endParaRPr lang="en-US" dirty="0"/>
          </a:p>
          <a:p>
            <a:pPr>
              <a:defRPr/>
            </a:pPr>
            <a:endParaRPr lang="en-US" dirty="0"/>
          </a:p>
          <a:p>
            <a:pPr>
              <a:defRPr/>
            </a:pPr>
            <a:r>
              <a:rPr lang="en-US" dirty="0"/>
              <a:t>What are some ‘causes’ of</a:t>
            </a:r>
            <a:br>
              <a:rPr lang="en-US" dirty="0"/>
            </a:br>
            <a:r>
              <a:rPr lang="en-US" dirty="0"/>
              <a:t>visual edges?</a:t>
            </a:r>
            <a:endParaRPr lang="en-US" dirty="0"/>
          </a:p>
        </p:txBody>
      </p:sp>
      <p:sp>
        <p:nvSpPr>
          <p:cNvPr id="15365" name="Text Box 8"/>
          <p:cNvSpPr txBox="1">
            <a:spLocks noChangeArrowheads="1"/>
          </p:cNvSpPr>
          <p:nvPr/>
        </p:nvSpPr>
        <p:spPr bwMode="auto">
          <a:xfrm>
            <a:off x="7848600" y="6583362"/>
            <a:ext cx="1371600" cy="274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28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4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0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pPr>
            <a:r>
              <a:rPr lang="en-US" altLang="en-US" sz="1200" dirty="0">
                <a:solidFill>
                  <a:prstClr val="black"/>
                </a:solidFill>
                <a:latin typeface="Arial" panose="020B0604020202090204" pitchFamily="34" charset="0"/>
                <a:cs typeface="Arial" panose="020B0604020202090204" pitchFamily="34" charset="0"/>
              </a:rPr>
              <a:t>Source: D. Lowe</a:t>
            </a:r>
            <a:endParaRPr lang="en-US" altLang="en-US" sz="1200" dirty="0">
              <a:solidFill>
                <a:prstClr val="black"/>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idx="4294967295"/>
            <p:custDataLst>
              <p:tags r:id="rId1"/>
            </p:custDataLst>
          </p:nvPr>
        </p:nvSpPr>
        <p:spPr/>
        <p:txBody>
          <a:bodyPr/>
          <a:lstStyle/>
          <a:p>
            <a:r>
              <a:rPr lang="en-US"/>
              <a:t>Origin of Edges</a:t>
            </a:r>
            <a:endParaRPr lang="en-US"/>
          </a:p>
        </p:txBody>
      </p:sp>
      <p:sp>
        <p:nvSpPr>
          <p:cNvPr id="463875" name="Rectangle 3"/>
          <p:cNvSpPr>
            <a:spLocks noGrp="1" noChangeArrowheads="1"/>
          </p:cNvSpPr>
          <p:nvPr>
            <p:ph type="body" idx="4294967295"/>
            <p:custDataLst>
              <p:tags r:id="rId2"/>
            </p:custDataLst>
          </p:nvPr>
        </p:nvSpPr>
        <p:spPr>
          <a:xfrm>
            <a:off x="685800" y="4800600"/>
            <a:ext cx="7772400" cy="1371600"/>
          </a:xfrm>
        </p:spPr>
        <p:txBody>
          <a:bodyPr/>
          <a:lstStyle/>
          <a:p>
            <a:r>
              <a:rPr lang="en-US"/>
              <a:t>Edges are caused by a variety of factors</a:t>
            </a:r>
            <a:endParaRPr lang="en-US"/>
          </a:p>
        </p:txBody>
      </p:sp>
      <p:sp>
        <p:nvSpPr>
          <p:cNvPr id="463876" name="Rectangle 4"/>
          <p:cNvSpPr>
            <a:spLocks noChangeArrowheads="1"/>
          </p:cNvSpPr>
          <p:nvPr>
            <p:custDataLst>
              <p:tags r:id="rId3"/>
            </p:custDataLst>
          </p:nvPr>
        </p:nvSpPr>
        <p:spPr bwMode="auto">
          <a:xfrm>
            <a:off x="1588" y="92075"/>
            <a:ext cx="9144000" cy="0"/>
          </a:xfrm>
          <a:prstGeom prst="rect">
            <a:avLst/>
          </a:prstGeom>
          <a:noFill/>
          <a:ln w="9525">
            <a:noFill/>
            <a:miter lim="800000"/>
          </a:ln>
        </p:spPr>
        <p:txBody>
          <a:bodyPr>
            <a:spAutoFit/>
          </a:bodyPr>
          <a:lstStyle/>
          <a:p>
            <a:endParaRPr lang="en-US"/>
          </a:p>
        </p:txBody>
      </p:sp>
      <p:graphicFrame>
        <p:nvGraphicFramePr>
          <p:cNvPr id="463877" name="Object 7"/>
          <p:cNvGraphicFramePr>
            <a:graphicFrameLocks noChangeAspect="1"/>
          </p:cNvGraphicFramePr>
          <p:nvPr>
            <p:custDataLst>
              <p:tags r:id="rId4"/>
            </p:custDataLst>
          </p:nvPr>
        </p:nvGraphicFramePr>
        <p:xfrm>
          <a:off x="2667000" y="1447800"/>
          <a:ext cx="2990850" cy="2857500"/>
        </p:xfrm>
        <a:graphic>
          <a:graphicData uri="http://schemas.openxmlformats.org/presentationml/2006/ole">
            <mc:AlternateContent xmlns:mc="http://schemas.openxmlformats.org/markup-compatibility/2006">
              <mc:Choice xmlns:v="urn:schemas-microsoft-com:vml" Requires="v">
                <p:oleObj spid="_x0000_s0" name="Photo Editor Photo" r:id="rId5" imgW="2990850" imgH="2857500" progId="">
                  <p:embed/>
                </p:oleObj>
              </mc:Choice>
              <mc:Fallback>
                <p:oleObj name="Photo Editor Photo" r:id="rId5" imgW="2990850" imgH="2857500" progId="">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1447800"/>
                        <a:ext cx="299085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3878" name="Text Box 9"/>
          <p:cNvSpPr txBox="1">
            <a:spLocks noChangeArrowheads="1"/>
          </p:cNvSpPr>
          <p:nvPr>
            <p:custDataLst>
              <p:tags r:id="rId7"/>
            </p:custDataLst>
          </p:nvPr>
        </p:nvSpPr>
        <p:spPr bwMode="auto">
          <a:xfrm>
            <a:off x="5638800" y="2330450"/>
            <a:ext cx="1865313" cy="336550"/>
          </a:xfrm>
          <a:prstGeom prst="rect">
            <a:avLst/>
          </a:prstGeom>
          <a:noFill/>
          <a:ln w="9525">
            <a:noFill/>
            <a:miter lim="800000"/>
          </a:ln>
        </p:spPr>
        <p:txBody>
          <a:bodyPr wrap="none">
            <a:spAutoFit/>
          </a:bodyPr>
          <a:lstStyle/>
          <a:p>
            <a:r>
              <a:rPr lang="en-US" sz="1600">
                <a:latin typeface="Arial" panose="020B0604020202090204" pitchFamily="34" charset="0"/>
              </a:rPr>
              <a:t>depth discontinuity</a:t>
            </a:r>
            <a:endParaRPr lang="en-US" sz="1600">
              <a:latin typeface="Arial" panose="020B0604020202090204" pitchFamily="34" charset="0"/>
            </a:endParaRPr>
          </a:p>
        </p:txBody>
      </p:sp>
      <p:sp>
        <p:nvSpPr>
          <p:cNvPr id="463879" name="Text Box 10"/>
          <p:cNvSpPr txBox="1">
            <a:spLocks noChangeArrowheads="1"/>
          </p:cNvSpPr>
          <p:nvPr>
            <p:custDataLst>
              <p:tags r:id="rId8"/>
            </p:custDataLst>
          </p:nvPr>
        </p:nvSpPr>
        <p:spPr bwMode="auto">
          <a:xfrm>
            <a:off x="5638800" y="2971800"/>
            <a:ext cx="2520950" cy="336550"/>
          </a:xfrm>
          <a:prstGeom prst="rect">
            <a:avLst/>
          </a:prstGeom>
          <a:noFill/>
          <a:ln w="9525">
            <a:noFill/>
            <a:miter lim="800000"/>
          </a:ln>
        </p:spPr>
        <p:txBody>
          <a:bodyPr wrap="none">
            <a:spAutoFit/>
          </a:bodyPr>
          <a:lstStyle/>
          <a:p>
            <a:r>
              <a:rPr lang="en-US" sz="1600">
                <a:latin typeface="Arial" panose="020B0604020202090204" pitchFamily="34" charset="0"/>
              </a:rPr>
              <a:t>surface color discontinuity</a:t>
            </a:r>
            <a:endParaRPr lang="en-US" sz="1600">
              <a:latin typeface="Arial" panose="020B0604020202090204" pitchFamily="34" charset="0"/>
            </a:endParaRPr>
          </a:p>
        </p:txBody>
      </p:sp>
      <p:sp>
        <p:nvSpPr>
          <p:cNvPr id="463880" name="Text Box 11"/>
          <p:cNvSpPr txBox="1">
            <a:spLocks noChangeArrowheads="1"/>
          </p:cNvSpPr>
          <p:nvPr>
            <p:custDataLst>
              <p:tags r:id="rId9"/>
            </p:custDataLst>
          </p:nvPr>
        </p:nvSpPr>
        <p:spPr bwMode="auto">
          <a:xfrm>
            <a:off x="5638800" y="3625850"/>
            <a:ext cx="2370138" cy="336550"/>
          </a:xfrm>
          <a:prstGeom prst="rect">
            <a:avLst/>
          </a:prstGeom>
          <a:noFill/>
          <a:ln w="9525">
            <a:noFill/>
            <a:miter lim="800000"/>
          </a:ln>
        </p:spPr>
        <p:txBody>
          <a:bodyPr wrap="none">
            <a:spAutoFit/>
          </a:bodyPr>
          <a:lstStyle/>
          <a:p>
            <a:r>
              <a:rPr lang="en-US" sz="1600" dirty="0">
                <a:latin typeface="Arial" panose="020B0604020202090204" pitchFamily="34" charset="0"/>
              </a:rPr>
              <a:t>illumination discontinuity</a:t>
            </a:r>
            <a:endParaRPr lang="en-US" sz="1600" dirty="0">
              <a:latin typeface="Arial" panose="020B0604020202090204" pitchFamily="34" charset="0"/>
            </a:endParaRPr>
          </a:p>
        </p:txBody>
      </p:sp>
      <p:sp>
        <p:nvSpPr>
          <p:cNvPr id="463881" name="Text Box 12"/>
          <p:cNvSpPr txBox="1">
            <a:spLocks noChangeArrowheads="1"/>
          </p:cNvSpPr>
          <p:nvPr>
            <p:custDataLst>
              <p:tags r:id="rId10"/>
            </p:custDataLst>
          </p:nvPr>
        </p:nvSpPr>
        <p:spPr bwMode="auto">
          <a:xfrm>
            <a:off x="5638800" y="1676400"/>
            <a:ext cx="2701925" cy="336550"/>
          </a:xfrm>
          <a:prstGeom prst="rect">
            <a:avLst/>
          </a:prstGeom>
          <a:noFill/>
          <a:ln w="9525">
            <a:noFill/>
            <a:miter lim="800000"/>
          </a:ln>
        </p:spPr>
        <p:txBody>
          <a:bodyPr wrap="none">
            <a:spAutoFit/>
          </a:bodyPr>
          <a:lstStyle/>
          <a:p>
            <a:r>
              <a:rPr lang="en-US" sz="1600">
                <a:latin typeface="Arial" panose="020B0604020202090204" pitchFamily="34" charset="0"/>
              </a:rPr>
              <a:t>surface normal discontinuity</a:t>
            </a:r>
            <a:endParaRPr lang="en-US" sz="1600">
              <a:latin typeface="Arial" panose="020B0604020202090204" pitchFamily="34" charset="0"/>
            </a:endParaRPr>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228600"/>
            <a:ext cx="7772400" cy="990600"/>
          </a:xfrm>
        </p:spPr>
        <p:txBody>
          <a:bodyPr rIns="132080"/>
          <a:lstStyle/>
          <a:p>
            <a:r>
              <a:rPr lang="en-US" dirty="0"/>
              <a:t>Images as functions…</a:t>
            </a:r>
            <a:endParaRPr lang="en-US" dirty="0"/>
          </a:p>
        </p:txBody>
      </p:sp>
      <p:sp>
        <p:nvSpPr>
          <p:cNvPr id="7171" name="Rectangle 3"/>
          <p:cNvSpPr>
            <a:spLocks noGrp="1" noChangeArrowheads="1"/>
          </p:cNvSpPr>
          <p:nvPr>
            <p:ph type="body" idx="1"/>
          </p:nvPr>
        </p:nvSpPr>
        <p:spPr>
          <a:xfrm>
            <a:off x="4495800" y="5843588"/>
            <a:ext cx="3962400" cy="1014412"/>
          </a:xfrm>
        </p:spPr>
        <p:txBody>
          <a:bodyPr rIns="132080">
            <a:normAutofit lnSpcReduction="10000"/>
          </a:bodyPr>
          <a:lstStyle/>
          <a:p>
            <a:pPr marL="382905" indent="-342900"/>
            <a:r>
              <a:rPr lang="en-US" dirty="0"/>
              <a:t>Edges look like steep cliffs</a:t>
            </a:r>
            <a:endParaRPr lang="en-US" dirty="0"/>
          </a:p>
        </p:txBody>
      </p:sp>
      <p:pic>
        <p:nvPicPr>
          <p:cNvPr id="7172" name="Picture 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71900" y="1319213"/>
            <a:ext cx="491490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981200"/>
            <a:ext cx="327660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Closeup of edges</a:t>
            </a:r>
            <a:endParaRPr lang="en-US" altLang="en-US"/>
          </a:p>
        </p:txBody>
      </p:sp>
      <p:sp>
        <p:nvSpPr>
          <p:cNvPr id="20483" name="Content Placeholder 2"/>
          <p:cNvSpPr>
            <a:spLocks noGrp="1"/>
          </p:cNvSpPr>
          <p:nvPr>
            <p:ph idx="1"/>
          </p:nvPr>
        </p:nvSpPr>
        <p:spPr/>
        <p:txBody>
          <a:bodyPr/>
          <a:lstStyle/>
          <a:p>
            <a:endParaRPr lang="en-US" altLang="en-US" dirty="0"/>
          </a:p>
        </p:txBody>
      </p:sp>
      <p:pic>
        <p:nvPicPr>
          <p:cNvPr id="20484"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43000"/>
            <a:ext cx="41163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8"/>
          <p:cNvSpPr txBox="1">
            <a:spLocks noChangeArrowheads="1"/>
          </p:cNvSpPr>
          <p:nvPr/>
        </p:nvSpPr>
        <p:spPr bwMode="auto">
          <a:xfrm>
            <a:off x="7315200" y="6477000"/>
            <a:ext cx="1765300" cy="274638"/>
          </a:xfrm>
          <a:prstGeom prst="rect">
            <a:avLst/>
          </a:prstGeom>
          <a:solidFill>
            <a:schemeClr val="bg1"/>
          </a:solidFill>
          <a:ln w="9525">
            <a:noFill/>
            <a:miter lim="800000"/>
          </a:ln>
        </p:spPr>
        <p:txBody>
          <a:bodyPr>
            <a:spAutoFit/>
          </a:bodyPr>
          <a:lstStyle/>
          <a:p>
            <a:pPr fontAlgn="base">
              <a:spcBef>
                <a:spcPct val="0"/>
              </a:spcBef>
              <a:spcAft>
                <a:spcPct val="0"/>
              </a:spcAft>
              <a:defRPr/>
            </a:pPr>
            <a:r>
              <a:rPr lang="en-US" sz="1200" dirty="0">
                <a:solidFill>
                  <a:prstClr val="white">
                    <a:lumMod val="65000"/>
                  </a:prstClr>
                </a:solidFill>
                <a:latin typeface="Arial" panose="020B0604020202090204" pitchFamily="34" charset="0"/>
                <a:cs typeface="Arial" panose="020B0604020202090204" pitchFamily="34" charset="0"/>
              </a:rPr>
              <a:t>Source: D. </a:t>
            </a:r>
            <a:r>
              <a:rPr lang="en-US" sz="1200" dirty="0" err="1">
                <a:solidFill>
                  <a:prstClr val="white">
                    <a:lumMod val="65000"/>
                  </a:prstClr>
                </a:solidFill>
                <a:latin typeface="Arial" panose="020B0604020202090204" pitchFamily="34" charset="0"/>
                <a:cs typeface="Arial" panose="020B0604020202090204" pitchFamily="34" charset="0"/>
              </a:rPr>
              <a:t>Hoiem</a:t>
            </a:r>
            <a:endParaRPr lang="en-US" sz="1200" dirty="0">
              <a:solidFill>
                <a:prstClr val="white">
                  <a:lumMod val="65000"/>
                </a:prstClr>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Closeup of edges</a:t>
            </a:r>
            <a:endParaRPr lang="en-US" altLang="en-US"/>
          </a:p>
        </p:txBody>
      </p:sp>
      <p:sp>
        <p:nvSpPr>
          <p:cNvPr id="21507" name="Content Placeholder 2"/>
          <p:cNvSpPr>
            <a:spLocks noGrp="1"/>
          </p:cNvSpPr>
          <p:nvPr>
            <p:ph idx="1"/>
          </p:nvPr>
        </p:nvSpPr>
        <p:spPr/>
        <p:txBody>
          <a:bodyPr/>
          <a:lstStyle/>
          <a:p>
            <a:endParaRPr lang="en-US" altLang="en-US"/>
          </a:p>
        </p:txBody>
      </p:sp>
      <p:pic>
        <p:nvPicPr>
          <p:cNvPr id="21508"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43000"/>
            <a:ext cx="41163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l="12254" t="59148" r="79703" b="36111"/>
          <a:stretch>
            <a:fillRect/>
          </a:stretch>
        </p:blipFill>
        <p:spPr bwMode="auto">
          <a:xfrm>
            <a:off x="5943600" y="2819400"/>
            <a:ext cx="1550988" cy="12192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 name="Rectangle 5"/>
          <p:cNvSpPr/>
          <p:nvPr/>
        </p:nvSpPr>
        <p:spPr>
          <a:xfrm>
            <a:off x="762000" y="4419600"/>
            <a:ext cx="3810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cxnSp>
        <p:nvCxnSpPr>
          <p:cNvPr id="8" name="Straight Arrow Connector 7"/>
          <p:cNvCxnSpPr/>
          <p:nvPr/>
        </p:nvCxnSpPr>
        <p:spPr>
          <a:xfrm rot="5400000" flipH="1" flipV="1">
            <a:off x="5448300" y="4229100"/>
            <a:ext cx="1066800" cy="5334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flipH="1" flipV="1">
            <a:off x="5829300" y="4229100"/>
            <a:ext cx="1066800" cy="53340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flipH="1" flipV="1">
            <a:off x="6057900" y="4229100"/>
            <a:ext cx="1066800" cy="533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flipH="1" flipV="1">
            <a:off x="38100" y="5067300"/>
            <a:ext cx="1066800" cy="5334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 Box 8"/>
          <p:cNvSpPr txBox="1">
            <a:spLocks noChangeArrowheads="1"/>
          </p:cNvSpPr>
          <p:nvPr/>
        </p:nvSpPr>
        <p:spPr bwMode="auto">
          <a:xfrm>
            <a:off x="7315200" y="6477000"/>
            <a:ext cx="1765300" cy="274638"/>
          </a:xfrm>
          <a:prstGeom prst="rect">
            <a:avLst/>
          </a:prstGeom>
          <a:solidFill>
            <a:schemeClr val="bg1"/>
          </a:solidFill>
          <a:ln w="9525">
            <a:noFill/>
            <a:miter lim="800000"/>
          </a:ln>
        </p:spPr>
        <p:txBody>
          <a:bodyPr>
            <a:spAutoFit/>
          </a:bodyPr>
          <a:lstStyle/>
          <a:p>
            <a:pPr fontAlgn="base">
              <a:spcBef>
                <a:spcPct val="0"/>
              </a:spcBef>
              <a:spcAft>
                <a:spcPct val="0"/>
              </a:spcAft>
              <a:defRPr/>
            </a:pPr>
            <a:r>
              <a:rPr lang="en-US" sz="1200" dirty="0">
                <a:solidFill>
                  <a:prstClr val="white">
                    <a:lumMod val="65000"/>
                  </a:prstClr>
                </a:solidFill>
                <a:latin typeface="Arial" panose="020B0604020202090204" pitchFamily="34" charset="0"/>
                <a:cs typeface="Arial" panose="020B0604020202090204" pitchFamily="34" charset="0"/>
              </a:rPr>
              <a:t>Source: D. </a:t>
            </a:r>
            <a:r>
              <a:rPr lang="en-US" sz="1200" dirty="0" err="1">
                <a:solidFill>
                  <a:prstClr val="white">
                    <a:lumMod val="65000"/>
                  </a:prstClr>
                </a:solidFill>
                <a:latin typeface="Arial" panose="020B0604020202090204" pitchFamily="34" charset="0"/>
                <a:cs typeface="Arial" panose="020B0604020202090204" pitchFamily="34" charset="0"/>
              </a:rPr>
              <a:t>Hoiem</a:t>
            </a:r>
            <a:endParaRPr lang="en-US" sz="1200" dirty="0">
              <a:solidFill>
                <a:prstClr val="white">
                  <a:lumMod val="65000"/>
                </a:prstClr>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a:t>Closeup of edges</a:t>
            </a:r>
            <a:endParaRPr lang="en-US" altLang="en-US"/>
          </a:p>
        </p:txBody>
      </p:sp>
      <p:sp>
        <p:nvSpPr>
          <p:cNvPr id="22531" name="Content Placeholder 2"/>
          <p:cNvSpPr>
            <a:spLocks noGrp="1"/>
          </p:cNvSpPr>
          <p:nvPr>
            <p:ph idx="1"/>
          </p:nvPr>
        </p:nvSpPr>
        <p:spPr/>
        <p:txBody>
          <a:bodyPr/>
          <a:lstStyle/>
          <a:p>
            <a:endParaRPr lang="en-US" altLang="en-US"/>
          </a:p>
        </p:txBody>
      </p:sp>
      <p:pic>
        <p:nvPicPr>
          <p:cNvPr id="22532"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43000"/>
            <a:ext cx="41163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657600" y="4572000"/>
            <a:ext cx="3810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cxnSp>
        <p:nvCxnSpPr>
          <p:cNvPr id="8" name="Straight Arrow Connector 7"/>
          <p:cNvCxnSpPr/>
          <p:nvPr/>
        </p:nvCxnSpPr>
        <p:spPr>
          <a:xfrm rot="5400000" flipH="1" flipV="1">
            <a:off x="5753100" y="4610100"/>
            <a:ext cx="1066800" cy="533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22535"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l="81447" t="62500" r="7446" b="31944"/>
          <a:stretch>
            <a:fillRect/>
          </a:stretch>
        </p:blipFill>
        <p:spPr bwMode="auto">
          <a:xfrm>
            <a:off x="5638800" y="2895600"/>
            <a:ext cx="2057400" cy="13716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pic>
      <p:cxnSp>
        <p:nvCxnSpPr>
          <p:cNvPr id="12" name="Straight Arrow Connector 11"/>
          <p:cNvCxnSpPr/>
          <p:nvPr/>
        </p:nvCxnSpPr>
        <p:spPr>
          <a:xfrm rot="5400000" flipH="1" flipV="1">
            <a:off x="3086100" y="5143500"/>
            <a:ext cx="1066800" cy="533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 Box 8"/>
          <p:cNvSpPr txBox="1">
            <a:spLocks noChangeArrowheads="1"/>
          </p:cNvSpPr>
          <p:nvPr/>
        </p:nvSpPr>
        <p:spPr bwMode="auto">
          <a:xfrm>
            <a:off x="7315200" y="6477000"/>
            <a:ext cx="1765300" cy="274638"/>
          </a:xfrm>
          <a:prstGeom prst="rect">
            <a:avLst/>
          </a:prstGeom>
          <a:solidFill>
            <a:schemeClr val="bg1"/>
          </a:solidFill>
          <a:ln w="9525">
            <a:noFill/>
            <a:miter lim="800000"/>
          </a:ln>
        </p:spPr>
        <p:txBody>
          <a:bodyPr>
            <a:spAutoFit/>
          </a:bodyPr>
          <a:lstStyle/>
          <a:p>
            <a:pPr fontAlgn="base">
              <a:spcBef>
                <a:spcPct val="0"/>
              </a:spcBef>
              <a:spcAft>
                <a:spcPct val="0"/>
              </a:spcAft>
              <a:defRPr/>
            </a:pPr>
            <a:r>
              <a:rPr lang="en-US" sz="1200" dirty="0">
                <a:solidFill>
                  <a:prstClr val="white">
                    <a:lumMod val="65000"/>
                  </a:prstClr>
                </a:solidFill>
                <a:latin typeface="Arial" panose="020B0604020202090204" pitchFamily="34" charset="0"/>
                <a:cs typeface="Arial" panose="020B0604020202090204" pitchFamily="34" charset="0"/>
              </a:rPr>
              <a:t>Source: D. </a:t>
            </a:r>
            <a:r>
              <a:rPr lang="en-US" sz="1200" dirty="0" err="1">
                <a:solidFill>
                  <a:prstClr val="white">
                    <a:lumMod val="65000"/>
                  </a:prstClr>
                </a:solidFill>
                <a:latin typeface="Arial" panose="020B0604020202090204" pitchFamily="34" charset="0"/>
                <a:cs typeface="Arial" panose="020B0604020202090204" pitchFamily="34" charset="0"/>
              </a:rPr>
              <a:t>Hoiem</a:t>
            </a:r>
            <a:endParaRPr lang="en-US" sz="1200" dirty="0">
              <a:solidFill>
                <a:prstClr val="white">
                  <a:lumMod val="65000"/>
                </a:prstClr>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ltLang="en-US"/>
              <a:t>Closeup of edges</a:t>
            </a:r>
            <a:endParaRPr lang="en-US" altLang="en-US"/>
          </a:p>
        </p:txBody>
      </p:sp>
      <p:sp>
        <p:nvSpPr>
          <p:cNvPr id="23555" name="Content Placeholder 2"/>
          <p:cNvSpPr>
            <a:spLocks noGrp="1"/>
          </p:cNvSpPr>
          <p:nvPr>
            <p:ph idx="1"/>
          </p:nvPr>
        </p:nvSpPr>
        <p:spPr/>
        <p:txBody>
          <a:bodyPr/>
          <a:lstStyle/>
          <a:p>
            <a:endParaRPr lang="en-US" altLang="en-US"/>
          </a:p>
        </p:txBody>
      </p:sp>
      <p:pic>
        <p:nvPicPr>
          <p:cNvPr id="23556"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143000"/>
            <a:ext cx="4116388"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828800" y="5257800"/>
            <a:ext cx="3810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pic>
        <p:nvPicPr>
          <p:cNvPr id="23558" name="Picture 2" descr="C:\Documents and Settings\Derek Hoiem\My Documents\My Pictures\monte carlo\monaco03.jpg"/>
          <p:cNvPicPr>
            <a:picLocks noChangeAspect="1" noChangeArrowheads="1"/>
          </p:cNvPicPr>
          <p:nvPr/>
        </p:nvPicPr>
        <p:blipFill>
          <a:blip r:embed="rId1">
            <a:extLst>
              <a:ext uri="{28A0092B-C50C-407E-A947-70E740481C1C}">
                <a14:useLocalDpi xmlns:a14="http://schemas.microsoft.com/office/drawing/2010/main" val="0"/>
              </a:ext>
            </a:extLst>
          </a:blip>
          <a:srcRect l="37022" t="73611" r="53723" b="19444"/>
          <a:stretch>
            <a:fillRect/>
          </a:stretch>
        </p:blipFill>
        <p:spPr bwMode="auto">
          <a:xfrm>
            <a:off x="5638800" y="24384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8"/>
          <p:cNvSpPr txBox="1">
            <a:spLocks noChangeArrowheads="1"/>
          </p:cNvSpPr>
          <p:nvPr/>
        </p:nvSpPr>
        <p:spPr bwMode="auto">
          <a:xfrm>
            <a:off x="7315200" y="6477000"/>
            <a:ext cx="1765300" cy="274638"/>
          </a:xfrm>
          <a:prstGeom prst="rect">
            <a:avLst/>
          </a:prstGeom>
          <a:solidFill>
            <a:schemeClr val="bg1"/>
          </a:solidFill>
          <a:ln w="9525">
            <a:noFill/>
            <a:miter lim="800000"/>
          </a:ln>
        </p:spPr>
        <p:txBody>
          <a:bodyPr>
            <a:spAutoFit/>
          </a:bodyPr>
          <a:lstStyle/>
          <a:p>
            <a:pPr fontAlgn="base">
              <a:spcBef>
                <a:spcPct val="0"/>
              </a:spcBef>
              <a:spcAft>
                <a:spcPct val="0"/>
              </a:spcAft>
              <a:defRPr/>
            </a:pPr>
            <a:r>
              <a:rPr lang="en-US" sz="1200" dirty="0">
                <a:solidFill>
                  <a:prstClr val="white">
                    <a:lumMod val="65000"/>
                  </a:prstClr>
                </a:solidFill>
                <a:latin typeface="Arial" panose="020B0604020202090204" pitchFamily="34" charset="0"/>
                <a:cs typeface="Arial" panose="020B0604020202090204" pitchFamily="34" charset="0"/>
              </a:rPr>
              <a:t>Source: D. </a:t>
            </a:r>
            <a:r>
              <a:rPr lang="en-US" sz="1200" dirty="0" err="1">
                <a:solidFill>
                  <a:prstClr val="white">
                    <a:lumMod val="65000"/>
                  </a:prstClr>
                </a:solidFill>
                <a:latin typeface="Arial" panose="020B0604020202090204" pitchFamily="34" charset="0"/>
                <a:cs typeface="Arial" panose="020B0604020202090204" pitchFamily="34" charset="0"/>
              </a:rPr>
              <a:t>Hoiem</a:t>
            </a:r>
            <a:endParaRPr lang="en-US" sz="1200" dirty="0">
              <a:solidFill>
                <a:prstClr val="white">
                  <a:lumMod val="65000"/>
                </a:prstClr>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Characterizing edges</a:t>
            </a:r>
            <a:endParaRPr lang="en-US"/>
          </a:p>
        </p:txBody>
      </p:sp>
      <p:sp>
        <p:nvSpPr>
          <p:cNvPr id="8195" name="Rectangle 26"/>
          <p:cNvSpPr>
            <a:spLocks noGrp="1" noChangeArrowheads="1"/>
          </p:cNvSpPr>
          <p:nvPr>
            <p:ph type="body" idx="1"/>
          </p:nvPr>
        </p:nvSpPr>
        <p:spPr>
          <a:xfrm>
            <a:off x="457200" y="1447800"/>
            <a:ext cx="8229600" cy="4678363"/>
          </a:xfrm>
        </p:spPr>
        <p:txBody>
          <a:bodyPr/>
          <a:lstStyle/>
          <a:p>
            <a:pPr>
              <a:buFontTx/>
              <a:buChar char="•"/>
            </a:pPr>
            <a:r>
              <a:rPr lang="en-US" dirty="0"/>
              <a:t>An edge is a place of </a:t>
            </a:r>
            <a:r>
              <a:rPr lang="en-US" i="1" dirty="0"/>
              <a:t>big change </a:t>
            </a:r>
            <a:r>
              <a:rPr lang="en-US" dirty="0"/>
              <a:t>in the image intensity function</a:t>
            </a:r>
            <a:endParaRPr lang="en-US" dirty="0"/>
          </a:p>
        </p:txBody>
      </p:sp>
      <p:pic>
        <p:nvPicPr>
          <p:cNvPr id="8196" name="Picture 10" descr="step_edge2"/>
          <p:cNvPicPr>
            <a:picLocks noChangeAspect="1" noChangeArrowheads="1"/>
          </p:cNvPicPr>
          <p:nvPr/>
        </p:nvPicPr>
        <p:blipFill>
          <a:blip r:embed="rId1" cstate="print"/>
          <a:srcRect/>
          <a:stretch>
            <a:fillRect/>
          </a:stretch>
        </p:blipFill>
        <p:spPr bwMode="auto">
          <a:xfrm>
            <a:off x="228600" y="3276600"/>
            <a:ext cx="2743200" cy="2082800"/>
          </a:xfrm>
          <a:prstGeom prst="rect">
            <a:avLst/>
          </a:prstGeom>
          <a:noFill/>
          <a:ln w="9525">
            <a:solidFill>
              <a:schemeClr val="tx1"/>
            </a:solidFill>
            <a:miter lim="800000"/>
            <a:headEnd/>
            <a:tailEnd/>
          </a:ln>
        </p:spPr>
      </p:pic>
      <p:sp>
        <p:nvSpPr>
          <p:cNvPr id="8197" name="Line 21"/>
          <p:cNvSpPr>
            <a:spLocks noChangeShapeType="1"/>
          </p:cNvSpPr>
          <p:nvPr/>
        </p:nvSpPr>
        <p:spPr bwMode="auto">
          <a:xfrm>
            <a:off x="228600" y="4343400"/>
            <a:ext cx="2743200" cy="0"/>
          </a:xfrm>
          <a:prstGeom prst="line">
            <a:avLst/>
          </a:prstGeom>
          <a:noFill/>
          <a:ln w="38100">
            <a:solidFill>
              <a:srgbClr val="FF0000">
                <a:alpha val="50000"/>
              </a:srgbClr>
            </a:solidFill>
            <a:round/>
          </a:ln>
        </p:spPr>
        <p:txBody>
          <a:bodyPr/>
          <a:lstStyle/>
          <a:p>
            <a:endParaRPr lang="en-US"/>
          </a:p>
        </p:txBody>
      </p:sp>
      <p:sp>
        <p:nvSpPr>
          <p:cNvPr id="8198" name="Text Box 22"/>
          <p:cNvSpPr txBox="1">
            <a:spLocks noChangeArrowheads="1"/>
          </p:cNvSpPr>
          <p:nvPr/>
        </p:nvSpPr>
        <p:spPr bwMode="auto">
          <a:xfrm>
            <a:off x="1174750" y="2895600"/>
            <a:ext cx="806450" cy="366713"/>
          </a:xfrm>
          <a:prstGeom prst="rect">
            <a:avLst/>
          </a:prstGeom>
          <a:noFill/>
          <a:ln w="9525">
            <a:noFill/>
            <a:miter lim="800000"/>
          </a:ln>
        </p:spPr>
        <p:txBody>
          <a:bodyPr wrap="none">
            <a:spAutoFit/>
          </a:bodyPr>
          <a:lstStyle/>
          <a:p>
            <a:pPr algn="ctr"/>
            <a:r>
              <a:rPr lang="en-US" sz="1800"/>
              <a:t>image</a:t>
            </a:r>
            <a:endParaRPr lang="en-US" sz="1800"/>
          </a:p>
        </p:txBody>
      </p:sp>
      <p:grpSp>
        <p:nvGrpSpPr>
          <p:cNvPr id="2" name="Group 31"/>
          <p:cNvGrpSpPr/>
          <p:nvPr/>
        </p:nvGrpSpPr>
        <p:grpSpPr bwMode="auto">
          <a:xfrm>
            <a:off x="3124200" y="2635250"/>
            <a:ext cx="2851150" cy="2725738"/>
            <a:chOff x="1968" y="1420"/>
            <a:chExt cx="1796" cy="1717"/>
          </a:xfrm>
        </p:grpSpPr>
        <p:sp>
          <p:nvSpPr>
            <p:cNvPr id="8210" name="Rectangle 11"/>
            <p:cNvSpPr>
              <a:spLocks noChangeArrowheads="1"/>
            </p:cNvSpPr>
            <p:nvPr/>
          </p:nvSpPr>
          <p:spPr bwMode="auto">
            <a:xfrm>
              <a:off x="2016" y="1824"/>
              <a:ext cx="1727" cy="1313"/>
            </a:xfrm>
            <a:prstGeom prst="rect">
              <a:avLst/>
            </a:prstGeom>
            <a:solidFill>
              <a:schemeClr val="bg1"/>
            </a:solidFill>
            <a:ln w="9525">
              <a:solidFill>
                <a:schemeClr val="tx1"/>
              </a:solidFill>
              <a:miter lim="800000"/>
            </a:ln>
          </p:spPr>
          <p:txBody>
            <a:bodyPr wrap="none" anchor="ctr"/>
            <a:lstStyle/>
            <a:p>
              <a:endParaRPr lang="en-US"/>
            </a:p>
          </p:txBody>
        </p:sp>
        <p:sp>
          <p:nvSpPr>
            <p:cNvPr id="8211" name="Freeform 12"/>
            <p:cNvSpPr/>
            <p:nvPr/>
          </p:nvSpPr>
          <p:spPr bwMode="auto">
            <a:xfrm>
              <a:off x="2016" y="2016"/>
              <a:ext cx="912" cy="1015"/>
            </a:xfrm>
            <a:custGeom>
              <a:avLst/>
              <a:gdLst>
                <a:gd name="T0" fmla="*/ 0 w 912"/>
                <a:gd name="T1" fmla="*/ 0 h 1015"/>
                <a:gd name="T2" fmla="*/ 316 w 912"/>
                <a:gd name="T3" fmla="*/ 0 h 1015"/>
                <a:gd name="T4" fmla="*/ 435 w 912"/>
                <a:gd name="T5" fmla="*/ 129 h 1015"/>
                <a:gd name="T6" fmla="*/ 492 w 912"/>
                <a:gd name="T7" fmla="*/ 579 h 1015"/>
                <a:gd name="T8" fmla="*/ 549 w 912"/>
                <a:gd name="T9" fmla="*/ 927 h 1015"/>
                <a:gd name="T10" fmla="*/ 660 w 912"/>
                <a:gd name="T11" fmla="*/ 1008 h 1015"/>
                <a:gd name="T12" fmla="*/ 912 w 912"/>
                <a:gd name="T13" fmla="*/ 1014 h 1015"/>
                <a:gd name="T14" fmla="*/ 0 60000 65536"/>
                <a:gd name="T15" fmla="*/ 0 60000 65536"/>
                <a:gd name="T16" fmla="*/ 0 60000 65536"/>
                <a:gd name="T17" fmla="*/ 0 60000 65536"/>
                <a:gd name="T18" fmla="*/ 0 60000 65536"/>
                <a:gd name="T19" fmla="*/ 0 60000 65536"/>
                <a:gd name="T20" fmla="*/ 0 60000 65536"/>
                <a:gd name="T21" fmla="*/ 0 w 912"/>
                <a:gd name="T22" fmla="*/ 0 h 1015"/>
                <a:gd name="T23" fmla="*/ 912 w 912"/>
                <a:gd name="T24" fmla="*/ 1015 h 10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1015">
                  <a:moveTo>
                    <a:pt x="0" y="0"/>
                  </a:moveTo>
                  <a:cubicBezTo>
                    <a:pt x="0" y="0"/>
                    <a:pt x="252" y="0"/>
                    <a:pt x="316" y="0"/>
                  </a:cubicBezTo>
                  <a:cubicBezTo>
                    <a:pt x="380" y="0"/>
                    <a:pt x="405" y="28"/>
                    <a:pt x="435" y="129"/>
                  </a:cubicBezTo>
                  <a:cubicBezTo>
                    <a:pt x="465" y="230"/>
                    <a:pt x="480" y="444"/>
                    <a:pt x="492" y="579"/>
                  </a:cubicBezTo>
                  <a:cubicBezTo>
                    <a:pt x="504" y="714"/>
                    <a:pt x="521" y="856"/>
                    <a:pt x="549" y="927"/>
                  </a:cubicBezTo>
                  <a:cubicBezTo>
                    <a:pt x="577" y="998"/>
                    <a:pt x="602" y="1001"/>
                    <a:pt x="660" y="1008"/>
                  </a:cubicBezTo>
                  <a:cubicBezTo>
                    <a:pt x="718" y="1015"/>
                    <a:pt x="860" y="1013"/>
                    <a:pt x="912" y="1014"/>
                  </a:cubicBezTo>
                </a:path>
              </a:pathLst>
            </a:custGeom>
            <a:noFill/>
            <a:ln w="9525">
              <a:solidFill>
                <a:schemeClr val="tx1"/>
              </a:solidFill>
              <a:round/>
            </a:ln>
          </p:spPr>
          <p:txBody>
            <a:bodyPr/>
            <a:lstStyle/>
            <a:p>
              <a:endParaRPr lang="en-US"/>
            </a:p>
          </p:txBody>
        </p:sp>
        <p:sp>
          <p:nvSpPr>
            <p:cNvPr id="8212" name="Freeform 15"/>
            <p:cNvSpPr/>
            <p:nvPr/>
          </p:nvSpPr>
          <p:spPr bwMode="auto">
            <a:xfrm flipH="1">
              <a:off x="2832" y="2016"/>
              <a:ext cx="912" cy="1015"/>
            </a:xfrm>
            <a:custGeom>
              <a:avLst/>
              <a:gdLst>
                <a:gd name="T0" fmla="*/ 0 w 912"/>
                <a:gd name="T1" fmla="*/ 0 h 1015"/>
                <a:gd name="T2" fmla="*/ 316 w 912"/>
                <a:gd name="T3" fmla="*/ 0 h 1015"/>
                <a:gd name="T4" fmla="*/ 435 w 912"/>
                <a:gd name="T5" fmla="*/ 129 h 1015"/>
                <a:gd name="T6" fmla="*/ 492 w 912"/>
                <a:gd name="T7" fmla="*/ 579 h 1015"/>
                <a:gd name="T8" fmla="*/ 549 w 912"/>
                <a:gd name="T9" fmla="*/ 927 h 1015"/>
                <a:gd name="T10" fmla="*/ 660 w 912"/>
                <a:gd name="T11" fmla="*/ 1008 h 1015"/>
                <a:gd name="T12" fmla="*/ 912 w 912"/>
                <a:gd name="T13" fmla="*/ 1014 h 1015"/>
                <a:gd name="T14" fmla="*/ 0 60000 65536"/>
                <a:gd name="T15" fmla="*/ 0 60000 65536"/>
                <a:gd name="T16" fmla="*/ 0 60000 65536"/>
                <a:gd name="T17" fmla="*/ 0 60000 65536"/>
                <a:gd name="T18" fmla="*/ 0 60000 65536"/>
                <a:gd name="T19" fmla="*/ 0 60000 65536"/>
                <a:gd name="T20" fmla="*/ 0 60000 65536"/>
                <a:gd name="T21" fmla="*/ 0 w 912"/>
                <a:gd name="T22" fmla="*/ 0 h 1015"/>
                <a:gd name="T23" fmla="*/ 912 w 912"/>
                <a:gd name="T24" fmla="*/ 1015 h 101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2" h="1015">
                  <a:moveTo>
                    <a:pt x="0" y="0"/>
                  </a:moveTo>
                  <a:cubicBezTo>
                    <a:pt x="0" y="0"/>
                    <a:pt x="252" y="0"/>
                    <a:pt x="316" y="0"/>
                  </a:cubicBezTo>
                  <a:cubicBezTo>
                    <a:pt x="380" y="0"/>
                    <a:pt x="405" y="28"/>
                    <a:pt x="435" y="129"/>
                  </a:cubicBezTo>
                  <a:cubicBezTo>
                    <a:pt x="465" y="230"/>
                    <a:pt x="480" y="444"/>
                    <a:pt x="492" y="579"/>
                  </a:cubicBezTo>
                  <a:cubicBezTo>
                    <a:pt x="504" y="714"/>
                    <a:pt x="521" y="856"/>
                    <a:pt x="549" y="927"/>
                  </a:cubicBezTo>
                  <a:cubicBezTo>
                    <a:pt x="577" y="998"/>
                    <a:pt x="602" y="1001"/>
                    <a:pt x="660" y="1008"/>
                  </a:cubicBezTo>
                  <a:cubicBezTo>
                    <a:pt x="718" y="1015"/>
                    <a:pt x="860" y="1013"/>
                    <a:pt x="912" y="1014"/>
                  </a:cubicBezTo>
                </a:path>
              </a:pathLst>
            </a:custGeom>
            <a:noFill/>
            <a:ln w="9525">
              <a:solidFill>
                <a:schemeClr val="tx1"/>
              </a:solidFill>
              <a:round/>
            </a:ln>
          </p:spPr>
          <p:txBody>
            <a:bodyPr/>
            <a:lstStyle/>
            <a:p>
              <a:endParaRPr lang="en-US"/>
            </a:p>
          </p:txBody>
        </p:sp>
        <p:sp>
          <p:nvSpPr>
            <p:cNvPr id="8213" name="Text Box 24"/>
            <p:cNvSpPr txBox="1">
              <a:spLocks noChangeArrowheads="1"/>
            </p:cNvSpPr>
            <p:nvPr/>
          </p:nvSpPr>
          <p:spPr bwMode="auto">
            <a:xfrm>
              <a:off x="1968" y="1420"/>
              <a:ext cx="1796" cy="404"/>
            </a:xfrm>
            <a:prstGeom prst="rect">
              <a:avLst/>
            </a:prstGeom>
            <a:noFill/>
            <a:ln w="9525">
              <a:noFill/>
              <a:miter lim="800000"/>
            </a:ln>
          </p:spPr>
          <p:txBody>
            <a:bodyPr wrap="none">
              <a:spAutoFit/>
            </a:bodyPr>
            <a:lstStyle/>
            <a:p>
              <a:pPr algn="ctr"/>
              <a:r>
                <a:rPr lang="en-US" sz="1800"/>
                <a:t>intensity function</a:t>
              </a:r>
              <a:br>
                <a:rPr lang="en-US" sz="1800"/>
              </a:br>
              <a:r>
                <a:rPr lang="en-US" sz="1800"/>
                <a:t>(along horizontal scanline)</a:t>
              </a:r>
              <a:endParaRPr lang="en-US" sz="1800"/>
            </a:p>
          </p:txBody>
        </p:sp>
      </p:grpSp>
      <p:grpSp>
        <p:nvGrpSpPr>
          <p:cNvPr id="3" name="Group 32"/>
          <p:cNvGrpSpPr/>
          <p:nvPr/>
        </p:nvGrpSpPr>
        <p:grpSpPr bwMode="auto">
          <a:xfrm>
            <a:off x="6172200" y="2909888"/>
            <a:ext cx="2743200" cy="2451100"/>
            <a:chOff x="3888" y="1593"/>
            <a:chExt cx="1728" cy="1544"/>
          </a:xfrm>
        </p:grpSpPr>
        <p:sp>
          <p:nvSpPr>
            <p:cNvPr id="8205" name="Rectangle 16"/>
            <p:cNvSpPr>
              <a:spLocks noChangeArrowheads="1"/>
            </p:cNvSpPr>
            <p:nvPr/>
          </p:nvSpPr>
          <p:spPr bwMode="auto">
            <a:xfrm>
              <a:off x="3888" y="1824"/>
              <a:ext cx="1727" cy="1313"/>
            </a:xfrm>
            <a:prstGeom prst="rect">
              <a:avLst/>
            </a:prstGeom>
            <a:solidFill>
              <a:schemeClr val="bg1"/>
            </a:solidFill>
            <a:ln w="9525">
              <a:solidFill>
                <a:schemeClr val="tx1"/>
              </a:solidFill>
              <a:miter lim="800000"/>
            </a:ln>
          </p:spPr>
          <p:txBody>
            <a:bodyPr wrap="none" anchor="ctr"/>
            <a:lstStyle/>
            <a:p>
              <a:endParaRPr lang="en-US"/>
            </a:p>
          </p:txBody>
        </p:sp>
        <p:grpSp>
          <p:nvGrpSpPr>
            <p:cNvPr id="4" name="Group 19"/>
            <p:cNvGrpSpPr/>
            <p:nvPr/>
          </p:nvGrpSpPr>
          <p:grpSpPr bwMode="auto">
            <a:xfrm>
              <a:off x="3888" y="1854"/>
              <a:ext cx="1728" cy="1248"/>
              <a:chOff x="3888" y="2640"/>
              <a:chExt cx="1728" cy="1248"/>
            </a:xfrm>
          </p:grpSpPr>
          <p:sp>
            <p:nvSpPr>
              <p:cNvPr id="8208" name="Freeform 17"/>
              <p:cNvSpPr/>
              <p:nvPr/>
            </p:nvSpPr>
            <p:spPr bwMode="auto">
              <a:xfrm>
                <a:off x="3888" y="3264"/>
                <a:ext cx="909" cy="624"/>
              </a:xfrm>
              <a:custGeom>
                <a:avLst/>
                <a:gdLst>
                  <a:gd name="T0" fmla="*/ 0 w 909"/>
                  <a:gd name="T1" fmla="*/ 0 h 630"/>
                  <a:gd name="T2" fmla="*/ 288 w 909"/>
                  <a:gd name="T3" fmla="*/ 6 h 630"/>
                  <a:gd name="T4" fmla="*/ 354 w 909"/>
                  <a:gd name="T5" fmla="*/ 83 h 630"/>
                  <a:gd name="T6" fmla="*/ 399 w 909"/>
                  <a:gd name="T7" fmla="*/ 425 h 630"/>
                  <a:gd name="T8" fmla="*/ 459 w 909"/>
                  <a:gd name="T9" fmla="*/ 624 h 630"/>
                  <a:gd name="T10" fmla="*/ 528 w 909"/>
                  <a:gd name="T11" fmla="*/ 428 h 630"/>
                  <a:gd name="T12" fmla="*/ 564 w 909"/>
                  <a:gd name="T13" fmla="*/ 95 h 630"/>
                  <a:gd name="T14" fmla="*/ 642 w 909"/>
                  <a:gd name="T15" fmla="*/ 15 h 630"/>
                  <a:gd name="T16" fmla="*/ 909 w 909"/>
                  <a:gd name="T17" fmla="*/ 3 h 6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9"/>
                  <a:gd name="T28" fmla="*/ 0 h 630"/>
                  <a:gd name="T29" fmla="*/ 909 w 909"/>
                  <a:gd name="T30" fmla="*/ 630 h 6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9" h="630">
                    <a:moveTo>
                      <a:pt x="0" y="0"/>
                    </a:moveTo>
                    <a:cubicBezTo>
                      <a:pt x="48" y="1"/>
                      <a:pt x="231" y="0"/>
                      <a:pt x="288" y="6"/>
                    </a:cubicBezTo>
                    <a:cubicBezTo>
                      <a:pt x="345" y="12"/>
                      <a:pt x="351" y="57"/>
                      <a:pt x="354" y="84"/>
                    </a:cubicBezTo>
                    <a:cubicBezTo>
                      <a:pt x="357" y="111"/>
                      <a:pt x="382" y="338"/>
                      <a:pt x="399" y="429"/>
                    </a:cubicBezTo>
                    <a:cubicBezTo>
                      <a:pt x="416" y="520"/>
                      <a:pt x="438" y="630"/>
                      <a:pt x="459" y="630"/>
                    </a:cubicBezTo>
                    <a:cubicBezTo>
                      <a:pt x="483" y="630"/>
                      <a:pt x="504" y="536"/>
                      <a:pt x="528" y="432"/>
                    </a:cubicBezTo>
                    <a:cubicBezTo>
                      <a:pt x="546" y="343"/>
                      <a:pt x="545" y="165"/>
                      <a:pt x="564" y="96"/>
                    </a:cubicBezTo>
                    <a:cubicBezTo>
                      <a:pt x="581" y="24"/>
                      <a:pt x="585" y="28"/>
                      <a:pt x="642" y="15"/>
                    </a:cubicBezTo>
                    <a:cubicBezTo>
                      <a:pt x="699" y="2"/>
                      <a:pt x="854" y="5"/>
                      <a:pt x="909" y="3"/>
                    </a:cubicBezTo>
                  </a:path>
                </a:pathLst>
              </a:custGeom>
              <a:noFill/>
              <a:ln w="9525">
                <a:solidFill>
                  <a:schemeClr val="tx1"/>
                </a:solidFill>
                <a:round/>
              </a:ln>
            </p:spPr>
            <p:txBody>
              <a:bodyPr/>
              <a:lstStyle/>
              <a:p>
                <a:endParaRPr lang="en-US"/>
              </a:p>
            </p:txBody>
          </p:sp>
          <p:sp>
            <p:nvSpPr>
              <p:cNvPr id="8209" name="Freeform 18"/>
              <p:cNvSpPr/>
              <p:nvPr/>
            </p:nvSpPr>
            <p:spPr bwMode="auto">
              <a:xfrm flipV="1">
                <a:off x="4707" y="2640"/>
                <a:ext cx="909" cy="624"/>
              </a:xfrm>
              <a:custGeom>
                <a:avLst/>
                <a:gdLst>
                  <a:gd name="T0" fmla="*/ 0 w 909"/>
                  <a:gd name="T1" fmla="*/ 0 h 630"/>
                  <a:gd name="T2" fmla="*/ 288 w 909"/>
                  <a:gd name="T3" fmla="*/ 6 h 630"/>
                  <a:gd name="T4" fmla="*/ 354 w 909"/>
                  <a:gd name="T5" fmla="*/ 83 h 630"/>
                  <a:gd name="T6" fmla="*/ 399 w 909"/>
                  <a:gd name="T7" fmla="*/ 425 h 630"/>
                  <a:gd name="T8" fmla="*/ 459 w 909"/>
                  <a:gd name="T9" fmla="*/ 624 h 630"/>
                  <a:gd name="T10" fmla="*/ 528 w 909"/>
                  <a:gd name="T11" fmla="*/ 428 h 630"/>
                  <a:gd name="T12" fmla="*/ 564 w 909"/>
                  <a:gd name="T13" fmla="*/ 95 h 630"/>
                  <a:gd name="T14" fmla="*/ 642 w 909"/>
                  <a:gd name="T15" fmla="*/ 15 h 630"/>
                  <a:gd name="T16" fmla="*/ 909 w 909"/>
                  <a:gd name="T17" fmla="*/ 3 h 6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9"/>
                  <a:gd name="T28" fmla="*/ 0 h 630"/>
                  <a:gd name="T29" fmla="*/ 909 w 909"/>
                  <a:gd name="T30" fmla="*/ 630 h 6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9" h="630">
                    <a:moveTo>
                      <a:pt x="0" y="0"/>
                    </a:moveTo>
                    <a:cubicBezTo>
                      <a:pt x="48" y="1"/>
                      <a:pt x="231" y="0"/>
                      <a:pt x="288" y="6"/>
                    </a:cubicBezTo>
                    <a:cubicBezTo>
                      <a:pt x="345" y="12"/>
                      <a:pt x="351" y="57"/>
                      <a:pt x="354" y="84"/>
                    </a:cubicBezTo>
                    <a:cubicBezTo>
                      <a:pt x="357" y="111"/>
                      <a:pt x="382" y="338"/>
                      <a:pt x="399" y="429"/>
                    </a:cubicBezTo>
                    <a:cubicBezTo>
                      <a:pt x="416" y="520"/>
                      <a:pt x="438" y="630"/>
                      <a:pt x="459" y="630"/>
                    </a:cubicBezTo>
                    <a:cubicBezTo>
                      <a:pt x="483" y="630"/>
                      <a:pt x="504" y="536"/>
                      <a:pt x="528" y="432"/>
                    </a:cubicBezTo>
                    <a:cubicBezTo>
                      <a:pt x="546" y="343"/>
                      <a:pt x="545" y="165"/>
                      <a:pt x="564" y="96"/>
                    </a:cubicBezTo>
                    <a:cubicBezTo>
                      <a:pt x="581" y="24"/>
                      <a:pt x="585" y="28"/>
                      <a:pt x="642" y="15"/>
                    </a:cubicBezTo>
                    <a:cubicBezTo>
                      <a:pt x="699" y="2"/>
                      <a:pt x="854" y="5"/>
                      <a:pt x="909" y="3"/>
                    </a:cubicBezTo>
                  </a:path>
                </a:pathLst>
              </a:custGeom>
              <a:noFill/>
              <a:ln w="9525">
                <a:solidFill>
                  <a:schemeClr val="tx1"/>
                </a:solidFill>
                <a:round/>
              </a:ln>
            </p:spPr>
            <p:txBody>
              <a:bodyPr/>
              <a:lstStyle/>
              <a:p>
                <a:endParaRPr lang="en-US"/>
              </a:p>
            </p:txBody>
          </p:sp>
        </p:grpSp>
        <p:sp>
          <p:nvSpPr>
            <p:cNvPr id="8207" name="Text Box 25"/>
            <p:cNvSpPr txBox="1">
              <a:spLocks noChangeArrowheads="1"/>
            </p:cNvSpPr>
            <p:nvPr/>
          </p:nvSpPr>
          <p:spPr bwMode="auto">
            <a:xfrm>
              <a:off x="4216" y="1593"/>
              <a:ext cx="1004" cy="231"/>
            </a:xfrm>
            <a:prstGeom prst="rect">
              <a:avLst/>
            </a:prstGeom>
            <a:noFill/>
            <a:ln w="9525">
              <a:noFill/>
              <a:miter lim="800000"/>
            </a:ln>
          </p:spPr>
          <p:txBody>
            <a:bodyPr wrap="none">
              <a:spAutoFit/>
            </a:bodyPr>
            <a:lstStyle/>
            <a:p>
              <a:pPr algn="ctr"/>
              <a:r>
                <a:rPr lang="en-US" sz="1800" dirty="0"/>
                <a:t>first derivative</a:t>
              </a:r>
              <a:endParaRPr lang="en-US" sz="1800" dirty="0"/>
            </a:p>
          </p:txBody>
        </p:sp>
      </p:grpSp>
      <p:grpSp>
        <p:nvGrpSpPr>
          <p:cNvPr id="5" name="Group 33"/>
          <p:cNvGrpSpPr/>
          <p:nvPr/>
        </p:nvGrpSpPr>
        <p:grpSpPr bwMode="auto">
          <a:xfrm>
            <a:off x="6489700" y="3657600"/>
            <a:ext cx="2305050" cy="3200400"/>
            <a:chOff x="4088" y="2064"/>
            <a:chExt cx="1452" cy="2016"/>
          </a:xfrm>
        </p:grpSpPr>
        <p:sp>
          <p:nvSpPr>
            <p:cNvPr id="8202" name="Line 28"/>
            <p:cNvSpPr>
              <a:spLocks noChangeShapeType="1"/>
            </p:cNvSpPr>
            <p:nvPr/>
          </p:nvSpPr>
          <p:spPr bwMode="auto">
            <a:xfrm flipH="1" flipV="1">
              <a:off x="4368" y="3168"/>
              <a:ext cx="144" cy="528"/>
            </a:xfrm>
            <a:prstGeom prst="line">
              <a:avLst/>
            </a:prstGeom>
            <a:noFill/>
            <a:ln w="9525">
              <a:solidFill>
                <a:schemeClr val="tx1"/>
              </a:solidFill>
              <a:round/>
              <a:tailEnd type="triangle" w="med" len="med"/>
            </a:ln>
          </p:spPr>
          <p:txBody>
            <a:bodyPr/>
            <a:lstStyle/>
            <a:p>
              <a:endParaRPr lang="en-US"/>
            </a:p>
          </p:txBody>
        </p:sp>
        <p:sp>
          <p:nvSpPr>
            <p:cNvPr id="8203" name="Line 29"/>
            <p:cNvSpPr>
              <a:spLocks noChangeShapeType="1"/>
            </p:cNvSpPr>
            <p:nvPr/>
          </p:nvSpPr>
          <p:spPr bwMode="auto">
            <a:xfrm flipV="1">
              <a:off x="5040" y="2064"/>
              <a:ext cx="144" cy="1632"/>
            </a:xfrm>
            <a:prstGeom prst="line">
              <a:avLst/>
            </a:prstGeom>
            <a:noFill/>
            <a:ln w="9525">
              <a:solidFill>
                <a:schemeClr val="tx1"/>
              </a:solidFill>
              <a:round/>
              <a:tailEnd type="triangle" w="med" len="med"/>
            </a:ln>
          </p:spPr>
          <p:txBody>
            <a:bodyPr/>
            <a:lstStyle/>
            <a:p>
              <a:endParaRPr lang="en-US"/>
            </a:p>
          </p:txBody>
        </p:sp>
        <p:sp>
          <p:nvSpPr>
            <p:cNvPr id="8204" name="Text Box 30"/>
            <p:cNvSpPr txBox="1">
              <a:spLocks noChangeArrowheads="1"/>
            </p:cNvSpPr>
            <p:nvPr/>
          </p:nvSpPr>
          <p:spPr bwMode="auto">
            <a:xfrm>
              <a:off x="4088" y="3676"/>
              <a:ext cx="1452" cy="404"/>
            </a:xfrm>
            <a:prstGeom prst="rect">
              <a:avLst/>
            </a:prstGeom>
            <a:noFill/>
            <a:ln w="9525">
              <a:noFill/>
              <a:miter lim="800000"/>
            </a:ln>
          </p:spPr>
          <p:txBody>
            <a:bodyPr wrap="none">
              <a:spAutoFit/>
            </a:bodyPr>
            <a:lstStyle/>
            <a:p>
              <a:pPr algn="ctr"/>
              <a:r>
                <a:rPr lang="en-US" sz="1800" dirty="0"/>
                <a:t>edges correspond to</a:t>
              </a:r>
              <a:br>
                <a:rPr lang="en-US" sz="1800" dirty="0"/>
              </a:br>
              <a:r>
                <a:rPr lang="en-US" sz="1800" dirty="0"/>
                <a:t>extrema of derivative</a:t>
              </a:r>
              <a:endParaRPr lang="en-US" sz="1800" dirty="0"/>
            </a:p>
          </p:txBody>
        </p:sp>
      </p:grpSp>
      <p:sp>
        <p:nvSpPr>
          <p:cNvPr id="22" name="Text Box 31"/>
          <p:cNvSpPr txBox="1">
            <a:spLocks noChangeArrowheads="1"/>
          </p:cNvSpPr>
          <p:nvPr/>
        </p:nvSpPr>
        <p:spPr bwMode="auto">
          <a:xfrm>
            <a:off x="0" y="6583362"/>
            <a:ext cx="1382486" cy="274638"/>
          </a:xfrm>
          <a:prstGeom prst="rect">
            <a:avLst/>
          </a:prstGeom>
          <a:solidFill>
            <a:schemeClr val="bg1"/>
          </a:solidFill>
          <a:ln w="9525">
            <a:noFill/>
            <a:miter lim="800000"/>
          </a:ln>
        </p:spPr>
        <p:txBody>
          <a:bodyPr wrap="square">
            <a:spAutoFit/>
          </a:bodyPr>
          <a:lstStyle/>
          <a:p>
            <a:r>
              <a:rPr lang="en-US" sz="1200" dirty="0"/>
              <a:t>Source: L. Lazebnik</a:t>
            </a:r>
            <a:endParaRPr lang="en-US" sz="1200" dirty="0"/>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fade">
                                      <p:cBhvr>
                                        <p:cTn id="7" dur="500"/>
                                        <p:tgtEl>
                                          <p:spTgt spid="81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custDataLst>
              <p:tags r:id="rId1"/>
            </p:custDataLst>
          </p:nvPr>
        </p:nvSpPr>
        <p:spPr>
          <a:xfrm>
            <a:off x="457200" y="1447800"/>
            <a:ext cx="8382000" cy="74676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90204" pitchFamily="34" charset="0"/>
              <a:buChar char="•"/>
              <a:defRPr/>
            </a:pPr>
            <a:r>
              <a:rPr kumimoji="0" lang="en-US" sz="3200" b="0" i="0" u="none" strike="noStrike" kern="1200" cap="none" spc="0" normalizeH="0" baseline="0" noProof="0" dirty="0">
                <a:ln>
                  <a:noFill/>
                </a:ln>
                <a:solidFill>
                  <a:schemeClr val="tx1"/>
                </a:solidFill>
                <a:effectLst/>
                <a:uLnTx/>
                <a:uFillTx/>
                <a:latin typeface="+mn-lt"/>
                <a:ea typeface="+mn-ea"/>
                <a:cs typeface="+mn-cs"/>
              </a:rPr>
              <a:t>How can we differentiate a </a:t>
            </a:r>
            <a:r>
              <a:rPr kumimoji="0" lang="en-US" sz="3200" b="0" i="1" u="none" strike="noStrike" kern="1200" cap="none" spc="0" normalizeH="0" baseline="0" noProof="0" dirty="0">
                <a:ln>
                  <a:noFill/>
                </a:ln>
                <a:solidFill>
                  <a:schemeClr val="tx1"/>
                </a:solidFill>
                <a:effectLst/>
                <a:uLnTx/>
                <a:uFillTx/>
                <a:latin typeface="+mn-lt"/>
                <a:ea typeface="+mn-ea"/>
                <a:cs typeface="+mn-cs"/>
              </a:rPr>
              <a:t>digital</a:t>
            </a:r>
            <a:r>
              <a:rPr kumimoji="0" lang="en-US" sz="3200" b="0" i="0" u="none" strike="noStrike" kern="1200" cap="none" spc="0" normalizeH="0" baseline="0" noProof="0" dirty="0">
                <a:ln>
                  <a:noFill/>
                </a:ln>
                <a:solidFill>
                  <a:schemeClr val="tx1"/>
                </a:solidFill>
                <a:effectLst/>
                <a:uLnTx/>
                <a:uFillTx/>
                <a:latin typeface="+mn-lt"/>
                <a:ea typeface="+mn-ea"/>
                <a:cs typeface="+mn-cs"/>
              </a:rPr>
              <a:t> image F[</a:t>
            </a:r>
            <a:r>
              <a:rPr kumimoji="0" lang="en-US" sz="3200" b="0" i="0" u="none" strike="noStrike" kern="1200" cap="none" spc="0" normalizeH="0" baseline="0" noProof="0" dirty="0" err="1">
                <a:ln>
                  <a:noFill/>
                </a:ln>
                <a:solidFill>
                  <a:schemeClr val="tx1"/>
                </a:solidFill>
                <a:effectLst/>
                <a:uLnTx/>
                <a:uFillTx/>
                <a:latin typeface="+mn-lt"/>
                <a:ea typeface="+mn-ea"/>
                <a:cs typeface="+mn-cs"/>
              </a:rPr>
              <a:t>x,y</a:t>
            </a:r>
            <a:r>
              <a:rPr kumimoji="0" lang="en-US" sz="3200" b="0" i="0" u="none" strike="noStrike" kern="1200" cap="none" spc="0" normalizeH="0" baseline="0" noProof="0" dirty="0">
                <a:ln>
                  <a:noFill/>
                </a:ln>
                <a:solidFill>
                  <a:schemeClr val="tx1"/>
                </a:solidFill>
                <a:effectLst/>
                <a:uLnTx/>
                <a:uFillTx/>
                <a:latin typeface="+mn-lt"/>
                <a:ea typeface="+mn-ea"/>
                <a:cs typeface="+mn-cs"/>
              </a:rPr>
              <a:t>]?</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Option 1:  reconstruct a continuous image, </a:t>
            </a:r>
            <a:r>
              <a:rPr kumimoji="0" lang="en-US" sz="2800" b="0" i="1" u="none" strike="noStrike" kern="1200" cap="none" spc="0" normalizeH="0" baseline="0" noProof="0" dirty="0">
                <a:ln>
                  <a:noFill/>
                </a:ln>
                <a:solidFill>
                  <a:schemeClr val="tx1"/>
                </a:solidFill>
                <a:effectLst/>
                <a:uLnTx/>
                <a:uFillTx/>
                <a:latin typeface="+mn-lt"/>
                <a:ea typeface="+mn-ea"/>
                <a:cs typeface="+mn-cs"/>
              </a:rPr>
              <a:t>f,</a:t>
            </a:r>
            <a:r>
              <a:rPr kumimoji="0" lang="en-US" sz="2800" b="0" i="0" u="none" strike="noStrike" kern="1200" cap="none" spc="0" normalizeH="0" baseline="0" noProof="0" dirty="0">
                <a:ln>
                  <a:noFill/>
                </a:ln>
                <a:solidFill>
                  <a:schemeClr val="tx1"/>
                </a:solidFill>
                <a:effectLst/>
                <a:uLnTx/>
                <a:uFillTx/>
                <a:latin typeface="+mn-lt"/>
                <a:ea typeface="+mn-ea"/>
                <a:cs typeface="+mn-cs"/>
              </a:rPr>
              <a:t> then compute the derivative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90204" pitchFamily="34" charset="0"/>
              <a:buChar char="–"/>
              <a:defRPr/>
            </a:pPr>
            <a:r>
              <a:rPr kumimoji="0" lang="en-US" sz="2800" b="0" i="0" u="none" strike="noStrike" kern="1200" cap="none" spc="0" normalizeH="0" baseline="0" noProof="0" dirty="0">
                <a:ln>
                  <a:noFill/>
                </a:ln>
                <a:solidFill>
                  <a:schemeClr val="tx1"/>
                </a:solidFill>
                <a:effectLst/>
                <a:uLnTx/>
                <a:uFillTx/>
                <a:latin typeface="+mn-lt"/>
                <a:ea typeface="+mn-ea"/>
                <a:cs typeface="+mn-cs"/>
              </a:rPr>
              <a:t>Option 2:  take discrete derivative (finite difference)</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7" name="Group 5"/>
          <p:cNvGraphicFramePr>
            <a:graphicFrameLocks noGrp="1"/>
          </p:cNvGraphicFramePr>
          <p:nvPr>
            <p:custDataLst>
              <p:tags r:id="rId2"/>
            </p:custDataLst>
          </p:nvPr>
        </p:nvGraphicFramePr>
        <p:xfrm>
          <a:off x="2438400" y="5241924"/>
          <a:ext cx="1143000" cy="974726"/>
        </p:xfrm>
        <a:graphic>
          <a:graphicData uri="http://schemas.openxmlformats.org/drawingml/2006/table">
            <a:tbl>
              <a:tblPr/>
              <a:tblGrid>
                <a:gridCol w="381000"/>
                <a:gridCol w="381000"/>
                <a:gridCol w="381000"/>
              </a:tblGrid>
              <a:tr h="152400">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0" fontAlgn="base" latinLnBrk="0" hangingPunct="0">
                        <a:lnSpc>
                          <a:spcPct val="100000"/>
                        </a:lnSpc>
                        <a:spcBef>
                          <a:spcPct val="50000"/>
                        </a:spcBef>
                        <a:spcAft>
                          <a:spcPct val="50000"/>
                        </a:spcAft>
                        <a:buClrTx/>
                        <a:buSzTx/>
                        <a:buFontTx/>
                        <a:buNone/>
                      </a:pPr>
                      <a:r>
                        <a:rPr kumimoji="0" lang="en-US" sz="1400" b="0" i="0" u="none" strike="noStrike" cap="none" normalizeH="0" baseline="0" dirty="0">
                          <a:ln>
                            <a:noFill/>
                          </a:ln>
                          <a:solidFill>
                            <a:schemeClr val="tx1"/>
                          </a:solidFill>
                          <a:effectLst/>
                          <a:latin typeface="Myriad Roman" pitchFamily="34" charset="0"/>
                        </a:rPr>
                        <a:t>1</a:t>
                      </a: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r>
                        <a:rPr kumimoji="0" lang="en-US" sz="1400" b="0" i="0" u="none" strike="noStrike" cap="none" normalizeH="0" baseline="0" dirty="0">
                          <a:ln>
                            <a:noFill/>
                          </a:ln>
                          <a:solidFill>
                            <a:schemeClr val="tx1"/>
                          </a:solidFill>
                          <a:effectLst/>
                          <a:latin typeface="Myriad Roman" pitchFamily="34" charset="0"/>
                        </a:rPr>
                        <a:t>-1</a:t>
                      </a: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Rectangle 24"/>
          <p:cNvSpPr>
            <a:spLocks noChangeArrowheads="1"/>
          </p:cNvSpPr>
          <p:nvPr>
            <p:custDataLst>
              <p:tags r:id="rId3"/>
            </p:custDataLst>
          </p:nvPr>
        </p:nvSpPr>
        <p:spPr bwMode="auto">
          <a:xfrm>
            <a:off x="1371600" y="4556124"/>
            <a:ext cx="6629400" cy="533400"/>
          </a:xfrm>
          <a:prstGeom prst="rect">
            <a:avLst/>
          </a:prstGeom>
          <a:noFill/>
          <a:ln w="9525">
            <a:noFill/>
            <a:miter lim="800000"/>
          </a:ln>
          <a:effectLst/>
        </p:spPr>
        <p:txBody>
          <a:bodyPr/>
          <a:lstStyle/>
          <a:p>
            <a:pPr marL="342900" indent="-342900">
              <a:spcBef>
                <a:spcPct val="50000"/>
              </a:spcBef>
              <a:spcAft>
                <a:spcPct val="50000"/>
              </a:spcAft>
            </a:pPr>
            <a:r>
              <a:rPr lang="en-US" sz="2000" baseline="0" dirty="0"/>
              <a:t>How would you implement </a:t>
            </a:r>
            <a:r>
              <a:rPr lang="en-US" sz="2000" baseline="0"/>
              <a:t>this </a:t>
            </a:r>
            <a:r>
              <a:rPr lang="en-US" sz="2000"/>
              <a:t>by</a:t>
            </a:r>
            <a:r>
              <a:rPr lang="en-US" sz="2000" baseline="0"/>
              <a:t> </a:t>
            </a:r>
            <a:r>
              <a:rPr lang="en-US" sz="2000" baseline="0" dirty="0"/>
              <a:t>a linear filter?</a:t>
            </a:r>
            <a:endParaRPr lang="en-US" sz="2000" baseline="0" dirty="0"/>
          </a:p>
        </p:txBody>
      </p:sp>
      <p:sp>
        <p:nvSpPr>
          <p:cNvPr id="11" name="Rectangle 2"/>
          <p:cNvSpPr>
            <a:spLocks noGrp="1" noChangeArrowheads="1"/>
          </p:cNvSpPr>
          <p:nvPr>
            <p:ph type="title"/>
            <p:custDataLst>
              <p:tags r:id="rId4"/>
            </p:custDataLst>
          </p:nvPr>
        </p:nvSpPr>
        <p:spPr/>
        <p:txBody>
          <a:bodyPr/>
          <a:lstStyle/>
          <a:p>
            <a:r>
              <a:rPr lang="en-US" dirty="0"/>
              <a:t>Image derivatives</a:t>
            </a:r>
            <a:endParaRPr lang="en-US" dirty="0"/>
          </a:p>
        </p:txBody>
      </p:sp>
      <p:graphicFrame>
        <p:nvGraphicFramePr>
          <p:cNvPr id="12" name="Group 5"/>
          <p:cNvGraphicFramePr>
            <a:graphicFrameLocks noGrp="1"/>
          </p:cNvGraphicFramePr>
          <p:nvPr>
            <p:custDataLst>
              <p:tags r:id="rId5"/>
            </p:custDataLst>
          </p:nvPr>
        </p:nvGraphicFramePr>
        <p:xfrm>
          <a:off x="5486400" y="5241924"/>
          <a:ext cx="1143000" cy="974726"/>
        </p:xfrm>
        <a:graphic>
          <a:graphicData uri="http://schemas.openxmlformats.org/drawingml/2006/table">
            <a:tbl>
              <a:tblPr/>
              <a:tblGrid>
                <a:gridCol w="381000"/>
                <a:gridCol w="381000"/>
                <a:gridCol w="381000"/>
              </a:tblGrid>
              <a:tr h="152400">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r>
                        <a:rPr kumimoji="0" lang="en-US" sz="1400" b="0" i="0" u="none" strike="noStrike" cap="none" normalizeH="0" baseline="0" dirty="0">
                          <a:ln>
                            <a:noFill/>
                          </a:ln>
                          <a:solidFill>
                            <a:schemeClr val="tx1"/>
                          </a:solidFill>
                          <a:effectLst/>
                          <a:latin typeface="Myriad Roman" pitchFamily="34" charset="0"/>
                        </a:rPr>
                        <a:t>-1</a:t>
                      </a: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a:ln>
                          <a:noFill/>
                        </a:ln>
                        <a:solidFill>
                          <a:schemeClr val="tx1"/>
                        </a:solidFill>
                        <a:effectLst/>
                        <a:latin typeface="Myriad Roman"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r>
                        <a:rPr kumimoji="0" lang="en-US" sz="1400" b="0" i="0" u="none" strike="noStrike" cap="none" normalizeH="0" baseline="0" dirty="0">
                          <a:ln>
                            <a:noFill/>
                          </a:ln>
                          <a:solidFill>
                            <a:schemeClr val="tx1"/>
                          </a:solidFill>
                          <a:effectLst/>
                          <a:latin typeface="Myriad Roman" pitchFamily="34" charset="0"/>
                        </a:rPr>
                        <a:t>1</a:t>
                      </a: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50000"/>
                        </a:spcBef>
                        <a:spcAft>
                          <a:spcPct val="50000"/>
                        </a:spcAft>
                        <a:buClrTx/>
                        <a:buSzTx/>
                        <a:buFontTx/>
                        <a:buNone/>
                      </a:pPr>
                      <a:endParaRPr kumimoji="0" lang="en-US" sz="1400" b="0" i="0" u="none" strike="noStrike" cap="none" normalizeH="0" baseline="0" dirty="0">
                        <a:ln>
                          <a:noFill/>
                        </a:ln>
                        <a:solidFill>
                          <a:schemeClr val="tx1"/>
                        </a:solidFill>
                        <a:effectLst/>
                        <a:latin typeface="Myriad Roman"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89090" name="Picture 2"/>
          <p:cNvPicPr>
            <a:picLocks noChangeAspect="1" noChangeArrowheads="1"/>
          </p:cNvPicPr>
          <p:nvPr/>
        </p:nvPicPr>
        <p:blipFill>
          <a:blip r:embed="rId6" cstate="print"/>
          <a:srcRect/>
          <a:stretch>
            <a:fillRect/>
          </a:stretch>
        </p:blipFill>
        <p:spPr bwMode="auto">
          <a:xfrm>
            <a:off x="1689868" y="5406387"/>
            <a:ext cx="391486" cy="641040"/>
          </a:xfrm>
          <a:prstGeom prst="rect">
            <a:avLst/>
          </a:prstGeom>
          <a:noFill/>
          <a:ln w="9525">
            <a:noFill/>
            <a:miter lim="800000"/>
            <a:headEnd/>
            <a:tailEnd/>
          </a:ln>
        </p:spPr>
      </p:pic>
      <p:sp>
        <p:nvSpPr>
          <p:cNvPr id="15" name="TextBox 14"/>
          <p:cNvSpPr txBox="1"/>
          <p:nvPr/>
        </p:nvSpPr>
        <p:spPr>
          <a:xfrm>
            <a:off x="2005154" y="5453744"/>
            <a:ext cx="280846" cy="523220"/>
          </a:xfrm>
          <a:prstGeom prst="rect">
            <a:avLst/>
          </a:prstGeom>
          <a:noFill/>
        </p:spPr>
        <p:txBody>
          <a:bodyPr wrap="none" rtlCol="0">
            <a:spAutoFit/>
          </a:bodyPr>
          <a:lstStyle/>
          <a:p>
            <a:r>
              <a:rPr lang="en-US" sz="2800" dirty="0"/>
              <a:t>:</a:t>
            </a:r>
            <a:endParaRPr lang="en-US" sz="2800" dirty="0"/>
          </a:p>
        </p:txBody>
      </p:sp>
      <p:pic>
        <p:nvPicPr>
          <p:cNvPr id="89091" name="Picture 3"/>
          <p:cNvPicPr>
            <a:picLocks noChangeAspect="1" noChangeArrowheads="1"/>
          </p:cNvPicPr>
          <p:nvPr/>
        </p:nvPicPr>
        <p:blipFill>
          <a:blip r:embed="rId7" cstate="print"/>
          <a:srcRect/>
          <a:stretch>
            <a:fillRect/>
          </a:stretch>
        </p:blipFill>
        <p:spPr bwMode="auto">
          <a:xfrm>
            <a:off x="4865914" y="5410199"/>
            <a:ext cx="371203" cy="640080"/>
          </a:xfrm>
          <a:prstGeom prst="rect">
            <a:avLst/>
          </a:prstGeom>
          <a:noFill/>
          <a:ln w="9525">
            <a:noFill/>
            <a:miter lim="800000"/>
            <a:headEnd/>
            <a:tailEnd/>
          </a:ln>
        </p:spPr>
      </p:pic>
      <p:sp>
        <p:nvSpPr>
          <p:cNvPr id="17" name="TextBox 16"/>
          <p:cNvSpPr txBox="1"/>
          <p:nvPr/>
        </p:nvSpPr>
        <p:spPr>
          <a:xfrm>
            <a:off x="5148944" y="5421086"/>
            <a:ext cx="280846" cy="523220"/>
          </a:xfrm>
          <a:prstGeom prst="rect">
            <a:avLst/>
          </a:prstGeom>
          <a:noFill/>
        </p:spPr>
        <p:txBody>
          <a:bodyPr wrap="none" rtlCol="0">
            <a:spAutoFit/>
          </a:bodyPr>
          <a:lstStyle/>
          <a:p>
            <a:r>
              <a:rPr lang="en-US" sz="2800" dirty="0"/>
              <a:t>:</a:t>
            </a:r>
            <a:endParaRPr lang="en-US" sz="2800" dirty="0"/>
          </a:p>
        </p:txBody>
      </p:sp>
      <p:pic>
        <p:nvPicPr>
          <p:cNvPr id="89092" name="Picture 4"/>
          <p:cNvPicPr>
            <a:picLocks noChangeAspect="1" noChangeArrowheads="1"/>
          </p:cNvPicPr>
          <p:nvPr/>
        </p:nvPicPr>
        <p:blipFill>
          <a:blip r:embed="rId8" cstate="print"/>
          <a:srcRect/>
          <a:stretch>
            <a:fillRect/>
          </a:stretch>
        </p:blipFill>
        <p:spPr bwMode="auto">
          <a:xfrm>
            <a:off x="2771775" y="6303475"/>
            <a:ext cx="428626" cy="336278"/>
          </a:xfrm>
          <a:prstGeom prst="rect">
            <a:avLst/>
          </a:prstGeom>
          <a:noFill/>
          <a:ln w="9525">
            <a:noFill/>
            <a:miter lim="800000"/>
            <a:headEnd/>
            <a:tailEnd/>
          </a:ln>
        </p:spPr>
      </p:pic>
      <p:pic>
        <p:nvPicPr>
          <p:cNvPr id="89093" name="Picture 5"/>
          <p:cNvPicPr>
            <a:picLocks noChangeAspect="1" noChangeArrowheads="1"/>
          </p:cNvPicPr>
          <p:nvPr/>
        </p:nvPicPr>
        <p:blipFill>
          <a:blip r:embed="rId9" cstate="print"/>
          <a:srcRect/>
          <a:stretch>
            <a:fillRect/>
          </a:stretch>
        </p:blipFill>
        <p:spPr bwMode="auto">
          <a:xfrm>
            <a:off x="5845404" y="6323197"/>
            <a:ext cx="434744" cy="338328"/>
          </a:xfrm>
          <a:prstGeom prst="rect">
            <a:avLst/>
          </a:prstGeom>
          <a:noFill/>
          <a:ln w="9525">
            <a:noFill/>
            <a:miter lim="800000"/>
            <a:headEnd/>
            <a:tailEnd/>
          </a:ln>
        </p:spPr>
      </p:pic>
      <p:sp>
        <p:nvSpPr>
          <p:cNvPr id="14" name="Text Box 31"/>
          <p:cNvSpPr txBox="1">
            <a:spLocks noChangeArrowheads="1"/>
          </p:cNvSpPr>
          <p:nvPr/>
        </p:nvSpPr>
        <p:spPr bwMode="auto">
          <a:xfrm>
            <a:off x="7924816" y="6520544"/>
            <a:ext cx="1175647" cy="274638"/>
          </a:xfrm>
          <a:prstGeom prst="rect">
            <a:avLst/>
          </a:prstGeom>
          <a:solidFill>
            <a:schemeClr val="bg1"/>
          </a:solidFill>
          <a:ln w="9525">
            <a:noFill/>
            <a:miter lim="800000"/>
          </a:ln>
        </p:spPr>
        <p:txBody>
          <a:bodyPr wrap="square">
            <a:spAutoFit/>
          </a:bodyPr>
          <a:lstStyle/>
          <a:p>
            <a:r>
              <a:rPr lang="en-US" sz="1200" dirty="0"/>
              <a:t>Source: S. Seitz</a:t>
            </a:r>
            <a:endParaRPr lang="en-US" sz="1200" dirty="0"/>
          </a:p>
        </p:txBody>
      </p:sp>
      <p:sp>
        <p:nvSpPr>
          <p:cNvPr id="16" name="Rectangle 15"/>
          <p:cNvSpPr/>
          <p:nvPr/>
        </p:nvSpPr>
        <p:spPr>
          <a:xfrm>
            <a:off x="2873829" y="5584371"/>
            <a:ext cx="239485" cy="2503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503713" y="5595255"/>
            <a:ext cx="239485" cy="2503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5943601" y="5606142"/>
            <a:ext cx="239485" cy="2503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932715" y="5943600"/>
            <a:ext cx="261256" cy="2177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pic>
        <p:nvPicPr>
          <p:cNvPr id="4" name="Picture 4" descr="Edittex"/>
          <p:cNvPicPr>
            <a:picLocks noChangeAspect="1" noChangeArrowheads="1"/>
          </p:cNvPicPr>
          <p:nvPr>
            <p:custDataLst>
              <p:tags r:id="rId10"/>
            </p:custDataLst>
          </p:nvPr>
        </p:nvPicPr>
        <p:blipFill>
          <a:blip r:embed="rId11" cstate="print"/>
          <a:srcRect/>
          <a:stretch>
            <a:fillRect/>
          </a:stretch>
        </p:blipFill>
        <p:spPr bwMode="auto">
          <a:xfrm>
            <a:off x="3048000" y="3886200"/>
            <a:ext cx="4230687" cy="641350"/>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89090"/>
                                        </p:tgtEl>
                                        <p:attrNameLst>
                                          <p:attrName>style.visibility</p:attrName>
                                        </p:attrNameLst>
                                      </p:cBhvr>
                                      <p:to>
                                        <p:strVal val="visible"/>
                                      </p:to>
                                    </p:set>
                                    <p:animEffect transition="in" filter="fade">
                                      <p:cBhvr>
                                        <p:cTn id="18" dur="500"/>
                                        <p:tgtEl>
                                          <p:spTgt spid="8909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89092"/>
                                        </p:tgtEl>
                                        <p:attrNameLst>
                                          <p:attrName>style.visibility</p:attrName>
                                        </p:attrNameLst>
                                      </p:cBhvr>
                                      <p:to>
                                        <p:strVal val="visible"/>
                                      </p:to>
                                    </p:set>
                                    <p:animEffect transition="in" filter="fade">
                                      <p:cBhvr>
                                        <p:cTn id="24" dur="500"/>
                                        <p:tgtEl>
                                          <p:spTgt spid="8909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16"/>
                                        </p:tgtEl>
                                      </p:cBhvr>
                                    </p:animEffect>
                                    <p:set>
                                      <p:cBhvr>
                                        <p:cTn id="29" dur="1" fill="hold">
                                          <p:stCondLst>
                                            <p:cond delay="499"/>
                                          </p:stCondLst>
                                        </p:cTn>
                                        <p:tgtEl>
                                          <p:spTgt spid="16"/>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89091"/>
                                        </p:tgtEl>
                                        <p:attrNameLst>
                                          <p:attrName>style.visibility</p:attrName>
                                        </p:attrNameLst>
                                      </p:cBhvr>
                                      <p:to>
                                        <p:strVal val="visible"/>
                                      </p:to>
                                    </p:set>
                                    <p:animEffect transition="in" filter="fade">
                                      <p:cBhvr>
                                        <p:cTn id="40" dur="500"/>
                                        <p:tgtEl>
                                          <p:spTgt spid="8909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89093"/>
                                        </p:tgtEl>
                                        <p:attrNameLst>
                                          <p:attrName>style.visibility</p:attrName>
                                        </p:attrNameLst>
                                      </p:cBhvr>
                                      <p:to>
                                        <p:strVal val="visible"/>
                                      </p:to>
                                    </p:set>
                                    <p:animEffect transition="in" filter="fade">
                                      <p:cBhvr>
                                        <p:cTn id="46" dur="500"/>
                                        <p:tgtEl>
                                          <p:spTgt spid="8909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0" nodeType="clickEffect">
                                  <p:stCondLst>
                                    <p:cond delay="0"/>
                                  </p:stCondLst>
                                  <p:childTnLst>
                                    <p:animEffect transition="out" filter="fade">
                                      <p:cBhvr>
                                        <p:cTn id="50" dur="500"/>
                                        <p:tgtEl>
                                          <p:spTgt spid="19"/>
                                        </p:tgtEl>
                                      </p:cBhvr>
                                    </p:animEffect>
                                    <p:set>
                                      <p:cBhvr>
                                        <p:cTn id="51" dur="1" fill="hold">
                                          <p:stCondLst>
                                            <p:cond delay="499"/>
                                          </p:stCondLst>
                                        </p:cTn>
                                        <p:tgtEl>
                                          <p:spTgt spid="19"/>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3" dur="500"/>
                                        <p:tgtEl>
                                          <p:spTgt spid="20"/>
                                        </p:tgtEl>
                                      </p:cBhvr>
                                    </p:animEffect>
                                    <p:set>
                                      <p:cBhvr>
                                        <p:cTn id="54" dur="1" fill="hold">
                                          <p:stCondLst>
                                            <p:cond delay="499"/>
                                          </p:stCondLst>
                                        </p:cTn>
                                        <p:tgtEl>
                                          <p:spTgt spid="20"/>
                                        </p:tgtEl>
                                        <p:attrNameLst>
                                          <p:attrName>style.visibility</p:attrName>
                                        </p:attrNameLst>
                                      </p:cBhvr>
                                      <p:to>
                                        <p:strVal val="hidden"/>
                                      </p:to>
                                    </p:set>
                                  </p:childTnLst>
                                </p:cTn>
                              </p:par>
                              <p:par>
                                <p:cTn id="55" presetID="10" presetClass="entr" presetSubtype="0" fill="hold" nodeType="with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17" grpId="0"/>
      <p:bldP spid="16"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9"/>
          <p:cNvSpPr>
            <a:spLocks noChangeArrowheads="1"/>
          </p:cNvSpPr>
          <p:nvPr/>
        </p:nvSpPr>
        <p:spPr bwMode="auto">
          <a:xfrm>
            <a:off x="685800" y="1927261"/>
            <a:ext cx="9220200" cy="762000"/>
          </a:xfrm>
          <a:prstGeom prst="rect">
            <a:avLst/>
          </a:prstGeom>
          <a:noFill/>
          <a:ln w="9525">
            <a:noFill/>
            <a:miter lim="800000"/>
          </a:ln>
        </p:spPr>
        <p:txBody>
          <a:bodyPr/>
          <a:lstStyle/>
          <a:p>
            <a:pPr marL="342900" indent="-342900">
              <a:spcBef>
                <a:spcPct val="20000"/>
              </a:spcBef>
            </a:pPr>
            <a:r>
              <a:rPr lang="en-US" dirty="0"/>
              <a:t>The gradient points toward the direction of the biggest increase in intensity</a:t>
            </a:r>
            <a:br>
              <a:rPr lang="en-US" dirty="0"/>
            </a:br>
            <a:br>
              <a:rPr lang="en-US" dirty="0"/>
            </a:br>
            <a:br>
              <a:rPr lang="en-US" dirty="0"/>
            </a:br>
            <a:endParaRPr lang="en-US" dirty="0"/>
          </a:p>
        </p:txBody>
      </p:sp>
      <p:grpSp>
        <p:nvGrpSpPr>
          <p:cNvPr id="2" name="Group 2"/>
          <p:cNvGrpSpPr/>
          <p:nvPr/>
        </p:nvGrpSpPr>
        <p:grpSpPr bwMode="auto">
          <a:xfrm>
            <a:off x="5791200" y="2438400"/>
            <a:ext cx="2590800" cy="990600"/>
            <a:chOff x="3840" y="1776"/>
            <a:chExt cx="1632" cy="624"/>
          </a:xfrm>
        </p:grpSpPr>
        <p:grpSp>
          <p:nvGrpSpPr>
            <p:cNvPr id="3" name="Group 3"/>
            <p:cNvGrpSpPr/>
            <p:nvPr/>
          </p:nvGrpSpPr>
          <p:grpSpPr bwMode="auto">
            <a:xfrm>
              <a:off x="3840" y="1776"/>
              <a:ext cx="1632" cy="624"/>
              <a:chOff x="3840" y="1776"/>
              <a:chExt cx="1632" cy="624"/>
            </a:xfrm>
          </p:grpSpPr>
          <p:grpSp>
            <p:nvGrpSpPr>
              <p:cNvPr id="4" name="Group 4"/>
              <p:cNvGrpSpPr/>
              <p:nvPr/>
            </p:nvGrpSpPr>
            <p:grpSpPr bwMode="auto">
              <a:xfrm>
                <a:off x="3840" y="1776"/>
                <a:ext cx="624" cy="624"/>
                <a:chOff x="3840" y="1776"/>
                <a:chExt cx="624" cy="624"/>
              </a:xfrm>
            </p:grpSpPr>
            <p:sp>
              <p:nvSpPr>
                <p:cNvPr id="974853" name="Rectangle 5"/>
                <p:cNvSpPr>
                  <a:spLocks noChangeArrowheads="1"/>
                </p:cNvSpPr>
                <p:nvPr/>
              </p:nvSpPr>
              <p:spPr bwMode="auto">
                <a:xfrm>
                  <a:off x="3840" y="1776"/>
                  <a:ext cx="624" cy="624"/>
                </a:xfrm>
                <a:prstGeom prst="rect">
                  <a:avLst/>
                </a:prstGeom>
                <a:gradFill rotWithShape="0">
                  <a:gsLst>
                    <a:gs pos="0">
                      <a:schemeClr val="tx1"/>
                    </a:gs>
                    <a:gs pos="100000">
                      <a:schemeClr val="tx1">
                        <a:gamma/>
                        <a:tint val="0"/>
                        <a:invGamma/>
                      </a:schemeClr>
                    </a:gs>
                  </a:gsLst>
                  <a:lin ang="18900000" scaled="1"/>
                </a:gradFill>
                <a:ln w="9525">
                  <a:noFill/>
                  <a:miter lim="800000"/>
                </a:ln>
                <a:effectLst/>
              </p:spPr>
              <p:txBody>
                <a:bodyPr wrap="none" anchor="ctr"/>
                <a:lstStyle/>
                <a:p>
                  <a:pPr>
                    <a:defRPr/>
                  </a:pPr>
                  <a:endParaRPr lang="en-US"/>
                </a:p>
              </p:txBody>
            </p:sp>
            <p:sp>
              <p:nvSpPr>
                <p:cNvPr id="9246" name="Line 6"/>
                <p:cNvSpPr>
                  <a:spLocks noChangeShapeType="1"/>
                </p:cNvSpPr>
                <p:nvPr/>
              </p:nvSpPr>
              <p:spPr bwMode="auto">
                <a:xfrm flipV="1">
                  <a:off x="4161" y="1872"/>
                  <a:ext cx="207" cy="207"/>
                </a:xfrm>
                <a:prstGeom prst="line">
                  <a:avLst/>
                </a:prstGeom>
                <a:noFill/>
                <a:ln w="28575">
                  <a:solidFill>
                    <a:srgbClr val="FF0000"/>
                  </a:solidFill>
                  <a:round/>
                  <a:tailEnd type="triangle" w="med" len="med"/>
                </a:ln>
              </p:spPr>
              <p:txBody>
                <a:bodyPr/>
                <a:lstStyle/>
                <a:p>
                  <a:endParaRPr lang="en-US"/>
                </a:p>
              </p:txBody>
            </p:sp>
          </p:grpSp>
          <p:pic>
            <p:nvPicPr>
              <p:cNvPr id="9244" name="Picture 7" descr="Edittex"/>
              <p:cNvPicPr>
                <a:picLocks noChangeAspect="1" noChangeArrowheads="1"/>
              </p:cNvPicPr>
              <p:nvPr>
                <p:custDataLst>
                  <p:tags r:id="rId1"/>
                </p:custDataLst>
              </p:nvPr>
            </p:nvPicPr>
            <p:blipFill>
              <a:blip r:embed="rId2" cstate="print"/>
              <a:srcRect/>
              <a:stretch>
                <a:fillRect/>
              </a:stretch>
            </p:blipFill>
            <p:spPr bwMode="auto">
              <a:xfrm>
                <a:off x="4505" y="1824"/>
                <a:ext cx="967" cy="248"/>
              </a:xfrm>
              <a:prstGeom prst="rect">
                <a:avLst/>
              </a:prstGeom>
              <a:noFill/>
              <a:ln w="9525">
                <a:noFill/>
                <a:miter lim="800000"/>
                <a:headEnd/>
                <a:tailEnd/>
              </a:ln>
            </p:spPr>
          </p:pic>
        </p:grpSp>
        <p:sp>
          <p:nvSpPr>
            <p:cNvPr id="9242" name="Oval 8"/>
            <p:cNvSpPr>
              <a:spLocks noChangeArrowheads="1"/>
            </p:cNvSpPr>
            <p:nvPr/>
          </p:nvSpPr>
          <p:spPr bwMode="auto">
            <a:xfrm>
              <a:off x="4128" y="2064"/>
              <a:ext cx="48" cy="48"/>
            </a:xfrm>
            <a:prstGeom prst="ellipse">
              <a:avLst/>
            </a:prstGeom>
            <a:solidFill>
              <a:srgbClr val="FF0000"/>
            </a:solidFill>
            <a:ln w="9525">
              <a:noFill/>
              <a:round/>
            </a:ln>
          </p:spPr>
          <p:txBody>
            <a:bodyPr wrap="none" anchor="ctr"/>
            <a:lstStyle/>
            <a:p>
              <a:endParaRPr lang="en-US"/>
            </a:p>
          </p:txBody>
        </p:sp>
      </p:grpSp>
      <p:sp>
        <p:nvSpPr>
          <p:cNvPr id="9220" name="Rectangle 9"/>
          <p:cNvSpPr>
            <a:spLocks noGrp="1" noChangeArrowheads="1"/>
          </p:cNvSpPr>
          <p:nvPr>
            <p:ph type="title"/>
          </p:nvPr>
        </p:nvSpPr>
        <p:spPr>
          <a:xfrm>
            <a:off x="457200" y="0"/>
            <a:ext cx="8229600" cy="1143000"/>
          </a:xfrm>
        </p:spPr>
        <p:txBody>
          <a:bodyPr/>
          <a:lstStyle/>
          <a:p>
            <a:r>
              <a:rPr lang="en-US"/>
              <a:t>Image gradient</a:t>
            </a:r>
            <a:endParaRPr lang="en-US"/>
          </a:p>
        </p:txBody>
      </p:sp>
      <p:sp>
        <p:nvSpPr>
          <p:cNvPr id="9221" name="Rectangle 10"/>
          <p:cNvSpPr>
            <a:spLocks noGrp="1" noChangeArrowheads="1"/>
          </p:cNvSpPr>
          <p:nvPr>
            <p:ph type="body" idx="1"/>
          </p:nvPr>
        </p:nvSpPr>
        <p:spPr>
          <a:xfrm>
            <a:off x="685800" y="1219200"/>
            <a:ext cx="8077200" cy="680245"/>
          </a:xfrm>
        </p:spPr>
        <p:txBody>
          <a:bodyPr>
            <a:normAutofit/>
          </a:bodyPr>
          <a:lstStyle/>
          <a:p>
            <a:r>
              <a:rPr lang="en-US" sz="2400" dirty="0"/>
              <a:t>The </a:t>
            </a:r>
            <a:r>
              <a:rPr lang="en-US" sz="2400" i="1" dirty="0"/>
              <a:t>gradient</a:t>
            </a:r>
            <a:r>
              <a:rPr lang="en-US" sz="2400" dirty="0"/>
              <a:t> of an image: </a:t>
            </a:r>
            <a:endParaRPr lang="en-US" sz="2400" dirty="0"/>
          </a:p>
        </p:txBody>
      </p:sp>
      <p:pic>
        <p:nvPicPr>
          <p:cNvPr id="9222" name="Picture 11" descr="Edittex"/>
          <p:cNvPicPr>
            <a:picLocks noChangeAspect="1" noChangeArrowheads="1"/>
          </p:cNvPicPr>
          <p:nvPr>
            <p:custDataLst>
              <p:tags r:id="rId3"/>
            </p:custDataLst>
          </p:nvPr>
        </p:nvPicPr>
        <p:blipFill>
          <a:blip r:embed="rId2" cstate="print"/>
          <a:srcRect/>
          <a:stretch>
            <a:fillRect/>
          </a:stretch>
        </p:blipFill>
        <p:spPr bwMode="auto">
          <a:xfrm>
            <a:off x="4572000" y="1143000"/>
            <a:ext cx="2468563" cy="633413"/>
          </a:xfrm>
          <a:prstGeom prst="rect">
            <a:avLst/>
          </a:prstGeom>
          <a:noFill/>
          <a:ln w="9525">
            <a:noFill/>
            <a:miter lim="800000"/>
            <a:headEnd/>
            <a:tailEnd/>
          </a:ln>
        </p:spPr>
      </p:pic>
      <p:sp>
        <p:nvSpPr>
          <p:cNvPr id="974860" name="Rectangle 12"/>
          <p:cNvSpPr>
            <a:spLocks noChangeArrowheads="1"/>
          </p:cNvSpPr>
          <p:nvPr/>
        </p:nvSpPr>
        <p:spPr bwMode="auto">
          <a:xfrm>
            <a:off x="762000" y="2438400"/>
            <a:ext cx="304800" cy="990600"/>
          </a:xfrm>
          <a:prstGeom prst="rect">
            <a:avLst/>
          </a:prstGeom>
          <a:gradFill rotWithShape="0">
            <a:gsLst>
              <a:gs pos="0">
                <a:schemeClr val="tx1"/>
              </a:gs>
              <a:gs pos="100000">
                <a:schemeClr val="tx1">
                  <a:gamma/>
                  <a:tint val="0"/>
                  <a:invGamma/>
                </a:schemeClr>
              </a:gs>
            </a:gsLst>
            <a:lin ang="0" scaled="1"/>
          </a:gradFill>
          <a:ln w="9525">
            <a:noFill/>
            <a:miter lim="800000"/>
          </a:ln>
          <a:effectLst/>
        </p:spPr>
        <p:txBody>
          <a:bodyPr wrap="none" anchor="ctr"/>
          <a:lstStyle/>
          <a:p>
            <a:pPr>
              <a:defRPr/>
            </a:pPr>
            <a:endParaRPr lang="en-US"/>
          </a:p>
        </p:txBody>
      </p:sp>
      <p:sp>
        <p:nvSpPr>
          <p:cNvPr id="9224" name="Line 13"/>
          <p:cNvSpPr>
            <a:spLocks noChangeShapeType="1"/>
          </p:cNvSpPr>
          <p:nvPr/>
        </p:nvSpPr>
        <p:spPr bwMode="auto">
          <a:xfrm>
            <a:off x="914400" y="2971800"/>
            <a:ext cx="533400" cy="0"/>
          </a:xfrm>
          <a:prstGeom prst="line">
            <a:avLst/>
          </a:prstGeom>
          <a:noFill/>
          <a:ln w="28575">
            <a:solidFill>
              <a:srgbClr val="FF0000"/>
            </a:solidFill>
            <a:round/>
            <a:tailEnd type="triangle" w="med" len="med"/>
          </a:ln>
        </p:spPr>
        <p:txBody>
          <a:bodyPr/>
          <a:lstStyle/>
          <a:p>
            <a:endParaRPr lang="en-US"/>
          </a:p>
        </p:txBody>
      </p:sp>
      <p:sp>
        <p:nvSpPr>
          <p:cNvPr id="9225" name="Oval 14"/>
          <p:cNvSpPr>
            <a:spLocks noChangeArrowheads="1"/>
          </p:cNvSpPr>
          <p:nvPr/>
        </p:nvSpPr>
        <p:spPr bwMode="auto">
          <a:xfrm>
            <a:off x="857250" y="2933700"/>
            <a:ext cx="76200" cy="76200"/>
          </a:xfrm>
          <a:prstGeom prst="ellipse">
            <a:avLst/>
          </a:prstGeom>
          <a:solidFill>
            <a:srgbClr val="FF0000"/>
          </a:solidFill>
          <a:ln w="9525">
            <a:noFill/>
            <a:round/>
          </a:ln>
        </p:spPr>
        <p:txBody>
          <a:bodyPr wrap="none" anchor="ctr"/>
          <a:lstStyle/>
          <a:p>
            <a:endParaRPr lang="en-US"/>
          </a:p>
        </p:txBody>
      </p:sp>
      <p:pic>
        <p:nvPicPr>
          <p:cNvPr id="9226" name="Picture 15" descr="Edittex"/>
          <p:cNvPicPr>
            <a:picLocks noChangeAspect="1" noChangeArrowheads="1"/>
          </p:cNvPicPr>
          <p:nvPr>
            <p:custDataLst>
              <p:tags r:id="rId4"/>
            </p:custDataLst>
          </p:nvPr>
        </p:nvPicPr>
        <p:blipFill>
          <a:blip r:embed="rId5" cstate="print"/>
          <a:srcRect/>
          <a:stretch>
            <a:fillRect/>
          </a:stretch>
        </p:blipFill>
        <p:spPr bwMode="auto">
          <a:xfrm>
            <a:off x="1219200" y="2513013"/>
            <a:ext cx="1408113" cy="382587"/>
          </a:xfrm>
          <a:prstGeom prst="rect">
            <a:avLst/>
          </a:prstGeom>
          <a:noFill/>
          <a:ln w="9525">
            <a:noFill/>
            <a:miter lim="800000"/>
            <a:headEnd/>
            <a:tailEnd/>
          </a:ln>
        </p:spPr>
      </p:pic>
      <p:grpSp>
        <p:nvGrpSpPr>
          <p:cNvPr id="5" name="Group 16"/>
          <p:cNvGrpSpPr/>
          <p:nvPr/>
        </p:nvGrpSpPr>
        <p:grpSpPr bwMode="auto">
          <a:xfrm>
            <a:off x="3497263" y="2438400"/>
            <a:ext cx="1882775" cy="1157288"/>
            <a:chOff x="2395" y="1776"/>
            <a:chExt cx="1186" cy="729"/>
          </a:xfrm>
        </p:grpSpPr>
        <p:pic>
          <p:nvPicPr>
            <p:cNvPr id="9237" name="Picture 17" descr="Edittex"/>
            <p:cNvPicPr>
              <a:picLocks noChangeAspect="1" noChangeArrowheads="1"/>
            </p:cNvPicPr>
            <p:nvPr>
              <p:custDataLst>
                <p:tags r:id="rId6"/>
              </p:custDataLst>
            </p:nvPr>
          </p:nvPicPr>
          <p:blipFill>
            <a:blip r:embed="rId7" cstate="print"/>
            <a:srcRect/>
            <a:stretch>
              <a:fillRect/>
            </a:stretch>
          </p:blipFill>
          <p:spPr bwMode="auto">
            <a:xfrm>
              <a:off x="2688" y="2256"/>
              <a:ext cx="893" cy="249"/>
            </a:xfrm>
            <a:prstGeom prst="rect">
              <a:avLst/>
            </a:prstGeom>
            <a:noFill/>
            <a:ln w="9525">
              <a:noFill/>
              <a:miter lim="800000"/>
              <a:headEnd/>
              <a:tailEnd/>
            </a:ln>
          </p:spPr>
        </p:pic>
        <p:sp>
          <p:nvSpPr>
            <p:cNvPr id="974866" name="Rectangle 18"/>
            <p:cNvSpPr>
              <a:spLocks noChangeArrowheads="1"/>
            </p:cNvSpPr>
            <p:nvPr/>
          </p:nvSpPr>
          <p:spPr bwMode="auto">
            <a:xfrm rot="5400000">
              <a:off x="2638" y="1533"/>
              <a:ext cx="192" cy="677"/>
            </a:xfrm>
            <a:prstGeom prst="rect">
              <a:avLst/>
            </a:prstGeom>
            <a:gradFill rotWithShape="0">
              <a:gsLst>
                <a:gs pos="0">
                  <a:schemeClr val="tx1"/>
                </a:gs>
                <a:gs pos="100000">
                  <a:schemeClr val="tx1">
                    <a:gamma/>
                    <a:tint val="0"/>
                    <a:invGamma/>
                  </a:schemeClr>
                </a:gs>
              </a:gsLst>
              <a:lin ang="5400000" scaled="1"/>
            </a:gradFill>
            <a:ln w="9525">
              <a:noFill/>
              <a:miter lim="800000"/>
            </a:ln>
            <a:effectLst/>
          </p:spPr>
          <p:txBody>
            <a:bodyPr wrap="none" anchor="ctr"/>
            <a:lstStyle/>
            <a:p>
              <a:pPr>
                <a:defRPr/>
              </a:pPr>
              <a:endParaRPr lang="en-US"/>
            </a:p>
          </p:txBody>
        </p:sp>
        <p:sp>
          <p:nvSpPr>
            <p:cNvPr id="9239" name="Line 19"/>
            <p:cNvSpPr>
              <a:spLocks noChangeShapeType="1"/>
            </p:cNvSpPr>
            <p:nvPr/>
          </p:nvSpPr>
          <p:spPr bwMode="auto">
            <a:xfrm rot="5400000">
              <a:off x="2568" y="2040"/>
              <a:ext cx="336" cy="0"/>
            </a:xfrm>
            <a:prstGeom prst="line">
              <a:avLst/>
            </a:prstGeom>
            <a:noFill/>
            <a:ln w="28575">
              <a:solidFill>
                <a:srgbClr val="FF0000"/>
              </a:solidFill>
              <a:round/>
              <a:tailEnd type="triangle" w="med" len="med"/>
            </a:ln>
          </p:spPr>
          <p:txBody>
            <a:bodyPr/>
            <a:lstStyle/>
            <a:p>
              <a:endParaRPr lang="en-US"/>
            </a:p>
          </p:txBody>
        </p:sp>
        <p:sp>
          <p:nvSpPr>
            <p:cNvPr id="9240" name="Oval 20"/>
            <p:cNvSpPr>
              <a:spLocks noChangeArrowheads="1"/>
            </p:cNvSpPr>
            <p:nvPr/>
          </p:nvSpPr>
          <p:spPr bwMode="auto">
            <a:xfrm>
              <a:off x="2712" y="1848"/>
              <a:ext cx="48" cy="48"/>
            </a:xfrm>
            <a:prstGeom prst="ellipse">
              <a:avLst/>
            </a:prstGeom>
            <a:solidFill>
              <a:srgbClr val="FF0000"/>
            </a:solidFill>
            <a:ln w="9525">
              <a:noFill/>
              <a:round/>
            </a:ln>
          </p:spPr>
          <p:txBody>
            <a:bodyPr wrap="none" anchor="ctr"/>
            <a:lstStyle/>
            <a:p>
              <a:endParaRPr lang="en-US"/>
            </a:p>
          </p:txBody>
        </p:sp>
      </p:grpSp>
      <p:grpSp>
        <p:nvGrpSpPr>
          <p:cNvPr id="6" name="Group 21"/>
          <p:cNvGrpSpPr/>
          <p:nvPr/>
        </p:nvGrpSpPr>
        <p:grpSpPr bwMode="auto">
          <a:xfrm>
            <a:off x="6276975" y="2449513"/>
            <a:ext cx="485775" cy="509587"/>
            <a:chOff x="4152" y="1776"/>
            <a:chExt cx="306" cy="321"/>
          </a:xfrm>
        </p:grpSpPr>
        <p:sp>
          <p:nvSpPr>
            <p:cNvPr id="9233" name="Line 22"/>
            <p:cNvSpPr>
              <a:spLocks noChangeShapeType="1"/>
            </p:cNvSpPr>
            <p:nvPr/>
          </p:nvSpPr>
          <p:spPr bwMode="auto">
            <a:xfrm>
              <a:off x="4155" y="2088"/>
              <a:ext cx="303" cy="0"/>
            </a:xfrm>
            <a:prstGeom prst="line">
              <a:avLst/>
            </a:prstGeom>
            <a:noFill/>
            <a:ln w="9525">
              <a:solidFill>
                <a:schemeClr val="tx1"/>
              </a:solidFill>
              <a:round/>
              <a:tailEnd type="triangle" w="med" len="med"/>
            </a:ln>
          </p:spPr>
          <p:txBody>
            <a:bodyPr/>
            <a:lstStyle/>
            <a:p>
              <a:endParaRPr lang="en-US"/>
            </a:p>
          </p:txBody>
        </p:sp>
        <p:sp>
          <p:nvSpPr>
            <p:cNvPr id="9234" name="Line 23"/>
            <p:cNvSpPr>
              <a:spLocks noChangeShapeType="1"/>
            </p:cNvSpPr>
            <p:nvPr/>
          </p:nvSpPr>
          <p:spPr bwMode="auto">
            <a:xfrm flipV="1">
              <a:off x="4152" y="1776"/>
              <a:ext cx="0" cy="321"/>
            </a:xfrm>
            <a:prstGeom prst="line">
              <a:avLst/>
            </a:prstGeom>
            <a:noFill/>
            <a:ln w="9525">
              <a:solidFill>
                <a:schemeClr val="tx1"/>
              </a:solidFill>
              <a:round/>
              <a:tailEnd type="triangle" w="med" len="med"/>
            </a:ln>
          </p:spPr>
          <p:txBody>
            <a:bodyPr/>
            <a:lstStyle/>
            <a:p>
              <a:endParaRPr lang="en-US"/>
            </a:p>
          </p:txBody>
        </p:sp>
        <p:sp>
          <p:nvSpPr>
            <p:cNvPr id="9235" name="Freeform 24"/>
            <p:cNvSpPr/>
            <p:nvPr/>
          </p:nvSpPr>
          <p:spPr bwMode="auto">
            <a:xfrm flipV="1">
              <a:off x="4216" y="2032"/>
              <a:ext cx="27" cy="51"/>
            </a:xfrm>
            <a:custGeom>
              <a:avLst/>
              <a:gdLst>
                <a:gd name="T0" fmla="*/ 18 w 27"/>
                <a:gd name="T1" fmla="*/ 0 h 51"/>
                <a:gd name="T2" fmla="*/ 24 w 27"/>
                <a:gd name="T3" fmla="*/ 33 h 51"/>
                <a:gd name="T4" fmla="*/ 0 w 27"/>
                <a:gd name="T5" fmla="*/ 51 h 51"/>
                <a:gd name="T6" fmla="*/ 0 60000 65536"/>
                <a:gd name="T7" fmla="*/ 0 60000 65536"/>
                <a:gd name="T8" fmla="*/ 0 60000 65536"/>
                <a:gd name="T9" fmla="*/ 0 w 27"/>
                <a:gd name="T10" fmla="*/ 0 h 51"/>
                <a:gd name="T11" fmla="*/ 27 w 27"/>
                <a:gd name="T12" fmla="*/ 51 h 51"/>
              </a:gdLst>
              <a:ahLst/>
              <a:cxnLst>
                <a:cxn ang="T6">
                  <a:pos x="T0" y="T1"/>
                </a:cxn>
                <a:cxn ang="T7">
                  <a:pos x="T2" y="T3"/>
                </a:cxn>
                <a:cxn ang="T8">
                  <a:pos x="T4" y="T5"/>
                </a:cxn>
              </a:cxnLst>
              <a:rect l="T9" t="T10" r="T11" b="T12"/>
              <a:pathLst>
                <a:path w="27" h="51">
                  <a:moveTo>
                    <a:pt x="18" y="0"/>
                  </a:moveTo>
                  <a:cubicBezTo>
                    <a:pt x="22" y="12"/>
                    <a:pt x="27" y="25"/>
                    <a:pt x="24" y="33"/>
                  </a:cubicBezTo>
                  <a:cubicBezTo>
                    <a:pt x="21" y="41"/>
                    <a:pt x="10" y="46"/>
                    <a:pt x="0" y="51"/>
                  </a:cubicBezTo>
                </a:path>
              </a:pathLst>
            </a:custGeom>
            <a:noFill/>
            <a:ln w="12700">
              <a:solidFill>
                <a:schemeClr val="tx1"/>
              </a:solidFill>
              <a:round/>
            </a:ln>
          </p:spPr>
          <p:txBody>
            <a:bodyPr/>
            <a:lstStyle/>
            <a:p>
              <a:endParaRPr lang="en-US"/>
            </a:p>
          </p:txBody>
        </p:sp>
        <p:pic>
          <p:nvPicPr>
            <p:cNvPr id="9236" name="Picture 25" descr="Edittex"/>
            <p:cNvPicPr>
              <a:picLocks noChangeAspect="1" noChangeArrowheads="1"/>
            </p:cNvPicPr>
            <p:nvPr>
              <p:custDataLst>
                <p:tags r:id="rId8"/>
              </p:custDataLst>
            </p:nvPr>
          </p:nvPicPr>
          <p:blipFill>
            <a:blip r:embed="rId9" cstate="print">
              <a:clrChange>
                <a:clrFrom>
                  <a:srgbClr val="FFFFFF"/>
                </a:clrFrom>
                <a:clrTo>
                  <a:srgbClr val="FFFFFF">
                    <a:alpha val="0"/>
                  </a:srgbClr>
                </a:clrTo>
              </a:clrChange>
            </a:blip>
            <a:srcRect/>
            <a:stretch>
              <a:fillRect/>
            </a:stretch>
          </p:blipFill>
          <p:spPr bwMode="auto">
            <a:xfrm>
              <a:off x="4299" y="1968"/>
              <a:ext cx="69" cy="123"/>
            </a:xfrm>
            <a:prstGeom prst="rect">
              <a:avLst/>
            </a:prstGeom>
            <a:noFill/>
            <a:ln w="9525">
              <a:noFill/>
              <a:miter lim="800000"/>
              <a:headEnd/>
              <a:tailEnd/>
            </a:ln>
          </p:spPr>
        </p:pic>
      </p:grpSp>
      <p:sp>
        <p:nvSpPr>
          <p:cNvPr id="9229" name="Rectangle 26"/>
          <p:cNvSpPr>
            <a:spLocks noChangeArrowheads="1"/>
          </p:cNvSpPr>
          <p:nvPr/>
        </p:nvSpPr>
        <p:spPr bwMode="auto">
          <a:xfrm>
            <a:off x="533400" y="3962400"/>
            <a:ext cx="8077200" cy="2895600"/>
          </a:xfrm>
          <a:prstGeom prst="rect">
            <a:avLst/>
          </a:prstGeom>
          <a:noFill/>
          <a:ln w="9525">
            <a:noFill/>
            <a:miter lim="800000"/>
          </a:ln>
        </p:spPr>
        <p:txBody>
          <a:bodyPr/>
          <a:lstStyle/>
          <a:p>
            <a:pPr marL="342900" indent="-342900">
              <a:spcBef>
                <a:spcPct val="20000"/>
              </a:spcBef>
            </a:pPr>
            <a:r>
              <a:rPr lang="en-US" dirty="0"/>
              <a:t>The </a:t>
            </a:r>
            <a:r>
              <a:rPr lang="en-US" i="1" dirty="0"/>
              <a:t>edge strength</a:t>
            </a:r>
            <a:r>
              <a:rPr lang="en-US" dirty="0"/>
              <a:t> is given by the gradient magnitude:</a:t>
            </a:r>
            <a:endParaRPr lang="en-US" dirty="0"/>
          </a:p>
          <a:p>
            <a:pPr marL="342900" indent="-342900">
              <a:spcBef>
                <a:spcPct val="20000"/>
              </a:spcBef>
            </a:pPr>
            <a:endParaRPr lang="en-US" dirty="0"/>
          </a:p>
          <a:p>
            <a:pPr marL="342900" indent="-342900">
              <a:spcBef>
                <a:spcPct val="20000"/>
              </a:spcBef>
            </a:pPr>
            <a:endParaRPr lang="en-US" dirty="0"/>
          </a:p>
          <a:p>
            <a:pPr marL="342900" indent="-342900">
              <a:spcBef>
                <a:spcPct val="20000"/>
              </a:spcBef>
            </a:pPr>
            <a:endParaRPr lang="en-US" dirty="0"/>
          </a:p>
          <a:p>
            <a:pPr marL="342900" indent="-342900">
              <a:spcBef>
                <a:spcPct val="20000"/>
              </a:spcBef>
            </a:pPr>
            <a:r>
              <a:rPr lang="en-US" dirty="0"/>
              <a:t>The gradient direction is given by:</a:t>
            </a:r>
            <a:endParaRPr lang="en-US" dirty="0"/>
          </a:p>
          <a:p>
            <a:pPr marL="742950" lvl="1" indent="-285750">
              <a:spcBef>
                <a:spcPct val="20000"/>
              </a:spcBef>
              <a:buFontTx/>
              <a:buChar char="•"/>
            </a:pPr>
            <a:endParaRPr lang="en-US" sz="1800" dirty="0"/>
          </a:p>
          <a:p>
            <a:pPr lvl="1">
              <a:spcBef>
                <a:spcPct val="20000"/>
              </a:spcBef>
            </a:pPr>
            <a:br>
              <a:rPr lang="en-US" sz="1800" dirty="0"/>
            </a:br>
            <a:endParaRPr lang="en-US" sz="1800" dirty="0"/>
          </a:p>
        </p:txBody>
      </p:sp>
      <p:pic>
        <p:nvPicPr>
          <p:cNvPr id="9230" name="Picture 27" descr="Edittex"/>
          <p:cNvPicPr>
            <a:picLocks noChangeAspect="1" noChangeArrowheads="1"/>
          </p:cNvPicPr>
          <p:nvPr>
            <p:custDataLst>
              <p:tags r:id="rId10"/>
            </p:custDataLst>
          </p:nvPr>
        </p:nvPicPr>
        <p:blipFill>
          <a:blip r:embed="rId11" cstate="print"/>
          <a:srcRect/>
          <a:stretch>
            <a:fillRect/>
          </a:stretch>
        </p:blipFill>
        <p:spPr bwMode="auto">
          <a:xfrm>
            <a:off x="3200400" y="5671456"/>
            <a:ext cx="2797175" cy="522288"/>
          </a:xfrm>
          <a:prstGeom prst="rect">
            <a:avLst/>
          </a:prstGeom>
          <a:noFill/>
          <a:ln w="9525">
            <a:noFill/>
            <a:miter lim="800000"/>
            <a:headEnd/>
            <a:tailEnd/>
          </a:ln>
        </p:spPr>
      </p:pic>
      <p:pic>
        <p:nvPicPr>
          <p:cNvPr id="9231" name="Picture 28" descr="Edittex"/>
          <p:cNvPicPr>
            <a:picLocks noChangeAspect="1" noChangeArrowheads="1"/>
          </p:cNvPicPr>
          <p:nvPr>
            <p:custDataLst>
              <p:tags r:id="rId12"/>
            </p:custDataLst>
          </p:nvPr>
        </p:nvPicPr>
        <p:blipFill>
          <a:blip r:embed="rId13" cstate="print"/>
          <a:srcRect/>
          <a:stretch>
            <a:fillRect/>
          </a:stretch>
        </p:blipFill>
        <p:spPr bwMode="auto">
          <a:xfrm>
            <a:off x="2666996" y="4354284"/>
            <a:ext cx="3708400" cy="668338"/>
          </a:xfrm>
          <a:prstGeom prst="rect">
            <a:avLst/>
          </a:prstGeom>
          <a:noFill/>
          <a:ln w="9525">
            <a:noFill/>
            <a:miter lim="800000"/>
            <a:headEnd/>
            <a:tailEnd/>
          </a:ln>
        </p:spPr>
      </p:pic>
      <p:sp>
        <p:nvSpPr>
          <p:cNvPr id="9232" name="Text Box 31"/>
          <p:cNvSpPr txBox="1">
            <a:spLocks noChangeArrowheads="1"/>
          </p:cNvSpPr>
          <p:nvPr/>
        </p:nvSpPr>
        <p:spPr bwMode="auto">
          <a:xfrm>
            <a:off x="7685324" y="6477000"/>
            <a:ext cx="1382486" cy="274638"/>
          </a:xfrm>
          <a:prstGeom prst="rect">
            <a:avLst/>
          </a:prstGeom>
          <a:solidFill>
            <a:schemeClr val="bg1"/>
          </a:solidFill>
          <a:ln w="9525">
            <a:noFill/>
            <a:miter lim="800000"/>
          </a:ln>
        </p:spPr>
        <p:txBody>
          <a:bodyPr wrap="square">
            <a:spAutoFit/>
          </a:bodyPr>
          <a:lstStyle/>
          <a:p>
            <a:r>
              <a:rPr lang="en-US" sz="1200" dirty="0"/>
              <a:t>Source: Steve Seitz</a:t>
            </a:r>
            <a:endParaRPr lang="en-US" sz="1200" dirty="0"/>
          </a:p>
        </p:txBody>
      </p:sp>
      <p:sp>
        <p:nvSpPr>
          <p:cNvPr id="7" name="Slide Number Placeholder 6"/>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9">
                                            <p:txEl>
                                              <p:pRg st="0" end="0"/>
                                            </p:txEl>
                                          </p:spTgt>
                                        </p:tgtEl>
                                        <p:attrNameLst>
                                          <p:attrName>style.visibility</p:attrName>
                                        </p:attrNameLst>
                                      </p:cBhvr>
                                      <p:to>
                                        <p:strVal val="visible"/>
                                      </p:to>
                                    </p:set>
                                    <p:animEffect transition="in" filter="fade">
                                      <p:cBhvr>
                                        <p:cTn id="7" dur="500"/>
                                        <p:tgtEl>
                                          <p:spTgt spid="922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31"/>
                                        </p:tgtEl>
                                        <p:attrNameLst>
                                          <p:attrName>style.visibility</p:attrName>
                                        </p:attrNameLst>
                                      </p:cBhvr>
                                      <p:to>
                                        <p:strVal val="visible"/>
                                      </p:to>
                                    </p:set>
                                    <p:animEffect transition="in" filter="fade">
                                      <p:cBhvr>
                                        <p:cTn id="10" dur="500"/>
                                        <p:tgtEl>
                                          <p:spTgt spid="92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229">
                                            <p:txEl>
                                              <p:pRg st="4" end="4"/>
                                            </p:txEl>
                                          </p:spTgt>
                                        </p:tgtEl>
                                        <p:attrNameLst>
                                          <p:attrName>style.visibility</p:attrName>
                                        </p:attrNameLst>
                                      </p:cBhvr>
                                      <p:to>
                                        <p:strVal val="visible"/>
                                      </p:to>
                                    </p:set>
                                    <p:animEffect transition="in" filter="fade">
                                      <p:cBhvr>
                                        <p:cTn id="15" dur="500"/>
                                        <p:tgtEl>
                                          <p:spTgt spid="9229">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230"/>
                                        </p:tgtEl>
                                        <p:attrNameLst>
                                          <p:attrName>style.visibility</p:attrName>
                                        </p:attrNameLst>
                                      </p:cBhvr>
                                      <p:to>
                                        <p:strVal val="visible"/>
                                      </p:to>
                                    </p:set>
                                    <p:animEffect transition="in" filter="fade">
                                      <p:cBhvr>
                                        <p:cTn id="18" dur="500"/>
                                        <p:tgtEl>
                                          <p:spTgt spid="9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gradient</a:t>
            </a:r>
            <a:endParaRPr lang="en-US" dirty="0"/>
          </a:p>
        </p:txBody>
      </p:sp>
      <p:sp>
        <p:nvSpPr>
          <p:cNvPr id="5" name="Text Box 31"/>
          <p:cNvSpPr txBox="1">
            <a:spLocks noChangeArrowheads="1"/>
          </p:cNvSpPr>
          <p:nvPr/>
        </p:nvSpPr>
        <p:spPr bwMode="auto">
          <a:xfrm>
            <a:off x="7685324" y="6477000"/>
            <a:ext cx="1382486" cy="274638"/>
          </a:xfrm>
          <a:prstGeom prst="rect">
            <a:avLst/>
          </a:prstGeom>
          <a:solidFill>
            <a:schemeClr val="bg1"/>
          </a:solidFill>
          <a:ln w="9525">
            <a:noFill/>
            <a:miter lim="800000"/>
          </a:ln>
        </p:spPr>
        <p:txBody>
          <a:bodyPr wrap="square">
            <a:spAutoFit/>
          </a:bodyPr>
          <a:lstStyle/>
          <a:p>
            <a:r>
              <a:rPr lang="en-US" sz="1200" dirty="0"/>
              <a:t>Source: L. Lazebnik</a:t>
            </a:r>
            <a:endParaRPr lang="en-US" sz="1200" dirty="0"/>
          </a:p>
        </p:txBody>
      </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pic>
        <p:nvPicPr>
          <p:cNvPr id="7" name="Picture 6"/>
          <p:cNvPicPr>
            <a:picLocks noChangeAspect="1"/>
          </p:cNvPicPr>
          <p:nvPr/>
        </p:nvPicPr>
        <p:blipFill>
          <a:blip r:embed="rId1"/>
          <a:stretch>
            <a:fillRect/>
          </a:stretch>
        </p:blipFill>
        <p:spPr>
          <a:xfrm>
            <a:off x="571500" y="2667000"/>
            <a:ext cx="8001000" cy="287633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p:txBody>
          <a:bodyPr/>
          <a:lstStyle/>
          <a:p>
            <a:r>
              <a:rPr lang="en-US"/>
              <a:t>Effects of noise</a:t>
            </a:r>
            <a:endParaRPr lang="en-US"/>
          </a:p>
        </p:txBody>
      </p:sp>
      <p:graphicFrame>
        <p:nvGraphicFramePr>
          <p:cNvPr id="3074" name="Object 4"/>
          <p:cNvGraphicFramePr>
            <a:graphicFrameLocks noChangeAspect="1"/>
          </p:cNvGraphicFramePr>
          <p:nvPr/>
        </p:nvGraphicFramePr>
        <p:xfrm>
          <a:off x="3897313" y="1917700"/>
          <a:ext cx="5018087" cy="1892300"/>
        </p:xfrm>
        <a:graphic>
          <a:graphicData uri="http://schemas.openxmlformats.org/presentationml/2006/ole">
            <mc:AlternateContent xmlns:mc="http://schemas.openxmlformats.org/markup-compatibility/2006">
              <mc:Choice xmlns:v="urn:schemas-microsoft-com:vml" Requires="v">
                <p:oleObj spid="_x0000_s0" name="Photo Editor Photo" r:id="rId1" imgW="5886450" imgH="2219325" progId="">
                  <p:embed/>
                </p:oleObj>
              </mc:Choice>
              <mc:Fallback>
                <p:oleObj name="Photo Editor Photo" r:id="rId1" imgW="5886450" imgH="2219325" progId="">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313" y="1917700"/>
                        <a:ext cx="5018087" cy="189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78" name="Picture 5" descr="txp_fig"/>
          <p:cNvPicPr>
            <a:picLocks noChangeAspect="1" noChangeArrowheads="1"/>
          </p:cNvPicPr>
          <p:nvPr>
            <p:custDataLst>
              <p:tags r:id="rId3"/>
            </p:custDataLst>
          </p:nvPr>
        </p:nvPicPr>
        <p:blipFill>
          <a:blip r:embed="rId4" cstate="print"/>
          <a:srcRect/>
          <a:stretch>
            <a:fillRect/>
          </a:stretch>
        </p:blipFill>
        <p:spPr bwMode="auto">
          <a:xfrm>
            <a:off x="3082925" y="2673350"/>
            <a:ext cx="650875" cy="317500"/>
          </a:xfrm>
          <a:prstGeom prst="rect">
            <a:avLst/>
          </a:prstGeom>
          <a:noFill/>
          <a:ln w="9525">
            <a:noFill/>
            <a:miter lim="800000"/>
            <a:headEnd/>
            <a:tailEnd/>
          </a:ln>
        </p:spPr>
      </p:pic>
      <p:graphicFrame>
        <p:nvGraphicFramePr>
          <p:cNvPr id="3075" name="Object 7"/>
          <p:cNvGraphicFramePr>
            <a:graphicFrameLocks noChangeAspect="1"/>
          </p:cNvGraphicFramePr>
          <p:nvPr/>
        </p:nvGraphicFramePr>
        <p:xfrm>
          <a:off x="3886200" y="4216400"/>
          <a:ext cx="5037138" cy="1727200"/>
        </p:xfrm>
        <a:graphic>
          <a:graphicData uri="http://schemas.openxmlformats.org/presentationml/2006/ole">
            <mc:AlternateContent xmlns:mc="http://schemas.openxmlformats.org/markup-compatibility/2006">
              <mc:Choice xmlns:v="urn:schemas-microsoft-com:vml" Requires="v">
                <p:oleObj spid="_x0000_s0" name="Photo Editor Photo" r:id="rId5" imgW="5915025" imgH="2028825" progId="">
                  <p:embed/>
                </p:oleObj>
              </mc:Choice>
              <mc:Fallback>
                <p:oleObj name="Photo Editor Photo" r:id="rId5" imgW="5915025" imgH="2028825" progId="">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4216400"/>
                        <a:ext cx="5037138"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081" name="Picture 8" descr="txp_fig"/>
          <p:cNvPicPr>
            <a:picLocks noChangeAspect="1" noChangeArrowheads="1"/>
          </p:cNvPicPr>
          <p:nvPr>
            <p:custDataLst>
              <p:tags r:id="rId7"/>
            </p:custDataLst>
          </p:nvPr>
        </p:nvPicPr>
        <p:blipFill>
          <a:blip r:embed="rId8" cstate="print"/>
          <a:srcRect/>
          <a:stretch>
            <a:fillRect/>
          </a:stretch>
        </p:blipFill>
        <p:spPr bwMode="auto">
          <a:xfrm>
            <a:off x="2743200" y="4737100"/>
            <a:ext cx="987425" cy="444500"/>
          </a:xfrm>
          <a:prstGeom prst="rect">
            <a:avLst/>
          </a:prstGeom>
          <a:noFill/>
          <a:ln w="9525">
            <a:noFill/>
            <a:miter lim="800000"/>
            <a:headEnd/>
            <a:tailEnd/>
          </a:ln>
        </p:spPr>
      </p:pic>
      <p:sp>
        <p:nvSpPr>
          <p:cNvPr id="3082" name="Rectangle 9"/>
          <p:cNvSpPr>
            <a:spLocks noChangeArrowheads="1"/>
          </p:cNvSpPr>
          <p:nvPr/>
        </p:nvSpPr>
        <p:spPr bwMode="auto">
          <a:xfrm>
            <a:off x="2987675" y="6096000"/>
            <a:ext cx="3184525" cy="685800"/>
          </a:xfrm>
          <a:prstGeom prst="rect">
            <a:avLst/>
          </a:prstGeom>
          <a:noFill/>
          <a:ln w="9525">
            <a:noFill/>
            <a:miter lim="800000"/>
          </a:ln>
        </p:spPr>
        <p:txBody>
          <a:bodyPr/>
          <a:lstStyle/>
          <a:p>
            <a:pPr marL="342900" indent="-342900">
              <a:spcBef>
                <a:spcPct val="20000"/>
              </a:spcBef>
            </a:pPr>
            <a:r>
              <a:rPr lang="en-US" sz="2800" dirty="0"/>
              <a:t>Where is the edge?</a:t>
            </a:r>
            <a:endParaRPr lang="en-US" sz="2800" i="1" dirty="0"/>
          </a:p>
        </p:txBody>
      </p:sp>
      <p:sp>
        <p:nvSpPr>
          <p:cNvPr id="3080" name="Text Box 10"/>
          <p:cNvSpPr txBox="1">
            <a:spLocks noChangeArrowheads="1"/>
          </p:cNvSpPr>
          <p:nvPr/>
        </p:nvSpPr>
        <p:spPr bwMode="auto">
          <a:xfrm>
            <a:off x="7315200" y="6477000"/>
            <a:ext cx="1457325" cy="304800"/>
          </a:xfrm>
          <a:prstGeom prst="rect">
            <a:avLst/>
          </a:prstGeom>
          <a:noFill/>
          <a:ln w="9525">
            <a:noFill/>
            <a:miter lim="800000"/>
          </a:ln>
        </p:spPr>
        <p:txBody>
          <a:bodyPr wrap="none">
            <a:spAutoFit/>
          </a:bodyPr>
          <a:lstStyle/>
          <a:p>
            <a:pPr algn="ctr"/>
            <a:r>
              <a:rPr lang="en-US" sz="1400"/>
              <a:t>Source: S. Seitz</a:t>
            </a:r>
            <a:endParaRPr lang="en-US" sz="1400"/>
          </a:p>
        </p:txBody>
      </p:sp>
      <p:pic>
        <p:nvPicPr>
          <p:cNvPr id="77830" name="Picture 6"/>
          <p:cNvPicPr>
            <a:picLocks noChangeAspect="1" noChangeArrowheads="1"/>
          </p:cNvPicPr>
          <p:nvPr/>
        </p:nvPicPr>
        <p:blipFill>
          <a:blip r:embed="rId9" cstate="print"/>
          <a:srcRect/>
          <a:stretch>
            <a:fillRect/>
          </a:stretch>
        </p:blipFill>
        <p:spPr bwMode="auto">
          <a:xfrm>
            <a:off x="354212" y="1752600"/>
            <a:ext cx="2221461" cy="22098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p:spPr>
      </p:pic>
      <p:sp>
        <p:nvSpPr>
          <p:cNvPr id="15" name="Line 21"/>
          <p:cNvSpPr>
            <a:spLocks noChangeShapeType="1"/>
          </p:cNvSpPr>
          <p:nvPr/>
        </p:nvSpPr>
        <p:spPr bwMode="auto">
          <a:xfrm>
            <a:off x="348342" y="2819400"/>
            <a:ext cx="2209800" cy="0"/>
          </a:xfrm>
          <a:prstGeom prst="line">
            <a:avLst/>
          </a:prstGeom>
          <a:noFill/>
          <a:ln w="38100">
            <a:solidFill>
              <a:srgbClr val="FF0000">
                <a:alpha val="50000"/>
              </a:srgbClr>
            </a:solidFill>
            <a:round/>
          </a:ln>
        </p:spPr>
        <p:txBody>
          <a:bodyPr/>
          <a:lstStyle/>
          <a:p>
            <a:endParaRPr lang="en-US"/>
          </a:p>
        </p:txBody>
      </p:sp>
      <p:sp>
        <p:nvSpPr>
          <p:cNvPr id="16" name="TextBox 15"/>
          <p:cNvSpPr txBox="1"/>
          <p:nvPr/>
        </p:nvSpPr>
        <p:spPr>
          <a:xfrm>
            <a:off x="566057" y="4038595"/>
            <a:ext cx="1869743" cy="677108"/>
          </a:xfrm>
          <a:prstGeom prst="rect">
            <a:avLst/>
          </a:prstGeom>
          <a:noFill/>
        </p:spPr>
        <p:txBody>
          <a:bodyPr wrap="none" rtlCol="0">
            <a:spAutoFit/>
          </a:bodyPr>
          <a:lstStyle/>
          <a:p>
            <a:pPr algn="ctr"/>
            <a:r>
              <a:rPr lang="en-US" dirty="0"/>
              <a:t>Noisy input image</a:t>
            </a:r>
            <a:endParaRPr lang="en-US" dirty="0"/>
          </a:p>
          <a:p>
            <a:pPr algn="ctr"/>
            <a:endParaRPr lang="en-US" sz="1000" dirty="0"/>
          </a:p>
          <a:p>
            <a:pPr algn="ctr"/>
            <a:endParaRPr lang="en-US" sz="1000" dirty="0"/>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fade">
                                      <p:cBhvr>
                                        <p:cTn id="12" dur="500"/>
                                        <p:tgtEl>
                                          <p:spTgt spid="3078"/>
                                        </p:tgtEl>
                                      </p:cBhvr>
                                    </p:animEffect>
                                  </p:childTnLst>
                                </p:cTn>
                              </p:par>
                              <p:par>
                                <p:cTn id="13" presetID="10" presetClass="entr" presetSubtype="0" fill="hold" nodeType="with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fade">
                                      <p:cBhvr>
                                        <p:cTn id="15" dur="500"/>
                                        <p:tgtEl>
                                          <p:spTgt spid="307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81"/>
                                        </p:tgtEl>
                                        <p:attrNameLst>
                                          <p:attrName>style.visibility</p:attrName>
                                        </p:attrNameLst>
                                      </p:cBhvr>
                                      <p:to>
                                        <p:strVal val="visible"/>
                                      </p:to>
                                    </p:set>
                                    <p:animEffect transition="in" filter="fade">
                                      <p:cBhvr>
                                        <p:cTn id="20" dur="500"/>
                                        <p:tgtEl>
                                          <p:spTgt spid="3081"/>
                                        </p:tgtEl>
                                      </p:cBhvr>
                                    </p:animEffect>
                                  </p:childTnLst>
                                </p:cTn>
                              </p:par>
                              <p:par>
                                <p:cTn id="21" presetID="10" presetClass="entr" presetSubtype="0" fill="hold" nodeType="withEffect">
                                  <p:stCondLst>
                                    <p:cond delay="0"/>
                                  </p:stCondLst>
                                  <p:childTnLst>
                                    <p:set>
                                      <p:cBhvr>
                                        <p:cTn id="22" dur="1" fill="hold">
                                          <p:stCondLst>
                                            <p:cond delay="0"/>
                                          </p:stCondLst>
                                        </p:cTn>
                                        <p:tgtEl>
                                          <p:spTgt spid="3075"/>
                                        </p:tgtEl>
                                        <p:attrNameLst>
                                          <p:attrName>style.visibility</p:attrName>
                                        </p:attrNameLst>
                                      </p:cBhvr>
                                      <p:to>
                                        <p:strVal val="visible"/>
                                      </p:to>
                                    </p:set>
                                    <p:animEffect transition="in" filter="fade">
                                      <p:cBhvr>
                                        <p:cTn id="23" dur="500"/>
                                        <p:tgtEl>
                                          <p:spTgt spid="307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082"/>
                                        </p:tgtEl>
                                        <p:attrNameLst>
                                          <p:attrName>style.visibility</p:attrName>
                                        </p:attrNameLst>
                                      </p:cBhvr>
                                      <p:to>
                                        <p:strVal val="visible"/>
                                      </p:to>
                                    </p:set>
                                    <p:animEffect transition="in" filter="fade">
                                      <p:cBhvr>
                                        <p:cTn id="28" dur="500"/>
                                        <p:tgtEl>
                                          <p:spTgt spid="3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 grpId="0"/>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type="title"/>
          </p:nvPr>
        </p:nvSpPr>
        <p:spPr>
          <a:xfrm>
            <a:off x="457200" y="76200"/>
            <a:ext cx="8229600" cy="1143000"/>
          </a:xfrm>
        </p:spPr>
        <p:txBody>
          <a:bodyPr/>
          <a:lstStyle/>
          <a:p>
            <a:r>
              <a:rPr lang="en-US" dirty="0"/>
              <a:t>Solution: smooth first</a:t>
            </a:r>
            <a:endParaRPr lang="en-US" dirty="0"/>
          </a:p>
        </p:txBody>
      </p:sp>
      <p:pic>
        <p:nvPicPr>
          <p:cNvPr id="4102" name="Picture 9"/>
          <p:cNvPicPr>
            <a:picLocks noChangeAspect="1" noChangeArrowheads="1"/>
          </p:cNvPicPr>
          <p:nvPr/>
        </p:nvPicPr>
        <p:blipFill>
          <a:blip r:embed="rId1" cstate="print"/>
          <a:srcRect/>
          <a:stretch>
            <a:fillRect/>
          </a:stretch>
        </p:blipFill>
        <p:spPr bwMode="auto">
          <a:xfrm>
            <a:off x="1925638" y="990600"/>
            <a:ext cx="5313362" cy="1392238"/>
          </a:xfrm>
          <a:prstGeom prst="rect">
            <a:avLst/>
          </a:prstGeom>
          <a:noFill/>
          <a:ln w="9525">
            <a:noFill/>
            <a:miter lim="800000"/>
            <a:headEnd/>
            <a:tailEnd/>
          </a:ln>
        </p:spPr>
      </p:pic>
      <p:sp>
        <p:nvSpPr>
          <p:cNvPr id="4103" name="Text Box 17"/>
          <p:cNvSpPr txBox="1">
            <a:spLocks noChangeArrowheads="1"/>
          </p:cNvSpPr>
          <p:nvPr/>
        </p:nvSpPr>
        <p:spPr bwMode="auto">
          <a:xfrm>
            <a:off x="1638300" y="1517650"/>
            <a:ext cx="248786" cy="369332"/>
          </a:xfrm>
          <a:prstGeom prst="rect">
            <a:avLst/>
          </a:prstGeom>
          <a:noFill/>
          <a:ln w="9525">
            <a:noFill/>
            <a:miter lim="800000"/>
          </a:ln>
        </p:spPr>
        <p:txBody>
          <a:bodyPr wrap="none">
            <a:spAutoFit/>
          </a:bodyPr>
          <a:lstStyle/>
          <a:p>
            <a:r>
              <a:rPr lang="en-US" i="1" dirty="0">
                <a:latin typeface="Times New Roman" panose="02020503050405090304" pitchFamily="18" charset="0"/>
              </a:rPr>
              <a:t>f</a:t>
            </a:r>
            <a:endParaRPr lang="en-US" i="1" dirty="0">
              <a:latin typeface="Times New Roman" panose="02020503050405090304" pitchFamily="18" charset="0"/>
            </a:endParaRPr>
          </a:p>
        </p:txBody>
      </p:sp>
      <p:grpSp>
        <p:nvGrpSpPr>
          <p:cNvPr id="2" name="Group 27"/>
          <p:cNvGrpSpPr/>
          <p:nvPr/>
        </p:nvGrpSpPr>
        <p:grpSpPr bwMode="auto">
          <a:xfrm>
            <a:off x="1638300" y="2392363"/>
            <a:ext cx="5600700" cy="1120775"/>
            <a:chOff x="1032" y="1507"/>
            <a:chExt cx="3528" cy="706"/>
          </a:xfrm>
        </p:grpSpPr>
        <p:pic>
          <p:nvPicPr>
            <p:cNvPr id="4111" name="Picture 10"/>
            <p:cNvPicPr>
              <a:picLocks noChangeAspect="1" noChangeArrowheads="1"/>
            </p:cNvPicPr>
            <p:nvPr/>
          </p:nvPicPr>
          <p:blipFill>
            <a:blip r:embed="rId2" cstate="print"/>
            <a:srcRect/>
            <a:stretch>
              <a:fillRect/>
            </a:stretch>
          </p:blipFill>
          <p:spPr bwMode="auto">
            <a:xfrm>
              <a:off x="1213" y="1507"/>
              <a:ext cx="3347" cy="706"/>
            </a:xfrm>
            <a:prstGeom prst="rect">
              <a:avLst/>
            </a:prstGeom>
            <a:noFill/>
            <a:ln w="9525">
              <a:noFill/>
              <a:miter lim="800000"/>
              <a:headEnd/>
              <a:tailEnd/>
            </a:ln>
          </p:spPr>
        </p:pic>
        <p:sp>
          <p:nvSpPr>
            <p:cNvPr id="4112" name="Text Box 18"/>
            <p:cNvSpPr txBox="1">
              <a:spLocks noChangeArrowheads="1"/>
            </p:cNvSpPr>
            <p:nvPr/>
          </p:nvSpPr>
          <p:spPr bwMode="auto">
            <a:xfrm>
              <a:off x="1032" y="1684"/>
              <a:ext cx="189" cy="233"/>
            </a:xfrm>
            <a:prstGeom prst="rect">
              <a:avLst/>
            </a:prstGeom>
            <a:noFill/>
            <a:ln w="9525">
              <a:noFill/>
              <a:miter lim="800000"/>
            </a:ln>
          </p:spPr>
          <p:txBody>
            <a:bodyPr wrap="none">
              <a:spAutoFit/>
            </a:bodyPr>
            <a:lstStyle/>
            <a:p>
              <a:r>
                <a:rPr lang="en-US" i="1" dirty="0">
                  <a:latin typeface="Times New Roman" panose="02020503050405090304" pitchFamily="18" charset="0"/>
                </a:rPr>
                <a:t>h</a:t>
              </a:r>
              <a:endParaRPr lang="en-US" i="1" dirty="0">
                <a:latin typeface="Times New Roman" panose="02020503050405090304" pitchFamily="18" charset="0"/>
              </a:endParaRPr>
            </a:p>
          </p:txBody>
        </p:sp>
      </p:grpSp>
      <p:grpSp>
        <p:nvGrpSpPr>
          <p:cNvPr id="3" name="Group 28"/>
          <p:cNvGrpSpPr/>
          <p:nvPr/>
        </p:nvGrpSpPr>
        <p:grpSpPr bwMode="auto">
          <a:xfrm>
            <a:off x="1219200" y="3530600"/>
            <a:ext cx="6019800" cy="1104900"/>
            <a:chOff x="768" y="2224"/>
            <a:chExt cx="3792" cy="696"/>
          </a:xfrm>
        </p:grpSpPr>
        <p:pic>
          <p:nvPicPr>
            <p:cNvPr id="4109" name="Picture 13"/>
            <p:cNvPicPr>
              <a:picLocks noChangeAspect="1" noChangeArrowheads="1"/>
            </p:cNvPicPr>
            <p:nvPr/>
          </p:nvPicPr>
          <p:blipFill>
            <a:blip r:embed="rId3" cstate="print"/>
            <a:srcRect/>
            <a:stretch>
              <a:fillRect/>
            </a:stretch>
          </p:blipFill>
          <p:spPr bwMode="auto">
            <a:xfrm>
              <a:off x="1213" y="2224"/>
              <a:ext cx="3347" cy="696"/>
            </a:xfrm>
            <a:prstGeom prst="rect">
              <a:avLst/>
            </a:prstGeom>
            <a:noFill/>
            <a:ln w="9525">
              <a:noFill/>
              <a:miter lim="800000"/>
              <a:headEnd/>
              <a:tailEnd/>
            </a:ln>
          </p:spPr>
        </p:pic>
        <p:sp>
          <p:nvSpPr>
            <p:cNvPr id="4110" name="Text Box 19"/>
            <p:cNvSpPr txBox="1">
              <a:spLocks noChangeArrowheads="1"/>
            </p:cNvSpPr>
            <p:nvPr/>
          </p:nvSpPr>
          <p:spPr bwMode="auto">
            <a:xfrm>
              <a:off x="768" y="2346"/>
              <a:ext cx="375" cy="233"/>
            </a:xfrm>
            <a:prstGeom prst="rect">
              <a:avLst/>
            </a:prstGeom>
            <a:noFill/>
            <a:ln w="9525">
              <a:noFill/>
              <a:miter lim="800000"/>
            </a:ln>
          </p:spPr>
          <p:txBody>
            <a:bodyPr wrap="none">
              <a:spAutoFit/>
            </a:bodyPr>
            <a:lstStyle/>
            <a:p>
              <a:r>
                <a:rPr lang="en-US" i="1" dirty="0">
                  <a:latin typeface="Times New Roman" panose="02020503050405090304" pitchFamily="18" charset="0"/>
                </a:rPr>
                <a:t>f * h</a:t>
              </a:r>
              <a:endParaRPr lang="en-US" i="1" dirty="0">
                <a:latin typeface="Times New Roman" panose="02020503050405090304" pitchFamily="18" charset="0"/>
              </a:endParaRPr>
            </a:p>
          </p:txBody>
        </p:sp>
      </p:grpSp>
      <p:sp>
        <p:nvSpPr>
          <p:cNvPr id="4107" name="Text Box 26"/>
          <p:cNvSpPr txBox="1">
            <a:spLocks noChangeArrowheads="1"/>
          </p:cNvSpPr>
          <p:nvPr/>
        </p:nvSpPr>
        <p:spPr bwMode="auto">
          <a:xfrm>
            <a:off x="7610475" y="6477000"/>
            <a:ext cx="1457325" cy="304800"/>
          </a:xfrm>
          <a:prstGeom prst="rect">
            <a:avLst/>
          </a:prstGeom>
          <a:noFill/>
          <a:ln w="9525">
            <a:noFill/>
            <a:miter lim="800000"/>
          </a:ln>
        </p:spPr>
        <p:txBody>
          <a:bodyPr wrap="none">
            <a:spAutoFit/>
          </a:bodyPr>
          <a:lstStyle/>
          <a:p>
            <a:pPr algn="ctr"/>
            <a:r>
              <a:rPr lang="en-US" sz="1400"/>
              <a:t>Source: S. </a:t>
            </a:r>
            <a:r>
              <a:rPr lang="en-US" sz="1400" dirty="0"/>
              <a:t>Seitz</a:t>
            </a:r>
            <a:endParaRPr lang="en-US" sz="1400" dirty="0"/>
          </a:p>
        </p:txBody>
      </p:sp>
      <p:grpSp>
        <p:nvGrpSpPr>
          <p:cNvPr id="4" name="Group 23"/>
          <p:cNvGrpSpPr/>
          <p:nvPr/>
        </p:nvGrpSpPr>
        <p:grpSpPr>
          <a:xfrm>
            <a:off x="533400" y="4635500"/>
            <a:ext cx="6705601" cy="1155700"/>
            <a:chOff x="533400" y="4635500"/>
            <a:chExt cx="6705601" cy="1155700"/>
          </a:xfrm>
        </p:grpSpPr>
        <p:pic>
          <p:nvPicPr>
            <p:cNvPr id="4108" name="Picture 16"/>
            <p:cNvPicPr>
              <a:picLocks noChangeAspect="1" noChangeArrowheads="1"/>
            </p:cNvPicPr>
            <p:nvPr/>
          </p:nvPicPr>
          <p:blipFill>
            <a:blip r:embed="rId4" cstate="print"/>
            <a:srcRect/>
            <a:stretch>
              <a:fillRect/>
            </a:stretch>
          </p:blipFill>
          <p:spPr bwMode="auto">
            <a:xfrm>
              <a:off x="1925638" y="4635500"/>
              <a:ext cx="5313363" cy="1155700"/>
            </a:xfrm>
            <a:prstGeom prst="rect">
              <a:avLst/>
            </a:prstGeom>
            <a:noFill/>
            <a:ln w="9525">
              <a:noFill/>
              <a:miter lim="800000"/>
              <a:headEnd/>
              <a:tailEnd/>
            </a:ln>
          </p:spPr>
        </p:pic>
        <p:pic>
          <p:nvPicPr>
            <p:cNvPr id="78853" name="Picture 5"/>
            <p:cNvPicPr>
              <a:picLocks noChangeAspect="1" noChangeArrowheads="1"/>
            </p:cNvPicPr>
            <p:nvPr/>
          </p:nvPicPr>
          <p:blipFill>
            <a:blip r:embed="rId5" cstate="print"/>
            <a:srcRect/>
            <a:stretch>
              <a:fillRect/>
            </a:stretch>
          </p:blipFill>
          <p:spPr bwMode="auto">
            <a:xfrm>
              <a:off x="533400" y="4800600"/>
              <a:ext cx="1295400" cy="659750"/>
            </a:xfrm>
            <a:prstGeom prst="rect">
              <a:avLst/>
            </a:prstGeom>
            <a:noFill/>
            <a:ln w="9525">
              <a:noFill/>
              <a:miter lim="800000"/>
              <a:headEnd/>
              <a:tailEnd/>
            </a:ln>
          </p:spPr>
        </p:pic>
      </p:grpSp>
      <p:grpSp>
        <p:nvGrpSpPr>
          <p:cNvPr id="5" name="Group 24"/>
          <p:cNvGrpSpPr/>
          <p:nvPr/>
        </p:nvGrpSpPr>
        <p:grpSpPr>
          <a:xfrm>
            <a:off x="1273628" y="6019800"/>
            <a:ext cx="7772400" cy="659750"/>
            <a:chOff x="1273628" y="6019800"/>
            <a:chExt cx="7772400" cy="659750"/>
          </a:xfrm>
        </p:grpSpPr>
        <p:sp>
          <p:nvSpPr>
            <p:cNvPr id="4113" name="Rectangle 2"/>
            <p:cNvSpPr>
              <a:spLocks noChangeArrowheads="1"/>
            </p:cNvSpPr>
            <p:nvPr/>
          </p:nvSpPr>
          <p:spPr bwMode="auto">
            <a:xfrm>
              <a:off x="1273628" y="6063342"/>
              <a:ext cx="7772400" cy="457200"/>
            </a:xfrm>
            <a:prstGeom prst="rect">
              <a:avLst/>
            </a:prstGeom>
            <a:noFill/>
            <a:ln w="9525">
              <a:noFill/>
              <a:miter lim="800000"/>
            </a:ln>
          </p:spPr>
          <p:txBody>
            <a:bodyPr/>
            <a:lstStyle/>
            <a:p>
              <a:pPr marL="342900" indent="-342900">
                <a:spcBef>
                  <a:spcPct val="20000"/>
                </a:spcBef>
              </a:pPr>
              <a:r>
                <a:rPr lang="en-US" sz="2800" dirty="0"/>
                <a:t>To find edges, look for peaks in</a:t>
              </a:r>
              <a:endParaRPr lang="en-US" sz="2800" i="1" dirty="0"/>
            </a:p>
          </p:txBody>
        </p:sp>
        <p:pic>
          <p:nvPicPr>
            <p:cNvPr id="23" name="Picture 5"/>
            <p:cNvPicPr>
              <a:picLocks noChangeAspect="1" noChangeArrowheads="1"/>
            </p:cNvPicPr>
            <p:nvPr/>
          </p:nvPicPr>
          <p:blipFill>
            <a:blip r:embed="rId5" cstate="print"/>
            <a:srcRect/>
            <a:stretch>
              <a:fillRect/>
            </a:stretch>
          </p:blipFill>
          <p:spPr bwMode="auto">
            <a:xfrm>
              <a:off x="5867400" y="6019800"/>
              <a:ext cx="1295400" cy="659750"/>
            </a:xfrm>
            <a:prstGeom prst="rect">
              <a:avLst/>
            </a:prstGeom>
            <a:noFill/>
            <a:ln w="9525">
              <a:noFill/>
              <a:miter lim="800000"/>
              <a:headEnd/>
              <a:tailEnd/>
            </a:ln>
          </p:spPr>
        </p:pic>
      </p:grpSp>
      <p:sp>
        <p:nvSpPr>
          <p:cNvPr id="6" name="Slide Number Placeholder 5"/>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4"/>
          <p:cNvSpPr>
            <a:spLocks noGrp="1" noChangeArrowheads="1"/>
          </p:cNvSpPr>
          <p:nvPr>
            <p:ph type="body" idx="1"/>
          </p:nvPr>
        </p:nvSpPr>
        <p:spPr>
          <a:xfrm>
            <a:off x="457200" y="1143000"/>
            <a:ext cx="8229600" cy="4525963"/>
          </a:xfrm>
        </p:spPr>
        <p:txBody>
          <a:bodyPr/>
          <a:lstStyle/>
          <a:p>
            <a:pPr>
              <a:buFontTx/>
              <a:buChar char="•"/>
            </a:pPr>
            <a:r>
              <a:rPr lang="en-US" sz="2400" dirty="0"/>
              <a:t>Differentiation can be implemented by convolution, and convolution is associative:</a:t>
            </a:r>
            <a:endParaRPr lang="en-US" sz="2400" dirty="0"/>
          </a:p>
          <a:p>
            <a:pPr>
              <a:buFontTx/>
              <a:buChar char="•"/>
            </a:pPr>
            <a:r>
              <a:rPr lang="en-US" sz="2400" dirty="0"/>
              <a:t>This saves us one operation:</a:t>
            </a:r>
            <a:endParaRPr lang="en-US" sz="2400" i="1" dirty="0"/>
          </a:p>
        </p:txBody>
      </p:sp>
      <p:sp>
        <p:nvSpPr>
          <p:cNvPr id="5127" name="Rectangle 3"/>
          <p:cNvSpPr>
            <a:spLocks noGrp="1" noChangeArrowheads="1"/>
          </p:cNvSpPr>
          <p:nvPr>
            <p:ph type="title"/>
          </p:nvPr>
        </p:nvSpPr>
        <p:spPr>
          <a:xfrm>
            <a:off x="457200" y="0"/>
            <a:ext cx="8229600" cy="1143000"/>
          </a:xfrm>
        </p:spPr>
        <p:txBody>
          <a:bodyPr/>
          <a:lstStyle/>
          <a:p>
            <a:r>
              <a:rPr lang="en-US" dirty="0"/>
              <a:t>Associative property of convolution</a:t>
            </a:r>
            <a:endParaRPr lang="en-US" dirty="0"/>
          </a:p>
        </p:txBody>
      </p:sp>
      <p:grpSp>
        <p:nvGrpSpPr>
          <p:cNvPr id="2" name="Group 7"/>
          <p:cNvGrpSpPr/>
          <p:nvPr/>
        </p:nvGrpSpPr>
        <p:grpSpPr bwMode="auto">
          <a:xfrm>
            <a:off x="1787174" y="2743200"/>
            <a:ext cx="5680426" cy="3810000"/>
            <a:chOff x="1025" y="1317"/>
            <a:chExt cx="4169" cy="2907"/>
          </a:xfrm>
        </p:grpSpPr>
        <p:graphicFrame>
          <p:nvGraphicFramePr>
            <p:cNvPr id="5123" name="Object 8"/>
            <p:cNvGraphicFramePr>
              <a:graphicFrameLocks noChangeAspect="1"/>
            </p:cNvGraphicFramePr>
            <p:nvPr/>
          </p:nvGraphicFramePr>
          <p:xfrm>
            <a:off x="1595" y="1317"/>
            <a:ext cx="3599" cy="2907"/>
          </p:xfrm>
          <a:graphic>
            <a:graphicData uri="http://schemas.openxmlformats.org/presentationml/2006/ole">
              <mc:AlternateContent xmlns:mc="http://schemas.openxmlformats.org/markup-compatibility/2006">
                <mc:Choice xmlns:v="urn:schemas-microsoft-com:vml" Requires="v">
                  <p:oleObj spid="_x0000_s0" name="Photo Editor Photo" r:id="rId1" imgW="6000750" imgH="4848225" progId="">
                    <p:embed/>
                  </p:oleObj>
                </mc:Choice>
                <mc:Fallback>
                  <p:oleObj name="Photo Editor Photo" r:id="rId1" imgW="6000750" imgH="4848225" progId="">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 y="1317"/>
                          <a:ext cx="3599" cy="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0" name="Text Box 10"/>
            <p:cNvSpPr txBox="1">
              <a:spLocks noChangeArrowheads="1"/>
            </p:cNvSpPr>
            <p:nvPr/>
          </p:nvSpPr>
          <p:spPr bwMode="auto">
            <a:xfrm>
              <a:off x="1025" y="1666"/>
              <a:ext cx="198" cy="352"/>
            </a:xfrm>
            <a:prstGeom prst="rect">
              <a:avLst/>
            </a:prstGeom>
            <a:noFill/>
            <a:ln w="9525">
              <a:noFill/>
              <a:miter lim="800000"/>
            </a:ln>
          </p:spPr>
          <p:txBody>
            <a:bodyPr wrap="none">
              <a:spAutoFit/>
            </a:bodyPr>
            <a:lstStyle/>
            <a:p>
              <a:r>
                <a:rPr lang="en-US" sz="2400" i="1" dirty="0">
                  <a:latin typeface="Times New Roman" panose="02020503050405090304" pitchFamily="18" charset="0"/>
                </a:rPr>
                <a:t>f</a:t>
              </a:r>
              <a:endParaRPr lang="en-US" sz="2400" i="1" dirty="0">
                <a:latin typeface="Times New Roman" panose="02020503050405090304" pitchFamily="18" charset="0"/>
              </a:endParaRPr>
            </a:p>
          </p:txBody>
        </p:sp>
      </p:grpSp>
      <p:sp>
        <p:nvSpPr>
          <p:cNvPr id="5129" name="Text Box 12"/>
          <p:cNvSpPr txBox="1">
            <a:spLocks noChangeArrowheads="1"/>
          </p:cNvSpPr>
          <p:nvPr/>
        </p:nvSpPr>
        <p:spPr bwMode="auto">
          <a:xfrm>
            <a:off x="7610475" y="6477000"/>
            <a:ext cx="1457325" cy="304800"/>
          </a:xfrm>
          <a:prstGeom prst="rect">
            <a:avLst/>
          </a:prstGeom>
          <a:noFill/>
          <a:ln w="9525">
            <a:noFill/>
            <a:miter lim="800000"/>
          </a:ln>
        </p:spPr>
        <p:txBody>
          <a:bodyPr wrap="none">
            <a:spAutoFit/>
          </a:bodyPr>
          <a:lstStyle/>
          <a:p>
            <a:pPr algn="ctr"/>
            <a:r>
              <a:rPr lang="en-US" sz="1400"/>
              <a:t>Source: S. Seitz</a:t>
            </a:r>
            <a:endParaRPr lang="en-US" sz="1400"/>
          </a:p>
        </p:txBody>
      </p:sp>
      <p:pic>
        <p:nvPicPr>
          <p:cNvPr id="79879" name="Picture 7"/>
          <p:cNvPicPr>
            <a:picLocks noChangeAspect="1" noChangeArrowheads="1"/>
          </p:cNvPicPr>
          <p:nvPr/>
        </p:nvPicPr>
        <p:blipFill>
          <a:blip r:embed="rId3" cstate="print"/>
          <a:srcRect/>
          <a:stretch>
            <a:fillRect/>
          </a:stretch>
        </p:blipFill>
        <p:spPr bwMode="auto">
          <a:xfrm>
            <a:off x="4572000" y="1540329"/>
            <a:ext cx="2172613" cy="609600"/>
          </a:xfrm>
          <a:prstGeom prst="rect">
            <a:avLst/>
          </a:prstGeom>
          <a:noFill/>
          <a:ln w="9525">
            <a:noFill/>
            <a:miter lim="800000"/>
            <a:headEnd/>
            <a:tailEnd/>
          </a:ln>
        </p:spPr>
      </p:pic>
      <p:pic>
        <p:nvPicPr>
          <p:cNvPr id="79880" name="Picture 8"/>
          <p:cNvPicPr>
            <a:picLocks noChangeAspect="1" noChangeArrowheads="1"/>
          </p:cNvPicPr>
          <p:nvPr/>
        </p:nvPicPr>
        <p:blipFill>
          <a:blip r:embed="rId4" cstate="print"/>
          <a:srcRect/>
          <a:stretch>
            <a:fillRect/>
          </a:stretch>
        </p:blipFill>
        <p:spPr bwMode="auto">
          <a:xfrm>
            <a:off x="1600200" y="4267200"/>
            <a:ext cx="629055" cy="762000"/>
          </a:xfrm>
          <a:prstGeom prst="rect">
            <a:avLst/>
          </a:prstGeom>
          <a:noFill/>
          <a:ln w="9525">
            <a:noFill/>
            <a:miter lim="800000"/>
            <a:headEnd/>
            <a:tailEnd/>
          </a:ln>
        </p:spPr>
      </p:pic>
      <p:pic>
        <p:nvPicPr>
          <p:cNvPr id="79881" name="Picture 9"/>
          <p:cNvPicPr>
            <a:picLocks noChangeAspect="1" noChangeArrowheads="1"/>
          </p:cNvPicPr>
          <p:nvPr/>
        </p:nvPicPr>
        <p:blipFill>
          <a:blip r:embed="rId5" cstate="print"/>
          <a:srcRect/>
          <a:stretch>
            <a:fillRect/>
          </a:stretch>
        </p:blipFill>
        <p:spPr bwMode="auto">
          <a:xfrm>
            <a:off x="1143000" y="5410200"/>
            <a:ext cx="1219200" cy="775556"/>
          </a:xfrm>
          <a:prstGeom prst="rect">
            <a:avLst/>
          </a:prstGeom>
          <a:noFill/>
          <a:ln w="9525">
            <a:noFill/>
            <a:miter lim="800000"/>
            <a:headEnd/>
            <a:tailEnd/>
          </a:ln>
        </p:spPr>
      </p:pic>
      <p:sp>
        <p:nvSpPr>
          <p:cNvPr id="12" name="Rectangle 11"/>
          <p:cNvSpPr/>
          <p:nvPr/>
        </p:nvSpPr>
        <p:spPr>
          <a:xfrm>
            <a:off x="990600" y="4114800"/>
            <a:ext cx="7239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49088" y="5301342"/>
            <a:ext cx="7239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6">
                                            <p:txEl>
                                              <p:pRg st="1" end="1"/>
                                            </p:txEl>
                                          </p:spTgt>
                                        </p:tgtEl>
                                        <p:attrNameLst>
                                          <p:attrName>style.visibility</p:attrName>
                                        </p:attrNameLst>
                                      </p:cBhvr>
                                      <p:to>
                                        <p:strVal val="visible"/>
                                      </p:to>
                                    </p:set>
                                    <p:animEffect transition="in" filter="fade">
                                      <p:cBhvr>
                                        <p:cTn id="7" dur="500"/>
                                        <p:tgtEl>
                                          <p:spTgt spid="512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13"/>
                                        </p:tgtEl>
                                      </p:cBhvr>
                                    </p:animEffect>
                                    <p:set>
                                      <p:cBhvr>
                                        <p:cTn id="20"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1D Gaussian and its derivatives</a:t>
            </a:r>
            <a:endParaRPr lang="en-US" dirty="0"/>
          </a:p>
        </p:txBody>
      </p:sp>
      <p:pic>
        <p:nvPicPr>
          <p:cNvPr id="3" name="Picture 2" descr="Screen Shot 2015-02-08 at 10.22.14 PM.png"/>
          <p:cNvPicPr>
            <a:picLocks noChangeAspect="1"/>
          </p:cNvPicPr>
          <p:nvPr/>
        </p:nvPicPr>
        <p:blipFill rotWithShape="1">
          <a:blip r:embed="rId1">
            <a:extLst>
              <a:ext uri="{28A0092B-C50C-407E-A947-70E740481C1C}">
                <a14:useLocalDpi xmlns:a14="http://schemas.microsoft.com/office/drawing/2010/main" val="0"/>
              </a:ext>
            </a:extLst>
          </a:blip>
          <a:srcRect l="21347" t="20720" r="26894" b="25002"/>
          <a:stretch>
            <a:fillRect/>
          </a:stretch>
        </p:blipFill>
        <p:spPr>
          <a:xfrm>
            <a:off x="4267200" y="1524000"/>
            <a:ext cx="4732843" cy="1623852"/>
          </a:xfrm>
          <a:prstGeom prst="rect">
            <a:avLst/>
          </a:prstGeom>
        </p:spPr>
      </p:pic>
      <p:pic>
        <p:nvPicPr>
          <p:cNvPr id="5" name="Picture 4"/>
          <p:cNvPicPr>
            <a:picLocks noChangeAspect="1"/>
          </p:cNvPicPr>
          <p:nvPr/>
        </p:nvPicPr>
        <p:blipFill>
          <a:blip r:embed="rId2"/>
          <a:stretch>
            <a:fillRect/>
          </a:stretch>
        </p:blipFill>
        <p:spPr>
          <a:xfrm>
            <a:off x="304800" y="3147852"/>
            <a:ext cx="4953000" cy="3273136"/>
          </a:xfrm>
          <a:prstGeom prst="rect">
            <a:avLst/>
          </a:prstGeom>
        </p:spPr>
      </p:pic>
      <p:sp>
        <p:nvSpPr>
          <p:cNvPr id="4" name="Slide Number Placeholder 3"/>
          <p:cNvSpPr>
            <a:spLocks noGrp="1"/>
          </p:cNvSpPr>
          <p:nvPr>
            <p:ph type="sldNum" sz="quarter" idx="12"/>
          </p:nvPr>
        </p:nvSpPr>
        <p:spPr/>
        <p:txBody>
          <a:bodyPr/>
          <a:lstStyle/>
          <a:p>
            <a:fld id="{2941B2BE-37E8-49C8-A941-FB00A9E058CF}" type="slidenum">
              <a:rPr lang="en-US" smtClean="0"/>
            </a:fld>
            <a:endParaRPr lang="en-US"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229600" cy="1143000"/>
          </a:xfrm>
        </p:spPr>
        <p:txBody>
          <a:bodyPr/>
          <a:lstStyle/>
          <a:p>
            <a:r>
              <a:rPr lang="en-US"/>
              <a:t>Derivative of Gaussian filter</a:t>
            </a:r>
            <a:endParaRPr lang="en-US"/>
          </a:p>
        </p:txBody>
      </p:sp>
      <p:pic>
        <p:nvPicPr>
          <p:cNvPr id="15364" name="Picture 4"/>
          <p:cNvPicPr>
            <a:picLocks noChangeAspect="1" noChangeArrowheads="1"/>
          </p:cNvPicPr>
          <p:nvPr/>
        </p:nvPicPr>
        <p:blipFill>
          <a:blip r:embed="rId1" cstate="print"/>
          <a:srcRect/>
          <a:stretch>
            <a:fillRect/>
          </a:stretch>
        </p:blipFill>
        <p:spPr bwMode="auto">
          <a:xfrm flipH="1">
            <a:off x="2057400" y="4114800"/>
            <a:ext cx="1752600" cy="1752600"/>
          </a:xfrm>
          <a:prstGeom prst="rect">
            <a:avLst/>
          </a:prstGeom>
          <a:noFill/>
          <a:ln w="9525">
            <a:noFill/>
            <a:miter lim="800000"/>
            <a:headEnd/>
            <a:tailEnd/>
          </a:ln>
        </p:spPr>
      </p:pic>
      <p:pic>
        <p:nvPicPr>
          <p:cNvPr id="15365" name="Picture 5"/>
          <p:cNvPicPr>
            <a:picLocks noChangeAspect="1" noChangeArrowheads="1"/>
          </p:cNvPicPr>
          <p:nvPr/>
        </p:nvPicPr>
        <p:blipFill>
          <a:blip r:embed="rId2" cstate="print"/>
          <a:srcRect/>
          <a:stretch>
            <a:fillRect/>
          </a:stretch>
        </p:blipFill>
        <p:spPr bwMode="auto">
          <a:xfrm>
            <a:off x="5486400" y="4114800"/>
            <a:ext cx="1752600" cy="1752600"/>
          </a:xfrm>
          <a:prstGeom prst="rect">
            <a:avLst/>
          </a:prstGeom>
          <a:noFill/>
          <a:ln w="9525">
            <a:noFill/>
            <a:miter lim="800000"/>
            <a:headEnd/>
            <a:tailEnd/>
          </a:ln>
        </p:spPr>
      </p:pic>
      <p:pic>
        <p:nvPicPr>
          <p:cNvPr id="15366" name="Picture 6"/>
          <p:cNvPicPr>
            <a:picLocks noChangeAspect="1" noChangeArrowheads="1"/>
          </p:cNvPicPr>
          <p:nvPr/>
        </p:nvPicPr>
        <p:blipFill>
          <a:blip r:embed="rId3" cstate="print"/>
          <a:srcRect/>
          <a:stretch>
            <a:fillRect/>
          </a:stretch>
        </p:blipFill>
        <p:spPr bwMode="auto">
          <a:xfrm>
            <a:off x="1219200" y="1006475"/>
            <a:ext cx="3429000" cy="2700338"/>
          </a:xfrm>
          <a:prstGeom prst="rect">
            <a:avLst/>
          </a:prstGeom>
          <a:noFill/>
          <a:ln w="9525">
            <a:noFill/>
            <a:miter lim="800000"/>
            <a:headEnd/>
            <a:tailEnd/>
          </a:ln>
        </p:spPr>
      </p:pic>
      <p:pic>
        <p:nvPicPr>
          <p:cNvPr id="15367" name="Picture 7"/>
          <p:cNvPicPr>
            <a:picLocks noChangeAspect="1" noChangeArrowheads="1"/>
          </p:cNvPicPr>
          <p:nvPr/>
        </p:nvPicPr>
        <p:blipFill>
          <a:blip r:embed="rId4" cstate="print"/>
          <a:srcRect/>
          <a:stretch>
            <a:fillRect/>
          </a:stretch>
        </p:blipFill>
        <p:spPr bwMode="auto">
          <a:xfrm>
            <a:off x="4572000" y="990600"/>
            <a:ext cx="3363913" cy="2759075"/>
          </a:xfrm>
          <a:prstGeom prst="rect">
            <a:avLst/>
          </a:prstGeom>
          <a:noFill/>
          <a:ln w="9525">
            <a:noFill/>
            <a:miter lim="800000"/>
            <a:headEnd/>
            <a:tailEnd/>
          </a:ln>
        </p:spPr>
      </p:pic>
      <p:sp>
        <p:nvSpPr>
          <p:cNvPr id="15368" name="Text Box 8"/>
          <p:cNvSpPr txBox="1">
            <a:spLocks noChangeArrowheads="1"/>
          </p:cNvSpPr>
          <p:nvPr/>
        </p:nvSpPr>
        <p:spPr bwMode="auto">
          <a:xfrm>
            <a:off x="2117725" y="3544888"/>
            <a:ext cx="1592263" cy="457200"/>
          </a:xfrm>
          <a:prstGeom prst="rect">
            <a:avLst/>
          </a:prstGeom>
          <a:noFill/>
          <a:ln w="9525">
            <a:noFill/>
            <a:miter lim="800000"/>
          </a:ln>
        </p:spPr>
        <p:txBody>
          <a:bodyPr wrap="none">
            <a:spAutoFit/>
          </a:bodyPr>
          <a:lstStyle/>
          <a:p>
            <a:r>
              <a:rPr lang="en-US" i="1"/>
              <a:t>x</a:t>
            </a:r>
            <a:r>
              <a:rPr lang="en-US"/>
              <a:t>-direction</a:t>
            </a:r>
            <a:endParaRPr lang="en-US"/>
          </a:p>
        </p:txBody>
      </p:sp>
      <p:sp>
        <p:nvSpPr>
          <p:cNvPr id="15369" name="Text Box 9"/>
          <p:cNvSpPr txBox="1">
            <a:spLocks noChangeArrowheads="1"/>
          </p:cNvSpPr>
          <p:nvPr/>
        </p:nvSpPr>
        <p:spPr bwMode="auto">
          <a:xfrm>
            <a:off x="5570538" y="3505200"/>
            <a:ext cx="1592262" cy="457200"/>
          </a:xfrm>
          <a:prstGeom prst="rect">
            <a:avLst/>
          </a:prstGeom>
          <a:noFill/>
          <a:ln w="9525">
            <a:noFill/>
            <a:miter lim="800000"/>
          </a:ln>
        </p:spPr>
        <p:txBody>
          <a:bodyPr wrap="none">
            <a:spAutoFit/>
          </a:bodyPr>
          <a:lstStyle/>
          <a:p>
            <a:r>
              <a:rPr lang="en-US" i="1"/>
              <a:t>y</a:t>
            </a:r>
            <a:r>
              <a:rPr lang="en-US"/>
              <a:t>-direction</a:t>
            </a:r>
            <a:endParaRPr lang="en-US"/>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idx="4294967295"/>
            <p:custDataLst>
              <p:tags r:id="rId1"/>
            </p:custDataLst>
          </p:nvPr>
        </p:nvSpPr>
        <p:spPr/>
        <p:txBody>
          <a:bodyPr/>
          <a:lstStyle/>
          <a:p>
            <a:r>
              <a:rPr lang="en-US" dirty="0"/>
              <a:t>The Sobel operator</a:t>
            </a:r>
            <a:endParaRPr lang="en-US" dirty="0"/>
          </a:p>
        </p:txBody>
      </p:sp>
      <p:sp>
        <p:nvSpPr>
          <p:cNvPr id="466947" name="Rectangle 3"/>
          <p:cNvSpPr>
            <a:spLocks noGrp="1" noChangeArrowheads="1"/>
          </p:cNvSpPr>
          <p:nvPr>
            <p:ph type="body" idx="4294967295"/>
            <p:custDataLst>
              <p:tags r:id="rId2"/>
            </p:custDataLst>
          </p:nvPr>
        </p:nvSpPr>
        <p:spPr>
          <a:xfrm>
            <a:off x="381000" y="1371600"/>
            <a:ext cx="8534400" cy="1371600"/>
          </a:xfrm>
        </p:spPr>
        <p:txBody>
          <a:bodyPr>
            <a:normAutofit/>
          </a:bodyPr>
          <a:lstStyle/>
          <a:p>
            <a:r>
              <a:rPr lang="en-US" sz="3100" dirty="0"/>
              <a:t>Common approximation of derivative of Gaussian</a:t>
            </a:r>
            <a:endParaRPr lang="en-US" sz="3100" dirty="0"/>
          </a:p>
        </p:txBody>
      </p:sp>
      <p:graphicFrame>
        <p:nvGraphicFramePr>
          <p:cNvPr id="434180" name="Group 4"/>
          <p:cNvGraphicFramePr>
            <a:graphicFrameLocks noGrp="1"/>
          </p:cNvGraphicFramePr>
          <p:nvPr>
            <p:custDataLst>
              <p:tags r:id="rId3"/>
            </p:custDataLst>
          </p:nvPr>
        </p:nvGraphicFramePr>
        <p:xfrm>
          <a:off x="2705100" y="2730500"/>
          <a:ext cx="1143000" cy="1051560"/>
        </p:xfrm>
        <a:graphic>
          <a:graphicData uri="http://schemas.openxmlformats.org/drawingml/2006/table">
            <a:tbl>
              <a:tblPr/>
              <a:tblGrid>
                <a:gridCol w="381000"/>
                <a:gridCol w="381000"/>
                <a:gridCol w="381000"/>
              </a:tblGrid>
              <a:tr h="3810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0</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-2</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0</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2</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0</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34198" name="Group 22"/>
          <p:cNvGraphicFramePr>
            <a:graphicFrameLocks noGrp="1"/>
          </p:cNvGraphicFramePr>
          <p:nvPr>
            <p:custDataLst>
              <p:tags r:id="rId4"/>
            </p:custDataLst>
          </p:nvPr>
        </p:nvGraphicFramePr>
        <p:xfrm>
          <a:off x="5105400" y="2730500"/>
          <a:ext cx="1143000" cy="1051560"/>
        </p:xfrm>
        <a:graphic>
          <a:graphicData uri="http://schemas.openxmlformats.org/drawingml/2006/table">
            <a:tbl>
              <a:tblPr/>
              <a:tblGrid>
                <a:gridCol w="381000"/>
                <a:gridCol w="381000"/>
                <a:gridCol w="381000"/>
              </a:tblGrid>
              <a:tr h="381000">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2</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0</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0</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0</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-2</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sz="1600" b="0" i="0" u="none" strike="noStrike" cap="none" normalizeH="0" baseline="0">
                          <a:ln>
                            <a:noFill/>
                          </a:ln>
                          <a:solidFill>
                            <a:schemeClr val="tx1"/>
                          </a:solidFill>
                          <a:effectLst/>
                          <a:latin typeface="Arial" panose="020B0604020202090204" pitchFamily="34" charset="0"/>
                        </a:rPr>
                        <a:t>-1</a:t>
                      </a:r>
                      <a:endParaRPr kumimoji="0" lang="en-US" sz="1600" b="0" i="0" u="none" strike="noStrike" cap="none" normalizeH="0" baseline="0">
                        <a:ln>
                          <a:noFill/>
                        </a:ln>
                        <a:solidFill>
                          <a:schemeClr val="tx1"/>
                        </a:solidFill>
                        <a:effectLst/>
                        <a:latin typeface="Arial" panose="020B0604020202090204" pitchFamily="34" charset="0"/>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466984" name="Picture 42" descr="Edittex"/>
          <p:cNvPicPr>
            <a:picLocks noChangeAspect="1" noChangeArrowheads="1"/>
          </p:cNvPicPr>
          <p:nvPr>
            <p:custDataLst>
              <p:tags r:id="rId5"/>
            </p:custDataLst>
          </p:nvPr>
        </p:nvPicPr>
        <p:blipFill>
          <a:blip r:embed="rId6" cstate="print"/>
          <a:srcRect/>
          <a:stretch>
            <a:fillRect/>
          </a:stretch>
        </p:blipFill>
        <p:spPr bwMode="auto">
          <a:xfrm>
            <a:off x="2438400" y="3017838"/>
            <a:ext cx="190500" cy="441325"/>
          </a:xfrm>
          <a:prstGeom prst="rect">
            <a:avLst/>
          </a:prstGeom>
          <a:noFill/>
          <a:ln w="9525">
            <a:noFill/>
            <a:miter lim="800000"/>
            <a:headEnd/>
            <a:tailEnd/>
          </a:ln>
        </p:spPr>
      </p:pic>
      <p:pic>
        <p:nvPicPr>
          <p:cNvPr id="466985" name="Picture 43" descr="Edittex"/>
          <p:cNvPicPr>
            <a:picLocks noChangeAspect="1" noChangeArrowheads="1"/>
          </p:cNvPicPr>
          <p:nvPr>
            <p:custDataLst>
              <p:tags r:id="rId7"/>
            </p:custDataLst>
          </p:nvPr>
        </p:nvPicPr>
        <p:blipFill>
          <a:blip r:embed="rId6" cstate="print"/>
          <a:srcRect/>
          <a:stretch>
            <a:fillRect/>
          </a:stretch>
        </p:blipFill>
        <p:spPr bwMode="auto">
          <a:xfrm>
            <a:off x="4838700" y="3022600"/>
            <a:ext cx="190500" cy="441325"/>
          </a:xfrm>
          <a:prstGeom prst="rect">
            <a:avLst/>
          </a:prstGeom>
          <a:noFill/>
          <a:ln w="9525">
            <a:noFill/>
            <a:miter lim="800000"/>
            <a:headEnd/>
            <a:tailEnd/>
          </a:ln>
        </p:spPr>
      </p:pic>
      <p:sp>
        <p:nvSpPr>
          <p:cNvPr id="466986" name="Rectangle 44"/>
          <p:cNvSpPr>
            <a:spLocks noChangeArrowheads="1"/>
          </p:cNvSpPr>
          <p:nvPr>
            <p:custDataLst>
              <p:tags r:id="rId8"/>
            </p:custDataLst>
          </p:nvPr>
        </p:nvSpPr>
        <p:spPr bwMode="auto">
          <a:xfrm>
            <a:off x="381000" y="4800600"/>
            <a:ext cx="8534400" cy="1371600"/>
          </a:xfrm>
          <a:prstGeom prst="rect">
            <a:avLst/>
          </a:prstGeom>
          <a:noFill/>
          <a:ln w="9525">
            <a:noFill/>
            <a:miter lim="800000"/>
          </a:ln>
        </p:spPr>
        <p:txBody>
          <a:bodyPr/>
          <a:lstStyle/>
          <a:p>
            <a:pPr marL="742950" lvl="1" indent="-285750">
              <a:spcBef>
                <a:spcPct val="20000"/>
              </a:spcBef>
              <a:buFontTx/>
              <a:buChar char="•"/>
            </a:pPr>
            <a:r>
              <a:rPr lang="en-US" sz="2400" dirty="0"/>
              <a:t>The standard </a:t>
            </a:r>
            <a:r>
              <a:rPr lang="en-US" sz="2400" dirty="0" err="1"/>
              <a:t>defn</a:t>
            </a:r>
            <a:r>
              <a:rPr lang="en-US" sz="2400" dirty="0"/>
              <a:t>. of the </a:t>
            </a:r>
            <a:r>
              <a:rPr lang="en-US" sz="2400" dirty="0" err="1"/>
              <a:t>Sobel</a:t>
            </a:r>
            <a:r>
              <a:rPr lang="en-US" sz="2400" dirty="0"/>
              <a:t> operator omits the 1/8 term</a:t>
            </a:r>
            <a:endParaRPr lang="en-US" sz="2400" dirty="0"/>
          </a:p>
          <a:p>
            <a:pPr marL="1143000" lvl="2" indent="-228600">
              <a:spcBef>
                <a:spcPct val="20000"/>
              </a:spcBef>
              <a:buFontTx/>
              <a:buChar char="–"/>
            </a:pPr>
            <a:r>
              <a:rPr lang="en-US" sz="2000" dirty="0"/>
              <a:t>doesn’t make a difference for edge detection</a:t>
            </a:r>
            <a:endParaRPr lang="en-US" sz="2000" dirty="0"/>
          </a:p>
          <a:p>
            <a:pPr marL="1143000" lvl="2" indent="-228600">
              <a:spcBef>
                <a:spcPct val="20000"/>
              </a:spcBef>
              <a:buFontTx/>
              <a:buChar char="–"/>
            </a:pPr>
            <a:r>
              <a:rPr lang="en-US" sz="2000" dirty="0"/>
              <a:t>the 1/8 term </a:t>
            </a:r>
            <a:r>
              <a:rPr lang="en-US" sz="2000" b="1" dirty="0"/>
              <a:t>is</a:t>
            </a:r>
            <a:r>
              <a:rPr lang="en-US" sz="2000" dirty="0"/>
              <a:t> needed to get the right gradient magnitude</a:t>
            </a:r>
            <a:endParaRPr lang="en-US" sz="2000" dirty="0"/>
          </a:p>
        </p:txBody>
      </p:sp>
      <p:pic>
        <p:nvPicPr>
          <p:cNvPr id="466987" name="Picture 47" descr="Edittex"/>
          <p:cNvPicPr>
            <a:picLocks noChangeAspect="1" noChangeArrowheads="1"/>
          </p:cNvPicPr>
          <p:nvPr>
            <p:custDataLst>
              <p:tags r:id="rId9"/>
            </p:custDataLst>
          </p:nvPr>
        </p:nvPicPr>
        <p:blipFill>
          <a:blip r:embed="rId10" cstate="print"/>
          <a:srcRect/>
          <a:stretch>
            <a:fillRect/>
          </a:stretch>
        </p:blipFill>
        <p:spPr bwMode="auto">
          <a:xfrm>
            <a:off x="3097213" y="3976688"/>
            <a:ext cx="300037" cy="190500"/>
          </a:xfrm>
          <a:prstGeom prst="rect">
            <a:avLst/>
          </a:prstGeom>
          <a:noFill/>
          <a:ln w="9525">
            <a:noFill/>
            <a:miter lim="800000"/>
            <a:headEnd/>
            <a:tailEnd/>
          </a:ln>
        </p:spPr>
      </p:pic>
      <p:pic>
        <p:nvPicPr>
          <p:cNvPr id="466988" name="Picture 48" descr="Edittex"/>
          <p:cNvPicPr>
            <a:picLocks noChangeAspect="1" noChangeArrowheads="1"/>
          </p:cNvPicPr>
          <p:nvPr>
            <p:custDataLst>
              <p:tags r:id="rId11"/>
            </p:custDataLst>
          </p:nvPr>
        </p:nvPicPr>
        <p:blipFill>
          <a:blip r:embed="rId12" cstate="print"/>
          <a:srcRect/>
          <a:stretch>
            <a:fillRect/>
          </a:stretch>
        </p:blipFill>
        <p:spPr bwMode="auto">
          <a:xfrm>
            <a:off x="5505450" y="3956050"/>
            <a:ext cx="284163" cy="23495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6986"/>
                                        </p:tgtEl>
                                        <p:attrNameLst>
                                          <p:attrName>style.visibility</p:attrName>
                                        </p:attrNameLst>
                                      </p:cBhvr>
                                      <p:to>
                                        <p:strVal val="visible"/>
                                      </p:to>
                                    </p:set>
                                    <p:animEffect transition="in" filter="fade">
                                      <p:cBhvr>
                                        <p:cTn id="7" dur="500"/>
                                        <p:tgtEl>
                                          <p:spTgt spid="466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8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1" cstate="print"/>
          <a:srcRect/>
          <a:stretch>
            <a:fillRect/>
          </a:stretch>
        </p:blipFill>
        <p:spPr bwMode="auto">
          <a:xfrm>
            <a:off x="1981200" y="2819400"/>
            <a:ext cx="5181600" cy="3886200"/>
          </a:xfrm>
          <a:prstGeom prst="rect">
            <a:avLst/>
          </a:prstGeom>
          <a:noFill/>
          <a:ln w="9525">
            <a:noFill/>
            <a:miter lim="800000"/>
            <a:headEnd/>
            <a:tailEnd/>
          </a:ln>
        </p:spPr>
      </p:pic>
      <p:pic>
        <p:nvPicPr>
          <p:cNvPr id="90116" name="Picture 4"/>
          <p:cNvPicPr>
            <a:picLocks noChangeAspect="1" noChangeArrowheads="1"/>
          </p:cNvPicPr>
          <p:nvPr/>
        </p:nvPicPr>
        <p:blipFill>
          <a:blip r:embed="rId2" cstate="print"/>
          <a:srcRect/>
          <a:stretch>
            <a:fillRect/>
          </a:stretch>
        </p:blipFill>
        <p:spPr bwMode="auto">
          <a:xfrm>
            <a:off x="1981200" y="2819400"/>
            <a:ext cx="5181600" cy="3886200"/>
          </a:xfrm>
          <a:prstGeom prst="rect">
            <a:avLst/>
          </a:prstGeom>
          <a:noFill/>
          <a:ln w="9525">
            <a:noFill/>
            <a:miter lim="800000"/>
            <a:headEnd/>
            <a:tailEnd/>
          </a:ln>
        </p:spPr>
      </p:pic>
      <p:pic>
        <p:nvPicPr>
          <p:cNvPr id="90118" name="Picture 6"/>
          <p:cNvPicPr>
            <a:picLocks noChangeAspect="1" noChangeArrowheads="1"/>
          </p:cNvPicPr>
          <p:nvPr/>
        </p:nvPicPr>
        <p:blipFill>
          <a:blip r:embed="rId3" cstate="print"/>
          <a:srcRect/>
          <a:stretch>
            <a:fillRect/>
          </a:stretch>
        </p:blipFill>
        <p:spPr bwMode="auto">
          <a:xfrm>
            <a:off x="1981200" y="2819400"/>
            <a:ext cx="5181600" cy="3886200"/>
          </a:xfrm>
          <a:prstGeom prst="rect">
            <a:avLst/>
          </a:prstGeom>
          <a:noFill/>
          <a:ln w="9525">
            <a:noFill/>
            <a:miter lim="800000"/>
            <a:headEnd/>
            <a:tailEnd/>
          </a:ln>
        </p:spPr>
      </p:pic>
      <p:sp>
        <p:nvSpPr>
          <p:cNvPr id="7" name="Title 6"/>
          <p:cNvSpPr>
            <a:spLocks noGrp="1"/>
          </p:cNvSpPr>
          <p:nvPr>
            <p:ph type="title"/>
          </p:nvPr>
        </p:nvSpPr>
        <p:spPr/>
        <p:txBody>
          <a:bodyPr/>
          <a:lstStyle/>
          <a:p>
            <a:r>
              <a:rPr lang="en-US" dirty="0" err="1"/>
              <a:t>Sobel</a:t>
            </a:r>
            <a:r>
              <a:rPr lang="en-US" dirty="0"/>
              <a:t> operator: example</a:t>
            </a:r>
            <a:endParaRPr lang="en-US" dirty="0"/>
          </a:p>
        </p:txBody>
      </p:sp>
      <p:sp>
        <p:nvSpPr>
          <p:cNvPr id="9" name="Text Box 26"/>
          <p:cNvSpPr txBox="1">
            <a:spLocks noChangeArrowheads="1"/>
          </p:cNvSpPr>
          <p:nvPr/>
        </p:nvSpPr>
        <p:spPr bwMode="auto">
          <a:xfrm>
            <a:off x="7566491" y="6477000"/>
            <a:ext cx="1501309" cy="307777"/>
          </a:xfrm>
          <a:prstGeom prst="rect">
            <a:avLst/>
          </a:prstGeom>
          <a:noFill/>
          <a:ln w="9525">
            <a:noFill/>
            <a:miter lim="800000"/>
          </a:ln>
        </p:spPr>
        <p:txBody>
          <a:bodyPr wrap="none">
            <a:spAutoFit/>
          </a:bodyPr>
          <a:lstStyle/>
          <a:p>
            <a:pPr algn="ctr"/>
            <a:r>
              <a:rPr lang="en-US" sz="1400" dirty="0"/>
              <a:t>Source: Wikipedia</a:t>
            </a:r>
            <a:endParaRPr lang="en-US" sz="1400" dirty="0"/>
          </a:p>
        </p:txBody>
      </p:sp>
      <p:pic>
        <p:nvPicPr>
          <p:cNvPr id="90115" name="Picture 3"/>
          <p:cNvPicPr>
            <a:picLocks noChangeAspect="1" noChangeArrowheads="1"/>
          </p:cNvPicPr>
          <p:nvPr/>
        </p:nvPicPr>
        <p:blipFill>
          <a:blip r:embed="rId4" cstate="print"/>
          <a:srcRect/>
          <a:stretch>
            <a:fillRect/>
          </a:stretch>
        </p:blipFill>
        <p:spPr bwMode="auto">
          <a:xfrm>
            <a:off x="1981200" y="2819400"/>
            <a:ext cx="5181600" cy="3886200"/>
          </a:xfrm>
          <a:prstGeom prst="rect">
            <a:avLst/>
          </a:prstGeom>
          <a:noFill/>
          <a:ln w="9525">
            <a:noFill/>
            <a:miter lim="800000"/>
            <a:headEnd/>
            <a:tailEnd/>
          </a:ln>
        </p:spPr>
      </p:pic>
      <p:pic>
        <p:nvPicPr>
          <p:cNvPr id="10" name="Picture 2"/>
          <p:cNvPicPr>
            <a:picLocks noChangeAspect="1" noChangeArrowheads="1"/>
          </p:cNvPicPr>
          <p:nvPr/>
        </p:nvPicPr>
        <p:blipFill>
          <a:blip r:embed="rId5" cstate="print"/>
          <a:srcRect/>
          <a:stretch>
            <a:fillRect/>
          </a:stretch>
        </p:blipFill>
        <p:spPr bwMode="auto">
          <a:xfrm>
            <a:off x="381000" y="1295400"/>
            <a:ext cx="1676400" cy="1257300"/>
          </a:xfrm>
          <a:prstGeom prst="rect">
            <a:avLst/>
          </a:prstGeom>
          <a:noFill/>
          <a:ln w="9525">
            <a:noFill/>
            <a:miter lim="800000"/>
            <a:headEnd/>
            <a:tailEnd/>
          </a:ln>
        </p:spPr>
      </p:pic>
      <p:pic>
        <p:nvPicPr>
          <p:cNvPr id="11" name="Picture 4"/>
          <p:cNvPicPr>
            <a:picLocks noChangeAspect="1" noChangeArrowheads="1"/>
          </p:cNvPicPr>
          <p:nvPr/>
        </p:nvPicPr>
        <p:blipFill>
          <a:blip r:embed="rId6" cstate="print"/>
          <a:srcRect/>
          <a:stretch>
            <a:fillRect/>
          </a:stretch>
        </p:blipFill>
        <p:spPr bwMode="auto">
          <a:xfrm>
            <a:off x="2616200" y="1295400"/>
            <a:ext cx="1676400" cy="1257300"/>
          </a:xfrm>
          <a:prstGeom prst="rect">
            <a:avLst/>
          </a:prstGeom>
          <a:noFill/>
          <a:ln w="9525">
            <a:noFill/>
            <a:miter lim="800000"/>
            <a:headEnd/>
            <a:tailEnd/>
          </a:ln>
        </p:spPr>
      </p:pic>
      <p:pic>
        <p:nvPicPr>
          <p:cNvPr id="12" name="Picture 6"/>
          <p:cNvPicPr>
            <a:picLocks noChangeAspect="1" noChangeArrowheads="1"/>
          </p:cNvPicPr>
          <p:nvPr/>
        </p:nvPicPr>
        <p:blipFill>
          <a:blip r:embed="rId7" cstate="print"/>
          <a:srcRect/>
          <a:stretch>
            <a:fillRect/>
          </a:stretch>
        </p:blipFill>
        <p:spPr bwMode="auto">
          <a:xfrm>
            <a:off x="4851400" y="1295400"/>
            <a:ext cx="1676400" cy="1257300"/>
          </a:xfrm>
          <a:prstGeom prst="rect">
            <a:avLst/>
          </a:prstGeom>
          <a:noFill/>
          <a:ln w="9525">
            <a:noFill/>
            <a:miter lim="800000"/>
            <a:headEnd/>
            <a:tailEnd/>
          </a:ln>
        </p:spPr>
      </p:pic>
      <p:pic>
        <p:nvPicPr>
          <p:cNvPr id="13" name="Picture 3"/>
          <p:cNvPicPr>
            <a:picLocks noChangeAspect="1" noChangeArrowheads="1"/>
          </p:cNvPicPr>
          <p:nvPr/>
        </p:nvPicPr>
        <p:blipFill>
          <a:blip r:embed="rId8" cstate="print"/>
          <a:srcRect/>
          <a:stretch>
            <a:fillRect/>
          </a:stretch>
        </p:blipFill>
        <p:spPr bwMode="auto">
          <a:xfrm>
            <a:off x="7086600" y="1295400"/>
            <a:ext cx="1676400" cy="1257300"/>
          </a:xfrm>
          <a:prstGeom prst="rect">
            <a:avLst/>
          </a:prstGeom>
          <a:noFill/>
          <a:ln w="9525">
            <a:noFill/>
            <a:miter lim="800000"/>
            <a:headEnd/>
            <a:tailEnd/>
          </a:ln>
        </p:spPr>
      </p:pic>
      <p:sp>
        <p:nvSpPr>
          <p:cNvPr id="8" name="TextBox 7"/>
          <p:cNvSpPr txBox="1"/>
          <p:nvPr/>
        </p:nvSpPr>
        <p:spPr>
          <a:xfrm>
            <a:off x="2971800" y="2501384"/>
            <a:ext cx="1136401" cy="369332"/>
          </a:xfrm>
          <a:prstGeom prst="rect">
            <a:avLst/>
          </a:prstGeom>
          <a:noFill/>
        </p:spPr>
        <p:txBody>
          <a:bodyPr wrap="none" rtlCol="0">
            <a:spAutoFit/>
          </a:bodyPr>
          <a:lstStyle/>
          <a:p>
            <a:r>
              <a:rPr lang="en-US" i="1" dirty="0">
                <a:solidFill>
                  <a:schemeClr val="tx2">
                    <a:lumMod val="60000"/>
                    <a:lumOff val="40000"/>
                  </a:schemeClr>
                </a:solidFill>
              </a:rPr>
              <a:t>x</a:t>
            </a:r>
            <a:r>
              <a:rPr lang="en-US" dirty="0">
                <a:solidFill>
                  <a:schemeClr val="tx2">
                    <a:lumMod val="60000"/>
                    <a:lumOff val="40000"/>
                  </a:schemeClr>
                </a:solidFill>
              </a:rPr>
              <a:t>-gradient</a:t>
            </a:r>
            <a:endParaRPr lang="en-US" dirty="0">
              <a:solidFill>
                <a:schemeClr val="tx2">
                  <a:lumMod val="60000"/>
                  <a:lumOff val="40000"/>
                </a:schemeClr>
              </a:solidFill>
            </a:endParaRPr>
          </a:p>
        </p:txBody>
      </p:sp>
      <p:sp>
        <p:nvSpPr>
          <p:cNvPr id="18" name="TextBox 17"/>
          <p:cNvSpPr txBox="1"/>
          <p:nvPr/>
        </p:nvSpPr>
        <p:spPr>
          <a:xfrm>
            <a:off x="5213599" y="2470150"/>
            <a:ext cx="1136401" cy="369332"/>
          </a:xfrm>
          <a:prstGeom prst="rect">
            <a:avLst/>
          </a:prstGeom>
          <a:noFill/>
        </p:spPr>
        <p:txBody>
          <a:bodyPr wrap="none" rtlCol="0">
            <a:spAutoFit/>
          </a:bodyPr>
          <a:lstStyle/>
          <a:p>
            <a:r>
              <a:rPr lang="en-US" i="1" dirty="0">
                <a:solidFill>
                  <a:schemeClr val="tx2">
                    <a:lumMod val="60000"/>
                    <a:lumOff val="40000"/>
                  </a:schemeClr>
                </a:solidFill>
              </a:rPr>
              <a:t>y</a:t>
            </a:r>
            <a:r>
              <a:rPr lang="en-US" dirty="0">
                <a:solidFill>
                  <a:schemeClr val="tx2">
                    <a:lumMod val="60000"/>
                    <a:lumOff val="40000"/>
                  </a:schemeClr>
                </a:solidFill>
              </a:rPr>
              <a:t>-gradient</a:t>
            </a:r>
            <a:endParaRPr lang="en-US" dirty="0">
              <a:solidFill>
                <a:schemeClr val="tx2">
                  <a:lumMod val="60000"/>
                  <a:lumOff val="40000"/>
                </a:schemeClr>
              </a:solidFill>
            </a:endParaRPr>
          </a:p>
        </p:txBody>
      </p:sp>
      <p:sp>
        <p:nvSpPr>
          <p:cNvPr id="14" name="Rectangle 13"/>
          <p:cNvSpPr/>
          <p:nvPr/>
        </p:nvSpPr>
        <p:spPr>
          <a:xfrm>
            <a:off x="6983968" y="2501384"/>
            <a:ext cx="2109232" cy="369332"/>
          </a:xfrm>
          <a:prstGeom prst="rect">
            <a:avLst/>
          </a:prstGeom>
        </p:spPr>
        <p:txBody>
          <a:bodyPr wrap="none">
            <a:spAutoFit/>
          </a:bodyPr>
          <a:lstStyle/>
          <a:p>
            <a:r>
              <a:rPr lang="en-US" dirty="0">
                <a:solidFill>
                  <a:schemeClr val="tx2">
                    <a:lumMod val="60000"/>
                    <a:lumOff val="40000"/>
                  </a:schemeClr>
                </a:solidFill>
              </a:rPr>
              <a:t>gradient magnitude</a:t>
            </a:r>
            <a:r>
              <a:rPr lang="en-US" dirty="0">
                <a:solidFill>
                  <a:schemeClr val="tx2">
                    <a:lumMod val="60000"/>
                    <a:lumOff val="40000"/>
                  </a:schemeClr>
                </a:solidFill>
                <a:latin typeface="Arial" panose="020B0604020202090204" pitchFamily="34" charset="0"/>
              </a:rPr>
              <a:t> </a:t>
            </a:r>
            <a:endParaRPr lang="en-US" dirty="0">
              <a:solidFill>
                <a:schemeClr val="tx2">
                  <a:lumMod val="60000"/>
                  <a:lumOff val="40000"/>
                </a:schemeClr>
              </a:solidFill>
            </a:endParaRPr>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fade">
                                      <p:cBhvr>
                                        <p:cTn id="7" dur="500"/>
                                        <p:tgtEl>
                                          <p:spTgt spid="90116"/>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0118"/>
                                        </p:tgtEl>
                                        <p:attrNameLst>
                                          <p:attrName>style.visibility</p:attrName>
                                        </p:attrNameLst>
                                      </p:cBhvr>
                                      <p:to>
                                        <p:strVal val="visible"/>
                                      </p:to>
                                    </p:set>
                                    <p:animEffect transition="in" filter="fade">
                                      <p:cBhvr>
                                        <p:cTn id="20" dur="500"/>
                                        <p:tgtEl>
                                          <p:spTgt spid="90118"/>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90115"/>
                                        </p:tgtEl>
                                        <p:attrNameLst>
                                          <p:attrName>style.visibility</p:attrName>
                                        </p:attrNameLst>
                                      </p:cBhvr>
                                      <p:to>
                                        <p:strVal val="visible"/>
                                      </p:to>
                                    </p:set>
                                    <p:animEffect transition="in" filter="fade">
                                      <p:cBhvr>
                                        <p:cTn id="33" dur="500"/>
                                        <p:tgtEl>
                                          <p:spTgt spid="90115"/>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626" y="304800"/>
            <a:ext cx="6096000" cy="646331"/>
          </a:xfrm>
          <a:prstGeom prst="rect">
            <a:avLst/>
          </a:prstGeom>
          <a:noFill/>
        </p:spPr>
        <p:txBody>
          <a:bodyPr wrap="square" rtlCol="0">
            <a:spAutoFit/>
          </a:bodyPr>
          <a:lstStyle/>
          <a:p>
            <a:r>
              <a:rPr lang="en-US" sz="3600" spc="-200" dirty="0" err="1">
                <a:latin typeface="Kalinga" pitchFamily="34" charset="0"/>
                <a:cs typeface="Kalinga" pitchFamily="34" charset="0"/>
              </a:rPr>
              <a:t>Sobel</a:t>
            </a:r>
            <a:r>
              <a:rPr lang="en-US" sz="3600" spc="-200" dirty="0">
                <a:latin typeface="Kalinga" pitchFamily="34" charset="0"/>
                <a:cs typeface="Kalinga" pitchFamily="34" charset="0"/>
              </a:rPr>
              <a:t> operator</a:t>
            </a:r>
            <a:endParaRPr lang="en-US" sz="3600" spc="-200" dirty="0">
              <a:latin typeface="Kalinga" pitchFamily="34" charset="0"/>
              <a:cs typeface="Kalinga" pitchFamily="34" charset="0"/>
            </a:endParaRPr>
          </a:p>
        </p:txBody>
      </p:sp>
      <p:pic>
        <p:nvPicPr>
          <p:cNvPr id="9218" name="Picture 2" descr="C:\larryz\classes\UW576S11\data\108041.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219200"/>
            <a:ext cx="2802312" cy="4199103"/>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descr="C:\larryz\classes\UW576S11\data\tsobelma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3313" y="1219201"/>
            <a:ext cx="2802312" cy="4199103"/>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5" descr="C:\larryz\classes\UW576S11\data\tsobelorien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0558" y="1219202"/>
            <a:ext cx="2802312" cy="419910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990600" y="5428201"/>
            <a:ext cx="1371600" cy="461665"/>
          </a:xfrm>
          <a:prstGeom prst="rect">
            <a:avLst/>
          </a:prstGeom>
          <a:noFill/>
        </p:spPr>
        <p:txBody>
          <a:bodyPr wrap="square" rtlCol="0">
            <a:spAutoFit/>
          </a:bodyPr>
          <a:lstStyle/>
          <a:p>
            <a:pPr algn="ctr"/>
            <a:r>
              <a:rPr lang="en-US" sz="2400" dirty="0"/>
              <a:t>Original</a:t>
            </a:r>
            <a:endParaRPr lang="en-US" sz="2400" dirty="0"/>
          </a:p>
        </p:txBody>
      </p:sp>
      <p:sp>
        <p:nvSpPr>
          <p:cNvPr id="16" name="TextBox 15"/>
          <p:cNvSpPr txBox="1"/>
          <p:nvPr/>
        </p:nvSpPr>
        <p:spPr>
          <a:xfrm>
            <a:off x="6611271" y="5413543"/>
            <a:ext cx="1840886" cy="461665"/>
          </a:xfrm>
          <a:prstGeom prst="rect">
            <a:avLst/>
          </a:prstGeom>
          <a:noFill/>
        </p:spPr>
        <p:txBody>
          <a:bodyPr wrap="square" rtlCol="0">
            <a:spAutoFit/>
          </a:bodyPr>
          <a:lstStyle/>
          <a:p>
            <a:pPr algn="ctr"/>
            <a:r>
              <a:rPr lang="en-US" sz="2400" dirty="0"/>
              <a:t>Orientation</a:t>
            </a:r>
            <a:endParaRPr lang="en-US" sz="2400" dirty="0"/>
          </a:p>
        </p:txBody>
      </p:sp>
      <p:sp>
        <p:nvSpPr>
          <p:cNvPr id="17" name="TextBox 16"/>
          <p:cNvSpPr txBox="1"/>
          <p:nvPr/>
        </p:nvSpPr>
        <p:spPr>
          <a:xfrm>
            <a:off x="3657600" y="5413545"/>
            <a:ext cx="1892531" cy="461665"/>
          </a:xfrm>
          <a:prstGeom prst="rect">
            <a:avLst/>
          </a:prstGeom>
          <a:noFill/>
        </p:spPr>
        <p:txBody>
          <a:bodyPr wrap="square" rtlCol="0">
            <a:spAutoFit/>
          </a:bodyPr>
          <a:lstStyle/>
          <a:p>
            <a:pPr algn="ctr"/>
            <a:r>
              <a:rPr lang="en-US" sz="2400" dirty="0"/>
              <a:t>Magnitude</a:t>
            </a:r>
            <a:endParaRPr lang="en-US" sz="24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5800" y="0"/>
            <a:ext cx="7772400" cy="990600"/>
          </a:xfrm>
        </p:spPr>
        <p:txBody>
          <a:bodyPr rIns="132080"/>
          <a:lstStyle/>
          <a:p>
            <a:r>
              <a:rPr lang="en-US" dirty="0"/>
              <a:t>Laplacian of Gaussian (</a:t>
            </a:r>
            <a:r>
              <a:rPr lang="en-US" dirty="0" err="1"/>
              <a:t>LoG</a:t>
            </a:r>
            <a:r>
              <a:rPr lang="en-US" dirty="0"/>
              <a:t>)</a:t>
            </a:r>
            <a:endParaRPr lang="en-US" dirty="0"/>
          </a:p>
        </p:txBody>
      </p:sp>
      <p:sp>
        <p:nvSpPr>
          <p:cNvPr id="20483" name="Rectangle 3"/>
          <p:cNvSpPr>
            <a:spLocks noGrp="1" noChangeArrowheads="1"/>
          </p:cNvSpPr>
          <p:nvPr>
            <p:ph type="body" idx="1"/>
          </p:nvPr>
        </p:nvSpPr>
        <p:spPr>
          <a:xfrm>
            <a:off x="685800" y="1066800"/>
            <a:ext cx="7772400" cy="5791200"/>
          </a:xfrm>
        </p:spPr>
        <p:txBody>
          <a:bodyPr rIns="132080"/>
          <a:lstStyle/>
          <a:p>
            <a:pPr marL="382905" indent="-342900"/>
            <a:r>
              <a:rPr lang="en-US"/>
              <a:t>Consider  </a:t>
            </a:r>
            <a:endParaRPr lang="en-US"/>
          </a:p>
        </p:txBody>
      </p:sp>
      <p:pic>
        <p:nvPicPr>
          <p:cNvPr id="20484" name="Picture 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32063" y="1482590"/>
            <a:ext cx="5822950" cy="472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5" name="Picture 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03525" y="1077430"/>
            <a:ext cx="14827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6"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3500" y="2181225"/>
            <a:ext cx="173038"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7"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1563" y="3471863"/>
            <a:ext cx="687387"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8"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4688" y="5035550"/>
            <a:ext cx="14827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489" name="Rectangle 9"/>
          <p:cNvSpPr/>
          <p:nvPr/>
        </p:nvSpPr>
        <p:spPr bwMode="auto">
          <a:xfrm>
            <a:off x="4286250" y="3479800"/>
            <a:ext cx="241776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wrap="none" lIns="0" tIns="0" rIns="40639" bIns="0">
            <a:spAutoFit/>
          </a:bodyPr>
          <a:lstStyle/>
          <a:p>
            <a:pPr marL="40005" algn="ctr" defTabSz="457200"/>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Laplacian of Gaussian</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a:p>
            <a:pPr marL="40005" algn="ctr" defTabSz="457200"/>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operator</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sp>
        <p:nvSpPr>
          <p:cNvPr id="20490" name="Rectangle 10"/>
          <p:cNvSpPr/>
          <p:nvPr/>
        </p:nvSpPr>
        <p:spPr bwMode="auto">
          <a:xfrm>
            <a:off x="685800" y="6324600"/>
            <a:ext cx="3098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40639" bIns="0"/>
          <a:lstStyle/>
          <a:p>
            <a:pPr marL="382905" indent="-342900" defTabSz="457200">
              <a:spcBef>
                <a:spcPts val="550"/>
              </a:spcBef>
            </a:pPr>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Where is the edge?  </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sp>
        <p:nvSpPr>
          <p:cNvPr id="20491" name="Rectangle 11"/>
          <p:cNvSpPr/>
          <p:nvPr/>
        </p:nvSpPr>
        <p:spPr bwMode="auto">
          <a:xfrm>
            <a:off x="3775075" y="6324600"/>
            <a:ext cx="45974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40639" bIns="0"/>
          <a:lstStyle/>
          <a:p>
            <a:pPr marL="382905" indent="-342900" defTabSz="457200">
              <a:spcBef>
                <a:spcPts val="550"/>
              </a:spcBef>
            </a:pPr>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Zero-crossings of bottom graph</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sp>
        <p:nvSpPr>
          <p:cNvPr id="2" name="Slide Number Placeholder 1"/>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
        <p:nvSpPr>
          <p:cNvPr id="3" name="5-Point Star 2"/>
          <p:cNvSpPr/>
          <p:nvPr/>
        </p:nvSpPr>
        <p:spPr>
          <a:xfrm>
            <a:off x="5273755" y="5130407"/>
            <a:ext cx="442752" cy="444893"/>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prstClr val="whit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1" grpId="0" autoUpdateAnimBg="0"/>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8639"/>
            <a:ext cx="8229600" cy="1143000"/>
          </a:xfrm>
        </p:spPr>
        <p:txBody>
          <a:bodyPr rIns="132080"/>
          <a:lstStyle/>
          <a:p>
            <a:r>
              <a:rPr lang="en-US" dirty="0"/>
              <a:t>2D edge detection filters</a:t>
            </a:r>
            <a:endParaRPr lang="en-US" dirty="0"/>
          </a:p>
        </p:txBody>
      </p:sp>
      <p:pic>
        <p:nvPicPr>
          <p:cNvPr id="21507" name="Picture 3"/>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066800"/>
            <a:ext cx="27336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8"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958975"/>
            <a:ext cx="3006725"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913" y="3592513"/>
            <a:ext cx="2747962"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1513" name="Group 9"/>
          <p:cNvGrpSpPr/>
          <p:nvPr/>
        </p:nvGrpSpPr>
        <p:grpSpPr bwMode="auto">
          <a:xfrm>
            <a:off x="569912" y="4921248"/>
            <a:ext cx="7900988" cy="1255715"/>
            <a:chOff x="-73" y="-20"/>
            <a:chExt cx="4977" cy="791"/>
          </a:xfrm>
        </p:grpSpPr>
        <p:sp>
          <p:nvSpPr>
            <p:cNvPr id="21510" name="Rectangle 6"/>
            <p:cNvSpPr/>
            <p:nvPr/>
          </p:nvSpPr>
          <p:spPr bwMode="auto">
            <a:xfrm>
              <a:off x="0" y="0"/>
              <a:ext cx="4904"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40639" bIns="0"/>
            <a:lstStyle/>
            <a:p>
              <a:pPr marL="382905" indent="-342900" defTabSz="457200">
                <a:spcBef>
                  <a:spcPts val="550"/>
                </a:spcBef>
              </a:pPr>
              <a:r>
                <a:rPr lang="en-US" dirty="0">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      is the </a:t>
              </a:r>
              <a:r>
                <a:rPr lang="en-US" dirty="0" err="1">
                  <a:solidFill>
                    <a:prstClr val="black"/>
                  </a:solidFill>
                  <a:latin typeface="Arial Bold" panose="020B0604020202090204" charset="0"/>
                  <a:ea typeface="MS PGothic" charset="0"/>
                  <a:cs typeface="Arial Bold" panose="020B0604020202090204" charset="0"/>
                  <a:sym typeface="Arial Bold" panose="020B0604020202090204" charset="0"/>
                </a:rPr>
                <a:t>Laplacian</a:t>
              </a:r>
              <a:r>
                <a:rPr lang="en-US" dirty="0">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 operator:</a:t>
              </a:r>
              <a:endParaRPr lang="en-US" dirty="0">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pic>
          <p:nvPicPr>
            <p:cNvPr id="21511"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 y="-20"/>
              <a:ext cx="27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12" name="Picture 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00" y="393"/>
              <a:ext cx="1624"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1517" name="Group 13"/>
          <p:cNvGrpSpPr/>
          <p:nvPr/>
        </p:nvGrpSpPr>
        <p:grpSpPr bwMode="auto">
          <a:xfrm>
            <a:off x="6091238" y="1843088"/>
            <a:ext cx="2824162" cy="3033712"/>
            <a:chOff x="0" y="0"/>
            <a:chExt cx="1779" cy="1911"/>
          </a:xfrm>
        </p:grpSpPr>
        <p:pic>
          <p:nvPicPr>
            <p:cNvPr id="21514" name="Picture 1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 y="249"/>
              <a:ext cx="1638" cy="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15" name="Picture 1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1201"/>
              <a:ext cx="76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516" name="Rectangle 12"/>
            <p:cNvSpPr/>
            <p:nvPr/>
          </p:nvSpPr>
          <p:spPr bwMode="auto">
            <a:xfrm>
              <a:off x="203" y="0"/>
              <a:ext cx="152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wrap="none" lIns="0" tIns="0" rIns="40639" bIns="0">
              <a:spAutoFit/>
            </a:bodyPr>
            <a:lstStyle/>
            <a:p>
              <a:pPr marL="40005" algn="ctr" defTabSz="457200"/>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Laplacian of Gaussian</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grpSp>
      <p:sp>
        <p:nvSpPr>
          <p:cNvPr id="21518" name="Rectangle 14"/>
          <p:cNvSpPr/>
          <p:nvPr/>
        </p:nvSpPr>
        <p:spPr bwMode="auto">
          <a:xfrm>
            <a:off x="1081088" y="3214688"/>
            <a:ext cx="1119187"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wrap="none" lIns="0" tIns="0" rIns="40639" bIns="0">
            <a:spAutoFit/>
          </a:bodyPr>
          <a:lstStyle/>
          <a:p>
            <a:pPr marL="40005" algn="ctr" defTabSz="457200"/>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Gaussian</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sp>
        <p:nvSpPr>
          <p:cNvPr id="21519" name="Rectangle 15"/>
          <p:cNvSpPr/>
          <p:nvPr/>
        </p:nvSpPr>
        <p:spPr bwMode="auto">
          <a:xfrm>
            <a:off x="3403600" y="3214688"/>
            <a:ext cx="24177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wrap="none" lIns="0" tIns="0" rIns="40639" bIns="0">
            <a:spAutoFit/>
          </a:bodyPr>
          <a:lstStyle/>
          <a:p>
            <a:pPr marL="40005" algn="ctr" defTabSz="457200"/>
            <a:r>
              <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rPr>
              <a:t>derivative of Gaussian</a:t>
            </a:r>
            <a:endParaRPr lang="en-US">
              <a:solidFill>
                <a:prstClr val="black"/>
              </a:solidFill>
              <a:latin typeface="Arial" panose="020B0604020202090204" pitchFamily="34" charset="0"/>
              <a:ea typeface="MS PGothic" charset="0"/>
              <a:cs typeface="Arial" panose="020B0604020202090204" pitchFamily="34" charset="0"/>
              <a:sym typeface="Arial" panose="020B0604020202090204" pitchFamily="34" charset="0"/>
            </a:endParaRPr>
          </a:p>
        </p:txBody>
      </p:sp>
      <p:pic>
        <p:nvPicPr>
          <p:cNvPr id="21520" name="Picture 1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24338" y="3649663"/>
            <a:ext cx="11874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15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15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Laplacian for Edge Detection</a:t>
            </a:r>
            <a:endParaRPr lang="en-US" dirty="0"/>
          </a:p>
        </p:txBody>
      </p:sp>
      <p:pic>
        <p:nvPicPr>
          <p:cNvPr id="5" name="Picture 4"/>
          <p:cNvPicPr>
            <a:picLocks noChangeAspect="1"/>
          </p:cNvPicPr>
          <p:nvPr/>
        </p:nvPicPr>
        <p:blipFill>
          <a:blip r:embed="rId1"/>
          <a:stretch>
            <a:fillRect/>
          </a:stretch>
        </p:blipFill>
        <p:spPr>
          <a:xfrm>
            <a:off x="838200" y="1478983"/>
            <a:ext cx="7620000" cy="5242492"/>
          </a:xfrm>
          <a:prstGeom prst="rect">
            <a:avLst/>
          </a:prstGeom>
        </p:spPr>
      </p:pic>
      <p:sp>
        <p:nvSpPr>
          <p:cNvPr id="3" name="Slide Number Placeholder 2"/>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a:t>
            </a:r>
            <a:r>
              <a:rPr lang="en-US" dirty="0" err="1"/>
              <a:t>LoG</a:t>
            </a:r>
            <a:r>
              <a:rPr lang="en-US" dirty="0"/>
              <a:t> Function</a:t>
            </a:r>
            <a:endParaRPr lang="en-US" dirty="0"/>
          </a:p>
        </p:txBody>
      </p:sp>
      <p:sp>
        <p:nvSpPr>
          <p:cNvPr id="3" name="Content Placeholder 2"/>
          <p:cNvSpPr>
            <a:spLocks noGrp="1"/>
          </p:cNvSpPr>
          <p:nvPr>
            <p:ph idx="1"/>
          </p:nvPr>
        </p:nvSpPr>
        <p:spPr/>
        <p:txBody>
          <a:bodyPr/>
          <a:lstStyle/>
          <a:p>
            <a:r>
              <a:rPr lang="en-US" dirty="0"/>
              <a:t>The </a:t>
            </a:r>
            <a:r>
              <a:rPr lang="en-US" dirty="0" err="1"/>
              <a:t>LoG</a:t>
            </a:r>
            <a:r>
              <a:rPr lang="en-US" dirty="0"/>
              <a:t> function will be</a:t>
            </a:r>
            <a:endParaRPr lang="en-US" dirty="0"/>
          </a:p>
          <a:p>
            <a:pPr lvl="1"/>
            <a:r>
              <a:rPr lang="en-US" dirty="0"/>
              <a:t>Zero far away from the edge</a:t>
            </a:r>
            <a:endParaRPr lang="en-US" dirty="0"/>
          </a:p>
          <a:p>
            <a:pPr lvl="1"/>
            <a:r>
              <a:rPr lang="en-US" dirty="0"/>
              <a:t>Positive on one side</a:t>
            </a:r>
            <a:endParaRPr lang="en-US" dirty="0"/>
          </a:p>
          <a:p>
            <a:pPr lvl="1"/>
            <a:r>
              <a:rPr lang="en-US" dirty="0"/>
              <a:t>Negative on the other side</a:t>
            </a:r>
            <a:endParaRPr lang="en-US" dirty="0"/>
          </a:p>
          <a:p>
            <a:pPr lvl="1"/>
            <a:r>
              <a:rPr lang="en-US" dirty="0"/>
              <a:t>Zero just at the edge</a:t>
            </a:r>
            <a:endParaRPr lang="en-US" dirty="0"/>
          </a:p>
          <a:p>
            <a:r>
              <a:rPr lang="en-US"/>
              <a:t>Therefore, </a:t>
            </a:r>
            <a:r>
              <a:rPr lang="en-US" dirty="0"/>
              <a:t>it can be used as an edge operator</a:t>
            </a:r>
            <a:endParaRPr lang="en-US" dirty="0"/>
          </a:p>
          <a:p>
            <a:r>
              <a:rPr lang="en-US" dirty="0">
                <a:solidFill>
                  <a:srgbClr val="FF0000"/>
                </a:solidFill>
              </a:rPr>
              <a:t>BUT, is this good enough?</a:t>
            </a:r>
            <a:endParaRPr lang="en-US" dirty="0">
              <a:solidFill>
                <a:srgbClr val="FF0000"/>
              </a:solidFill>
            </a:endParaRPr>
          </a:p>
        </p:txBody>
      </p:sp>
      <p:sp>
        <p:nvSpPr>
          <p:cNvPr id="4" name="Slide Number Placeholder 3"/>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152400"/>
            <a:ext cx="8229600" cy="914400"/>
          </a:xfrm>
        </p:spPr>
        <p:txBody>
          <a:bodyPr/>
          <a:lstStyle/>
          <a:p>
            <a:r>
              <a:rPr lang="en-US" altLang="en-US"/>
              <a:t>Designing an edge detector</a:t>
            </a:r>
            <a:endParaRPr lang="en-US" altLang="en-US"/>
          </a:p>
        </p:txBody>
      </p:sp>
      <p:sp>
        <p:nvSpPr>
          <p:cNvPr id="1098755" name="Rectangle 3"/>
          <p:cNvSpPr>
            <a:spLocks noGrp="1" noChangeArrowheads="1"/>
          </p:cNvSpPr>
          <p:nvPr>
            <p:ph type="body" idx="1"/>
          </p:nvPr>
        </p:nvSpPr>
        <p:spPr>
          <a:xfrm>
            <a:off x="381000" y="1219200"/>
            <a:ext cx="8458200" cy="5257800"/>
          </a:xfrm>
        </p:spPr>
        <p:txBody>
          <a:bodyPr>
            <a:normAutofit fontScale="92500" lnSpcReduction="20000"/>
          </a:bodyPr>
          <a:lstStyle/>
          <a:p>
            <a:pPr>
              <a:buFontTx/>
              <a:buChar char="•"/>
              <a:defRPr/>
            </a:pPr>
            <a:r>
              <a:rPr lang="en-US" dirty="0"/>
              <a:t>Criteria for a good edge detector:</a:t>
            </a:r>
            <a:endParaRPr lang="en-US" dirty="0"/>
          </a:p>
          <a:p>
            <a:pPr lvl="1">
              <a:buFont typeface="Arial" panose="020B0604020202090204" pitchFamily="34" charset="0"/>
              <a:buChar char="–"/>
              <a:defRPr/>
            </a:pPr>
            <a:r>
              <a:rPr lang="en-US" b="1" dirty="0"/>
              <a:t>Good detection:</a:t>
            </a:r>
            <a:r>
              <a:rPr lang="en-US" dirty="0"/>
              <a:t> the optimal detector should find all real edges, ignoring noise or other artifacts</a:t>
            </a:r>
            <a:endParaRPr lang="en-US" dirty="0"/>
          </a:p>
          <a:p>
            <a:pPr lvl="1">
              <a:buFont typeface="Arial" panose="020B0604020202090204" pitchFamily="34" charset="0"/>
              <a:buChar char="–"/>
              <a:defRPr/>
            </a:pPr>
            <a:r>
              <a:rPr lang="en-US" b="1" dirty="0"/>
              <a:t>Good localization</a:t>
            </a:r>
            <a:endParaRPr lang="en-US" b="1" dirty="0"/>
          </a:p>
          <a:p>
            <a:pPr lvl="2">
              <a:buFont typeface="Arial" panose="020B0604020202090204" pitchFamily="34" charset="0"/>
              <a:buChar char="•"/>
              <a:defRPr/>
            </a:pPr>
            <a:r>
              <a:rPr lang="en-US" sz="2800" dirty="0"/>
              <a:t>the edges detected must be as close as possible to the true edges</a:t>
            </a:r>
            <a:endParaRPr lang="en-US" sz="2800" dirty="0"/>
          </a:p>
          <a:p>
            <a:pPr lvl="2">
              <a:buFont typeface="Arial" panose="020B0604020202090204" pitchFamily="34" charset="0"/>
              <a:buChar char="•"/>
              <a:defRPr/>
            </a:pPr>
            <a:r>
              <a:rPr lang="en-US" sz="2800" dirty="0"/>
              <a:t>the detector must return one point only for each true edge point</a:t>
            </a:r>
            <a:endParaRPr lang="en-US" sz="2800" dirty="0"/>
          </a:p>
          <a:p>
            <a:pPr>
              <a:buFont typeface="Arial" panose="020B0604020202090204" pitchFamily="34" charset="0"/>
              <a:buChar char="•"/>
              <a:defRPr/>
            </a:pPr>
            <a:r>
              <a:rPr lang="en-US" sz="3600" dirty="0"/>
              <a:t>Cues of edge detection</a:t>
            </a:r>
            <a:endParaRPr lang="en-US" sz="3600" dirty="0"/>
          </a:p>
          <a:p>
            <a:pPr lvl="1">
              <a:buFont typeface="Arial" panose="020B0604020202090204" pitchFamily="34" charset="0"/>
              <a:buChar char="–"/>
              <a:defRPr/>
            </a:pPr>
            <a:r>
              <a:rPr lang="en-US" dirty="0"/>
              <a:t>Differences in color, intensity, or texture across the boundary</a:t>
            </a:r>
            <a:endParaRPr lang="en-US" dirty="0"/>
          </a:p>
          <a:p>
            <a:pPr lvl="1">
              <a:buFont typeface="Arial" panose="020B0604020202090204" pitchFamily="34" charset="0"/>
              <a:buChar char="–"/>
              <a:defRPr/>
            </a:pPr>
            <a:r>
              <a:rPr lang="en-US" dirty="0"/>
              <a:t>Continuity and closure</a:t>
            </a:r>
            <a:endParaRPr lang="en-US" dirty="0"/>
          </a:p>
          <a:p>
            <a:pPr lvl="1">
              <a:buFont typeface="Arial" panose="020B0604020202090204" pitchFamily="34" charset="0"/>
              <a:buChar char="–"/>
              <a:defRPr/>
            </a:pPr>
            <a:r>
              <a:rPr lang="en-US" dirty="0"/>
              <a:t>High-level knowledge</a:t>
            </a:r>
            <a:endParaRPr lang="en-US" dirty="0"/>
          </a:p>
          <a:p>
            <a:pPr lvl="1">
              <a:buFont typeface="Arial" panose="020B0604020202090204" pitchFamily="34" charset="0"/>
              <a:buChar char="–"/>
              <a:defRPr/>
            </a:pPr>
            <a:endParaRPr lang="en-US" dirty="0"/>
          </a:p>
        </p:txBody>
      </p:sp>
      <p:sp>
        <p:nvSpPr>
          <p:cNvPr id="43012" name="Text Box 5"/>
          <p:cNvSpPr txBox="1">
            <a:spLocks noChangeArrowheads="1"/>
          </p:cNvSpPr>
          <p:nvPr/>
        </p:nvSpPr>
        <p:spPr bwMode="auto">
          <a:xfrm>
            <a:off x="7519988" y="6553200"/>
            <a:ext cx="1592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8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4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0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algn="ctr" fontAlgn="base">
              <a:spcBef>
                <a:spcPct val="0"/>
              </a:spcBef>
              <a:spcAft>
                <a:spcPct val="0"/>
              </a:spcAft>
              <a:buFontTx/>
              <a:buNone/>
            </a:pPr>
            <a:r>
              <a:rPr lang="en-US" altLang="en-US" sz="1400">
                <a:solidFill>
                  <a:prstClr val="black"/>
                </a:solidFill>
                <a:latin typeface="Arial" panose="020B0604020202090204" pitchFamily="34" charset="0"/>
                <a:cs typeface="Arial" panose="020B0604020202090204" pitchFamily="34" charset="0"/>
              </a:rPr>
              <a:t>Source: L. Fei-Fei</a:t>
            </a:r>
            <a:endParaRPr lang="en-US" altLang="en-US" sz="1400">
              <a:solidFill>
                <a:prstClr val="black"/>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87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875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9875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987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9875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9875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9875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987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55" grpId="0" bldLvl="2"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Canny edge detector</a:t>
            </a:r>
            <a:endParaRPr lang="en-US"/>
          </a:p>
        </p:txBody>
      </p:sp>
      <p:sp>
        <p:nvSpPr>
          <p:cNvPr id="19459" name="Rectangle 3"/>
          <p:cNvSpPr>
            <a:spLocks noGrp="1" noChangeArrowheads="1"/>
          </p:cNvSpPr>
          <p:nvPr>
            <p:ph type="body" idx="1"/>
          </p:nvPr>
        </p:nvSpPr>
        <p:spPr>
          <a:xfrm>
            <a:off x="762000" y="1752600"/>
            <a:ext cx="7772400" cy="3886200"/>
          </a:xfrm>
        </p:spPr>
        <p:txBody>
          <a:bodyPr>
            <a:normAutofit/>
          </a:bodyPr>
          <a:lstStyle/>
          <a:p>
            <a:pPr>
              <a:buFontTx/>
              <a:buChar char="•"/>
              <a:defRPr/>
            </a:pPr>
            <a:r>
              <a:rPr lang="en-US" dirty="0"/>
              <a:t>This is probably the most widely used edge detector in computer vision</a:t>
            </a:r>
            <a:endParaRPr lang="en-US" dirty="0"/>
          </a:p>
        </p:txBody>
      </p:sp>
      <p:sp>
        <p:nvSpPr>
          <p:cNvPr id="23556" name="Rectangle 4"/>
          <p:cNvSpPr>
            <a:spLocks noChangeArrowheads="1"/>
          </p:cNvSpPr>
          <p:nvPr/>
        </p:nvSpPr>
        <p:spPr bwMode="auto">
          <a:xfrm>
            <a:off x="457200" y="5532438"/>
            <a:ext cx="8229600" cy="701675"/>
          </a:xfrm>
          <a:prstGeom prst="rect">
            <a:avLst/>
          </a:prstGeom>
          <a:noFill/>
          <a:ln w="9525">
            <a:noFill/>
            <a:miter lim="800000"/>
          </a:ln>
        </p:spPr>
        <p:txBody>
          <a:bodyPr anchor="ctr">
            <a:spAutoFit/>
          </a:bodyPr>
          <a:lstStyle/>
          <a:p>
            <a:pPr defTabSz="457200"/>
            <a:r>
              <a:rPr lang="en-US" sz="2000" dirty="0">
                <a:solidFill>
                  <a:prstClr val="black"/>
                </a:solidFill>
              </a:rPr>
              <a:t>J. Canny, </a:t>
            </a:r>
            <a:r>
              <a:rPr lang="en-US" sz="2000" b="1" i="1" dirty="0">
                <a:solidFill>
                  <a:prstClr val="black"/>
                </a:solidFill>
                <a:hlinkClick r:id="rId1"/>
              </a:rPr>
              <a:t>A Computational Approach To Edge Detection</a:t>
            </a:r>
            <a:r>
              <a:rPr lang="en-US" sz="2000" dirty="0">
                <a:solidFill>
                  <a:prstClr val="black"/>
                </a:solidFill>
              </a:rPr>
              <a:t>, IEEE Trans. Pattern Analysis and Machine Intelligence, 8:679-714, 1986. </a:t>
            </a:r>
            <a:endParaRPr lang="en-US" sz="2000" dirty="0">
              <a:solidFill>
                <a:prstClr val="black"/>
              </a:solidFill>
            </a:endParaRPr>
          </a:p>
        </p:txBody>
      </p:sp>
      <p:sp>
        <p:nvSpPr>
          <p:cNvPr id="23557" name="Text Box 5"/>
          <p:cNvSpPr txBox="1">
            <a:spLocks noChangeArrowheads="1"/>
          </p:cNvSpPr>
          <p:nvPr/>
        </p:nvSpPr>
        <p:spPr bwMode="auto">
          <a:xfrm>
            <a:off x="7519988" y="6553200"/>
            <a:ext cx="1592262" cy="304800"/>
          </a:xfrm>
          <a:prstGeom prst="rect">
            <a:avLst/>
          </a:prstGeom>
          <a:noFill/>
          <a:ln w="9525">
            <a:noFill/>
            <a:miter lim="800000"/>
          </a:ln>
        </p:spPr>
        <p:txBody>
          <a:bodyPr wrap="none">
            <a:spAutoFit/>
          </a:bodyPr>
          <a:lstStyle/>
          <a:p>
            <a:pPr algn="ctr" defTabSz="457200"/>
            <a:r>
              <a:rPr lang="en-US" sz="1400">
                <a:solidFill>
                  <a:prstClr val="black"/>
                </a:solidFill>
              </a:rPr>
              <a:t>Source: L. Fei-Fei</a:t>
            </a:r>
            <a:endParaRPr lang="en-US" sz="1400">
              <a:solidFill>
                <a:prstClr val="black"/>
              </a:solidFill>
            </a:endParaRPr>
          </a:p>
        </p:txBody>
      </p:sp>
      <p:sp>
        <p:nvSpPr>
          <p:cNvPr id="2" name="Slide Number Placeholder 1"/>
          <p:cNvSpPr>
            <a:spLocks noGrp="1"/>
          </p:cNvSpPr>
          <p:nvPr>
            <p:ph type="sldNum" sz="quarter" idx="12"/>
          </p:nvPr>
        </p:nvSpPr>
        <p:spPr/>
        <p:txBody>
          <a:bodyPr/>
          <a:lstStyle/>
          <a:p>
            <a:fld id="{79F1D11F-BC38-B14D-812C-5420C814BEF5}"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Example</a:t>
            </a:r>
            <a:endParaRPr lang="en-US"/>
          </a:p>
        </p:txBody>
      </p:sp>
      <p:sp>
        <p:nvSpPr>
          <p:cNvPr id="21507" name="Rectangle 3"/>
          <p:cNvSpPr>
            <a:spLocks noGrp="1" noChangeArrowheads="1"/>
          </p:cNvSpPr>
          <p:nvPr>
            <p:ph type="body" idx="1"/>
          </p:nvPr>
        </p:nvSpPr>
        <p:spPr>
          <a:xfrm>
            <a:off x="685800" y="5791200"/>
            <a:ext cx="7772400" cy="609600"/>
          </a:xfrm>
        </p:spPr>
        <p:txBody>
          <a:bodyPr/>
          <a:lstStyle/>
          <a:p>
            <a:pPr algn="ctr"/>
            <a:r>
              <a:rPr lang="en-US"/>
              <a:t>original image (Lena)</a:t>
            </a:r>
            <a:endParaRPr lang="en-US"/>
          </a:p>
        </p:txBody>
      </p:sp>
      <p:pic>
        <p:nvPicPr>
          <p:cNvPr id="21508" name="Picture 4" descr="lena"/>
          <p:cNvPicPr>
            <a:picLocks noChangeAspect="1" noChangeArrowheads="1"/>
          </p:cNvPicPr>
          <p:nvPr/>
        </p:nvPicPr>
        <p:blipFill>
          <a:blip r:embed="rId1" cstate="print"/>
          <a:srcRect/>
          <a:stretch>
            <a:fillRect/>
          </a:stretch>
        </p:blipFill>
        <p:spPr bwMode="auto">
          <a:xfrm>
            <a:off x="2514600" y="1250950"/>
            <a:ext cx="4387850" cy="438785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76200"/>
            <a:ext cx="8229600" cy="1143000"/>
          </a:xfrm>
        </p:spPr>
        <p:txBody>
          <a:bodyPr/>
          <a:lstStyle/>
          <a:p>
            <a:r>
              <a:rPr lang="en-US" dirty="0"/>
              <a:t>Finding edges</a:t>
            </a:r>
            <a:endParaRPr lang="en-US" dirty="0"/>
          </a:p>
        </p:txBody>
      </p:sp>
      <p:pic>
        <p:nvPicPr>
          <p:cNvPr id="22531" name="Picture 3" descr="canny3"/>
          <p:cNvPicPr>
            <a:picLocks noChangeAspect="1" noChangeArrowheads="1"/>
          </p:cNvPicPr>
          <p:nvPr/>
        </p:nvPicPr>
        <p:blipFill>
          <a:blip r:embed="rId1" cstate="print"/>
          <a:srcRect/>
          <a:stretch>
            <a:fillRect/>
          </a:stretch>
        </p:blipFill>
        <p:spPr bwMode="auto">
          <a:xfrm>
            <a:off x="2514600" y="1250950"/>
            <a:ext cx="4387850" cy="4387850"/>
          </a:xfrm>
          <a:prstGeom prst="rect">
            <a:avLst/>
          </a:prstGeom>
          <a:noFill/>
          <a:ln w="9525">
            <a:noFill/>
            <a:miter lim="800000"/>
            <a:headEnd/>
            <a:tailEnd/>
          </a:ln>
        </p:spPr>
      </p:pic>
      <p:sp>
        <p:nvSpPr>
          <p:cNvPr id="22532" name="Rectangle 4"/>
          <p:cNvSpPr>
            <a:spLocks noChangeArrowheads="1"/>
          </p:cNvSpPr>
          <p:nvPr/>
        </p:nvSpPr>
        <p:spPr bwMode="auto">
          <a:xfrm>
            <a:off x="685800" y="5791200"/>
            <a:ext cx="7772400" cy="609600"/>
          </a:xfrm>
          <a:prstGeom prst="rect">
            <a:avLst/>
          </a:prstGeom>
          <a:noFill/>
          <a:ln w="9525">
            <a:noFill/>
            <a:miter lim="800000"/>
          </a:ln>
        </p:spPr>
        <p:txBody>
          <a:bodyPr/>
          <a:lstStyle/>
          <a:p>
            <a:pPr marL="342900" indent="-342900" algn="ctr">
              <a:spcBef>
                <a:spcPct val="20000"/>
              </a:spcBef>
            </a:pPr>
            <a:r>
              <a:rPr lang="en-US" sz="2800" dirty="0"/>
              <a:t>gradient magnitude</a:t>
            </a:r>
            <a:endParaRPr lang="en-US" sz="2800" dirty="0"/>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descr="canny4"/>
          <p:cNvPicPr>
            <a:picLocks noChangeAspect="1" noChangeArrowheads="1"/>
          </p:cNvPicPr>
          <p:nvPr/>
        </p:nvPicPr>
        <p:blipFill>
          <a:blip r:embed="rId1" cstate="print"/>
          <a:srcRect/>
          <a:stretch>
            <a:fillRect/>
          </a:stretch>
        </p:blipFill>
        <p:spPr bwMode="auto">
          <a:xfrm>
            <a:off x="2514600" y="1252538"/>
            <a:ext cx="4387850" cy="4387850"/>
          </a:xfrm>
          <a:prstGeom prst="rect">
            <a:avLst/>
          </a:prstGeom>
          <a:noFill/>
          <a:ln w="9525">
            <a:noFill/>
            <a:miter lim="800000"/>
            <a:headEnd/>
            <a:tailEnd/>
          </a:ln>
        </p:spPr>
      </p:pic>
      <p:sp>
        <p:nvSpPr>
          <p:cNvPr id="23556" name="Rectangle 4"/>
          <p:cNvSpPr>
            <a:spLocks noChangeArrowheads="1"/>
          </p:cNvSpPr>
          <p:nvPr/>
        </p:nvSpPr>
        <p:spPr bwMode="auto">
          <a:xfrm>
            <a:off x="685800" y="5791200"/>
            <a:ext cx="7772400" cy="609600"/>
          </a:xfrm>
          <a:prstGeom prst="rect">
            <a:avLst/>
          </a:prstGeom>
          <a:noFill/>
          <a:ln w="9525">
            <a:noFill/>
            <a:miter lim="800000"/>
          </a:ln>
        </p:spPr>
        <p:txBody>
          <a:bodyPr/>
          <a:lstStyle/>
          <a:p>
            <a:pPr marL="342900" indent="-342900" algn="ctr">
              <a:spcBef>
                <a:spcPct val="20000"/>
              </a:spcBef>
            </a:pPr>
            <a:r>
              <a:rPr lang="en-US" sz="2800"/>
              <a:t>thresholding</a:t>
            </a:r>
            <a:endParaRPr lang="en-US" sz="2800"/>
          </a:p>
        </p:txBody>
      </p:sp>
      <p:sp>
        <p:nvSpPr>
          <p:cNvPr id="6" name="Rectangle 2"/>
          <p:cNvSpPr txBox="1">
            <a:spLocks noChangeArrowheads="1"/>
          </p:cNvSpPr>
          <p:nvPr/>
        </p:nvSpPr>
        <p:spPr>
          <a:xfrm>
            <a:off x="457200" y="762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a:ln>
                  <a:noFill/>
                </a:ln>
                <a:solidFill>
                  <a:schemeClr val="tx1"/>
                </a:solidFill>
                <a:effectLst/>
                <a:uLnTx/>
                <a:uFillTx/>
                <a:latin typeface="+mj-lt"/>
                <a:ea typeface="+mj-ea"/>
                <a:cs typeface="+mj-cs"/>
              </a:rPr>
              <a:t>Finding edges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pic>
        <p:nvPicPr>
          <p:cNvPr id="91138" name="Picture 2"/>
          <p:cNvPicPr>
            <a:picLocks noChangeAspect="1" noChangeArrowheads="1"/>
          </p:cNvPicPr>
          <p:nvPr/>
        </p:nvPicPr>
        <p:blipFill>
          <a:blip r:embed="rId2" cstate="print"/>
          <a:srcRect/>
          <a:stretch>
            <a:fillRect/>
          </a:stretch>
        </p:blipFill>
        <p:spPr bwMode="auto">
          <a:xfrm>
            <a:off x="7391400" y="1219200"/>
            <a:ext cx="1323976" cy="1337532"/>
          </a:xfrm>
          <a:prstGeom prst="rect">
            <a:avLst/>
          </a:prstGeom>
          <a:noFill/>
          <a:ln w="25400">
            <a:solidFill>
              <a:srgbClr val="FF0000"/>
            </a:solidFill>
            <a:miter lim="800000"/>
            <a:headEnd/>
            <a:tailEnd/>
          </a:ln>
          <a:effectLst>
            <a:outerShdw blurRad="50800" dist="38100" dir="2700000" algn="tl" rotWithShape="0">
              <a:prstClr val="black">
                <a:alpha val="40000"/>
              </a:prstClr>
            </a:outerShdw>
          </a:effectLst>
        </p:spPr>
      </p:pic>
      <p:sp>
        <p:nvSpPr>
          <p:cNvPr id="8" name="Rectangle 7"/>
          <p:cNvSpPr/>
          <p:nvPr/>
        </p:nvSpPr>
        <p:spPr>
          <a:xfrm>
            <a:off x="5943600" y="2438400"/>
            <a:ext cx="2286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flipV="1">
            <a:off x="6172200" y="2558143"/>
            <a:ext cx="2525486" cy="10885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5943600" y="1219200"/>
            <a:ext cx="1447800" cy="12192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086595" y="2666988"/>
            <a:ext cx="1962268" cy="369332"/>
          </a:xfrm>
          <a:prstGeom prst="rect">
            <a:avLst/>
          </a:prstGeom>
          <a:noFill/>
        </p:spPr>
        <p:txBody>
          <a:bodyPr wrap="none" rtlCol="0">
            <a:spAutoFit/>
          </a:bodyPr>
          <a:lstStyle/>
          <a:p>
            <a:r>
              <a:rPr lang="en-US" dirty="0"/>
              <a:t>where is the edge?</a:t>
            </a:r>
            <a:endParaRPr lang="en-US" dirty="0"/>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138"/>
                                        </p:tgtEl>
                                        <p:attrNameLst>
                                          <p:attrName>style.visibility</p:attrName>
                                        </p:attrNameLst>
                                      </p:cBhvr>
                                      <p:to>
                                        <p:strVal val="visible"/>
                                      </p:to>
                                    </p:set>
                                    <p:animEffect transition="in" filter="fade">
                                      <p:cBhvr>
                                        <p:cTn id="7" dur="500"/>
                                        <p:tgtEl>
                                          <p:spTgt spid="911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0"/>
            <a:ext cx="8229600" cy="914400"/>
          </a:xfrm>
        </p:spPr>
        <p:txBody>
          <a:bodyPr/>
          <a:lstStyle/>
          <a:p>
            <a:r>
              <a:rPr lang="en-US" dirty="0">
                <a:latin typeface="Calibri" panose="020F0502020204030204" pitchFamily="34" charset="0"/>
              </a:rPr>
              <a:t>Get Orientation at Each Pixel</a:t>
            </a:r>
            <a:endParaRPr lang="en-US" dirty="0">
              <a:latin typeface="Calibri" panose="020F0502020204030204" pitchFamily="34" charset="0"/>
            </a:endParaRPr>
          </a:p>
        </p:txBody>
      </p:sp>
      <p:sp>
        <p:nvSpPr>
          <p:cNvPr id="50179" name="Content Placeholder 2"/>
          <p:cNvSpPr>
            <a:spLocks noGrp="1"/>
          </p:cNvSpPr>
          <p:nvPr>
            <p:ph idx="1"/>
          </p:nvPr>
        </p:nvSpPr>
        <p:spPr>
          <a:xfrm>
            <a:off x="152400" y="1066800"/>
            <a:ext cx="8229600" cy="4525963"/>
          </a:xfrm>
        </p:spPr>
        <p:txBody>
          <a:bodyPr/>
          <a:lstStyle/>
          <a:p>
            <a:endParaRPr lang="en-US" sz="2400" dirty="0">
              <a:latin typeface="Calibri" panose="020F0502020204030204" pitchFamily="34" charset="0"/>
            </a:endParaRPr>
          </a:p>
        </p:txBody>
      </p:sp>
      <p:pic>
        <p:nvPicPr>
          <p:cNvPr id="50180" name="Picture 2" descr="C:\Documents and Settings\Derek Hoiem\My Documents\Classes\Spring10 - Computer Vision\figs\7\lena_edge_dir.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238695"/>
            <a:ext cx="4876800" cy="4876800"/>
          </a:xfrm>
          <a:prstGeom prst="rect">
            <a:avLst/>
          </a:prstGeom>
          <a:noFill/>
          <a:ln>
            <a:noFill/>
          </a:ln>
        </p:spPr>
      </p:pic>
      <p:sp>
        <p:nvSpPr>
          <p:cNvPr id="50181" name="TextBox 8"/>
          <p:cNvSpPr txBox="1">
            <a:spLocks noChangeArrowheads="1"/>
          </p:cNvSpPr>
          <p:nvPr/>
        </p:nvSpPr>
        <p:spPr bwMode="auto">
          <a:xfrm>
            <a:off x="5791200" y="2057400"/>
            <a:ext cx="2992438" cy="461963"/>
          </a:xfrm>
          <a:prstGeom prst="rect">
            <a:avLst/>
          </a:prstGeom>
          <a:noFill/>
          <a:ln>
            <a:noFill/>
          </a:ln>
        </p:spPr>
        <p:txBody>
          <a:bodyPr wrap="none">
            <a:spAutoFit/>
          </a:bodyPr>
          <a:lstStyle>
            <a:lvl1pPr>
              <a:defRPr sz="2800">
                <a:solidFill>
                  <a:schemeClr val="tx1"/>
                </a:solidFill>
                <a:latin typeface="Calibri" panose="020F0502020204030204" pitchFamily="34" charset="0"/>
                <a:ea typeface="MS PGothic" charset="0"/>
              </a:defRPr>
            </a:lvl1pPr>
            <a:lvl2pPr>
              <a:defRPr sz="2400">
                <a:solidFill>
                  <a:schemeClr val="tx1"/>
                </a:solidFill>
                <a:latin typeface="Calibri" panose="020F0502020204030204" pitchFamily="34" charset="0"/>
                <a:ea typeface="MS PGothic" charset="0"/>
              </a:defRPr>
            </a:lvl2pPr>
            <a:lvl3pPr>
              <a:defRPr sz="2000">
                <a:solidFill>
                  <a:schemeClr val="tx1"/>
                </a:solidFill>
                <a:latin typeface="Calibri" panose="020F0502020204030204" pitchFamily="34" charset="0"/>
                <a:ea typeface="MS PGothic" charset="0"/>
              </a:defRPr>
            </a:lvl3pPr>
            <a:lvl4pPr>
              <a:defRPr sz="2000">
                <a:solidFill>
                  <a:schemeClr val="tx1"/>
                </a:solidFill>
                <a:latin typeface="Calibri" panose="020F0502020204030204" pitchFamily="34" charset="0"/>
                <a:ea typeface="MS PGothic" charset="0"/>
              </a:defRPr>
            </a:lvl4pPr>
            <a:lvl5pPr>
              <a:defRPr sz="2000">
                <a:solidFill>
                  <a:schemeClr val="tx1"/>
                </a:solidFill>
                <a:latin typeface="Calibri" panose="020F0502020204030204" pitchFamily="34" charset="0"/>
                <a:ea typeface="MS PGothic" charset="0"/>
              </a:defRPr>
            </a:lvl5pPr>
            <a:lvl6pPr eaLnBrk="0" fontAlgn="base" hangingPunct="0">
              <a:spcAft>
                <a:spcPct val="0"/>
              </a:spcAft>
              <a:buFont typeface="Arial" panose="020B0604020202090204" pitchFamily="34" charset="0"/>
              <a:buChar char="»"/>
              <a:defRPr sz="2000">
                <a:solidFill>
                  <a:schemeClr val="tx1"/>
                </a:solidFill>
                <a:latin typeface="Calibri" panose="020F0502020204030204" pitchFamily="34" charset="0"/>
                <a:ea typeface="MS PGothic" charset="0"/>
              </a:defRPr>
            </a:lvl6pPr>
            <a:lvl7pPr eaLnBrk="0" fontAlgn="base" hangingPunct="0">
              <a:spcAft>
                <a:spcPct val="0"/>
              </a:spcAft>
              <a:buFont typeface="Arial" panose="020B0604020202090204" pitchFamily="34" charset="0"/>
              <a:buChar char="»"/>
              <a:defRPr sz="2000">
                <a:solidFill>
                  <a:schemeClr val="tx1"/>
                </a:solidFill>
                <a:latin typeface="Calibri" panose="020F0502020204030204" pitchFamily="34" charset="0"/>
                <a:ea typeface="MS PGothic" charset="0"/>
              </a:defRPr>
            </a:lvl7pPr>
            <a:lvl8pPr eaLnBrk="0" fontAlgn="base" hangingPunct="0">
              <a:spcAft>
                <a:spcPct val="0"/>
              </a:spcAft>
              <a:buFont typeface="Arial" panose="020B0604020202090204" pitchFamily="34" charset="0"/>
              <a:buChar char="»"/>
              <a:defRPr sz="2000">
                <a:solidFill>
                  <a:schemeClr val="tx1"/>
                </a:solidFill>
                <a:latin typeface="Calibri" panose="020F0502020204030204" pitchFamily="34" charset="0"/>
                <a:ea typeface="MS PGothic" charset="0"/>
              </a:defRPr>
            </a:lvl8pPr>
            <a:lvl9pPr eaLnBrk="0" fontAlgn="base" hangingPunct="0">
              <a:spcAft>
                <a:spcPct val="0"/>
              </a:spcAft>
              <a:buFont typeface="Arial" panose="020B0604020202090204" pitchFamily="34" charset="0"/>
              <a:buChar char="»"/>
              <a:defRPr sz="2000">
                <a:solidFill>
                  <a:schemeClr val="tx1"/>
                </a:solidFill>
                <a:latin typeface="Calibri" panose="020F0502020204030204" pitchFamily="34" charset="0"/>
                <a:ea typeface="MS PGothic" charset="0"/>
              </a:defRPr>
            </a:lvl9pPr>
          </a:lstStyle>
          <a:p>
            <a:pPr eaLnBrk="1" hangingPunct="1"/>
            <a:r>
              <a:rPr lang="en-US" sz="2400">
                <a:latin typeface="Arial" panose="020B0604020202090204" pitchFamily="34" charset="0"/>
              </a:rPr>
              <a:t>theta = atan2(gy, gx)</a:t>
            </a:r>
            <a:endParaRPr lang="en-US" sz="2400">
              <a:latin typeface="Arial" panose="020B0604020202090204" pitchFamily="34" charset="0"/>
            </a:endParaRPr>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Line 1"/>
          <p:cNvSpPr>
            <a:spLocks noChangeShapeType="1"/>
          </p:cNvSpPr>
          <p:nvPr/>
        </p:nvSpPr>
        <p:spPr bwMode="auto">
          <a:xfrm>
            <a:off x="685800" y="838200"/>
            <a:ext cx="7772400" cy="1588"/>
          </a:xfrm>
          <a:prstGeom prst="line">
            <a:avLst/>
          </a:prstGeom>
          <a:noFill/>
          <a:ln w="38100" cap="flat">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1746" name="Rectangle 2"/>
          <p:cNvSpPr>
            <a:spLocks noGrp="1" noChangeArrowheads="1"/>
          </p:cNvSpPr>
          <p:nvPr>
            <p:ph type="title"/>
          </p:nvPr>
        </p:nvSpPr>
        <p:spPr>
          <a:xfrm>
            <a:off x="685800" y="0"/>
            <a:ext cx="7772400" cy="990600"/>
          </a:xfrm>
        </p:spPr>
        <p:txBody>
          <a:bodyPr rIns="132080"/>
          <a:lstStyle/>
          <a:p>
            <a:r>
              <a:rPr lang="en-US" dirty="0"/>
              <a:t>Non-maximum suppression</a:t>
            </a:r>
            <a:endParaRPr lang="en-US" dirty="0"/>
          </a:p>
        </p:txBody>
      </p:sp>
      <p:sp>
        <p:nvSpPr>
          <p:cNvPr id="31747" name="Rectangle 3"/>
          <p:cNvSpPr>
            <a:spLocks noGrp="1" noChangeArrowheads="1"/>
          </p:cNvSpPr>
          <p:nvPr>
            <p:ph type="body" idx="1"/>
          </p:nvPr>
        </p:nvSpPr>
        <p:spPr>
          <a:xfrm>
            <a:off x="685800" y="4812541"/>
            <a:ext cx="7772400" cy="1828800"/>
          </a:xfrm>
        </p:spPr>
        <p:txBody>
          <a:bodyPr rIns="132080"/>
          <a:lstStyle/>
          <a:p>
            <a:pPr marL="382905" indent="-342900"/>
            <a:r>
              <a:rPr lang="en-US" dirty="0"/>
              <a:t>Check if pixel is local maximum along gradient direction</a:t>
            </a:r>
            <a:endParaRPr lang="en-US" dirty="0"/>
          </a:p>
        </p:txBody>
      </p:sp>
      <p:pic>
        <p:nvPicPr>
          <p:cNvPr id="31748" name="Picture 4"/>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1295400"/>
            <a:ext cx="3200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7259763" y="6511080"/>
            <a:ext cx="1800493" cy="276999"/>
          </a:xfrm>
          <a:prstGeom prst="rect">
            <a:avLst/>
          </a:prstGeom>
        </p:spPr>
        <p:txBody>
          <a:bodyPr wrap="none">
            <a:spAutoFit/>
          </a:bodyPr>
          <a:lstStyle/>
          <a:p>
            <a:r>
              <a:rPr lang="en-US" sz="1200" dirty="0">
                <a:solidFill>
                  <a:schemeClr val="bg1">
                    <a:lumMod val="65000"/>
                  </a:schemeClr>
                </a:solidFill>
              </a:rPr>
              <a:t>Picture from </a:t>
            </a:r>
            <a:r>
              <a:rPr lang="en-US" sz="1200" dirty="0" err="1">
                <a:solidFill>
                  <a:schemeClr val="bg1">
                    <a:lumMod val="65000"/>
                  </a:schemeClr>
                </a:solidFill>
              </a:rPr>
              <a:t>Prem</a:t>
            </a:r>
            <a:r>
              <a:rPr lang="en-US" sz="1200" dirty="0">
                <a:solidFill>
                  <a:schemeClr val="bg1">
                    <a:lumMod val="65000"/>
                  </a:schemeClr>
                </a:solidFill>
              </a:rPr>
              <a:t> K </a:t>
            </a:r>
            <a:r>
              <a:rPr lang="en-US" sz="1200" dirty="0" err="1">
                <a:solidFill>
                  <a:schemeClr val="bg1">
                    <a:lumMod val="65000"/>
                  </a:schemeClr>
                </a:solidFill>
              </a:rPr>
              <a:t>Kalra</a:t>
            </a:r>
            <a:endParaRPr lang="en-US" sz="1200" dirty="0">
              <a:solidFill>
                <a:schemeClr val="bg1">
                  <a:lumMod val="65000"/>
                </a:schemeClr>
              </a:solidFill>
            </a:endParaRPr>
          </a:p>
        </p:txBody>
      </p:sp>
      <p:sp>
        <p:nvSpPr>
          <p:cNvPr id="4" name="Slide Number Placeholder 3"/>
          <p:cNvSpPr>
            <a:spLocks noGrp="1"/>
          </p:cNvSpPr>
          <p:nvPr>
            <p:ph type="sldNum" sz="quarter" idx="12"/>
          </p:nvPr>
        </p:nvSpPr>
        <p:spPr/>
        <p:txBody>
          <a:bodyPr/>
          <a:lstStyle/>
          <a:p>
            <a:fld id="{79F1D11F-BC38-B14D-812C-5420C814BEF5}" type="slidenum">
              <a:rPr lang="en-US" smtClean="0"/>
            </a:fld>
            <a:endParaRPr lang="en-US"/>
          </a:p>
        </p:txBody>
      </p:sp>
      <p:sp>
        <p:nvSpPr>
          <p:cNvPr id="5" name="Rectangle 4"/>
          <p:cNvSpPr/>
          <p:nvPr/>
        </p:nvSpPr>
        <p:spPr>
          <a:xfrm>
            <a:off x="4419600" y="1600200"/>
            <a:ext cx="4572000" cy="3447098"/>
          </a:xfrm>
          <a:prstGeom prst="rect">
            <a:avLst/>
          </a:prstGeom>
        </p:spPr>
        <p:txBody>
          <a:bodyPr>
            <a:spAutoFit/>
          </a:bodyPr>
          <a:lstStyle/>
          <a:p>
            <a:pPr>
              <a:buFont typeface="+mj-lt"/>
              <a:buAutoNum type="arabicPeriod"/>
            </a:pPr>
            <a:r>
              <a:rPr lang="en-US" sz="2200" dirty="0"/>
              <a:t> Perform</a:t>
            </a:r>
            <a:r>
              <a:rPr lang="en-US" altLang="zh-CN" sz="2200" dirty="0"/>
              <a:t> comparisons on</a:t>
            </a:r>
            <a:r>
              <a:rPr lang="en-US" sz="2200" dirty="0"/>
              <a:t> the edge strength of the current pixel with the edge strength of the pixel in the positive and negative gradient directions.</a:t>
            </a:r>
            <a:endParaRPr lang="en-US" sz="2200" dirty="0"/>
          </a:p>
          <a:p>
            <a:pPr>
              <a:buFont typeface="+mj-lt"/>
              <a:buAutoNum type="arabicPeriod"/>
            </a:pPr>
            <a:r>
              <a:rPr lang="en-US" sz="2200" dirty="0"/>
              <a:t> Preserve the largest and suppress the others.  </a:t>
            </a:r>
            <a:endParaRPr lang="en-US" sz="2200" dirty="0"/>
          </a:p>
          <a:p>
            <a:br>
              <a:rPr lang="en-US" sz="3200" dirty="0"/>
            </a:br>
            <a:endParaRPr lang="en-US" sz="32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3174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descr="C:\Documents and Settings\Derek Hoiem\My Documents\Classes\Spring10 - Computer Vision\figs\7\lena_gmag.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1981200"/>
            <a:ext cx="4876800" cy="4876800"/>
          </a:xfrm>
          <a:prstGeom prst="rect">
            <a:avLst/>
          </a:prstGeom>
          <a:noFill/>
          <a:ln>
            <a:noFill/>
          </a:ln>
        </p:spPr>
      </p:pic>
      <p:sp>
        <p:nvSpPr>
          <p:cNvPr id="59395" name="Title 1"/>
          <p:cNvSpPr>
            <a:spLocks noGrp="1"/>
          </p:cNvSpPr>
          <p:nvPr>
            <p:ph type="title"/>
          </p:nvPr>
        </p:nvSpPr>
        <p:spPr/>
        <p:txBody>
          <a:bodyPr/>
          <a:lstStyle/>
          <a:p>
            <a:r>
              <a:rPr lang="en-US" dirty="0">
                <a:latin typeface="Calibri" panose="020F0502020204030204" pitchFamily="34" charset="0"/>
              </a:rPr>
              <a:t>Before Non-max Suppression</a:t>
            </a:r>
            <a:endParaRPr lang="en-US" dirty="0">
              <a:latin typeface="Calibri" panose="020F0502020204030204" pitchFamily="34" charset="0"/>
            </a:endParaRPr>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9" name="Picture 2" descr="C:\Documents and Settings\Derek Hoiem\My Documents\Classes\Spring10 - Computer Vision\figs\7\lena_grad_thin.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1981200"/>
            <a:ext cx="4876800" cy="4876800"/>
          </a:xfrm>
          <a:prstGeom prst="rect">
            <a:avLst/>
          </a:prstGeom>
          <a:noFill/>
          <a:ln>
            <a:noFill/>
          </a:ln>
        </p:spPr>
      </p:pic>
      <p:sp>
        <p:nvSpPr>
          <p:cNvPr id="2" name="Title 1"/>
          <p:cNvSpPr>
            <a:spLocks noGrp="1"/>
          </p:cNvSpPr>
          <p:nvPr>
            <p:ph type="title"/>
          </p:nvPr>
        </p:nvSpPr>
        <p:spPr/>
        <p:txBody>
          <a:bodyPr/>
          <a:lstStyle/>
          <a:p>
            <a:r>
              <a:rPr lang="en-US" dirty="0"/>
              <a:t>After Non-max Suppression</a:t>
            </a:r>
            <a:endParaRPr lang="en-US" dirty="0"/>
          </a:p>
        </p:txBody>
      </p:sp>
      <p:sp>
        <p:nvSpPr>
          <p:cNvPr id="3" name="Slide Number Placeholder 2"/>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descr="canny4"/>
          <p:cNvPicPr>
            <a:picLocks noChangeAspect="1" noChangeArrowheads="1"/>
          </p:cNvPicPr>
          <p:nvPr/>
        </p:nvPicPr>
        <p:blipFill>
          <a:blip r:embed="rId1" cstate="print"/>
          <a:srcRect/>
          <a:stretch>
            <a:fillRect/>
          </a:stretch>
        </p:blipFill>
        <p:spPr bwMode="auto">
          <a:xfrm>
            <a:off x="2514600" y="1252538"/>
            <a:ext cx="4387850" cy="4387850"/>
          </a:xfrm>
          <a:prstGeom prst="rect">
            <a:avLst/>
          </a:prstGeom>
          <a:noFill/>
          <a:ln w="9525">
            <a:noFill/>
            <a:miter lim="800000"/>
            <a:headEnd/>
            <a:tailEnd/>
          </a:ln>
        </p:spPr>
      </p:pic>
      <p:sp>
        <p:nvSpPr>
          <p:cNvPr id="23556" name="Rectangle 4"/>
          <p:cNvSpPr>
            <a:spLocks noChangeArrowheads="1"/>
          </p:cNvSpPr>
          <p:nvPr/>
        </p:nvSpPr>
        <p:spPr bwMode="auto">
          <a:xfrm>
            <a:off x="685800" y="5791200"/>
            <a:ext cx="7772400" cy="609600"/>
          </a:xfrm>
          <a:prstGeom prst="rect">
            <a:avLst/>
          </a:prstGeom>
          <a:noFill/>
          <a:ln w="9525">
            <a:noFill/>
            <a:miter lim="800000"/>
          </a:ln>
        </p:spPr>
        <p:txBody>
          <a:bodyPr/>
          <a:lstStyle/>
          <a:p>
            <a:pPr marL="342900" indent="-342900" algn="ctr">
              <a:spcBef>
                <a:spcPct val="20000"/>
              </a:spcBef>
            </a:pPr>
            <a:r>
              <a:rPr lang="en-US" sz="2800"/>
              <a:t>thresholding</a:t>
            </a:r>
            <a:endParaRPr lang="en-US" sz="2800"/>
          </a:p>
        </p:txBody>
      </p:sp>
      <p:sp>
        <p:nvSpPr>
          <p:cNvPr id="6" name="Rectangle 2"/>
          <p:cNvSpPr txBox="1">
            <a:spLocks noChangeArrowheads="1"/>
          </p:cNvSpPr>
          <p:nvPr/>
        </p:nvSpPr>
        <p:spPr>
          <a:xfrm>
            <a:off x="457200" y="762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a:ln>
                  <a:noFill/>
                </a:ln>
                <a:solidFill>
                  <a:schemeClr val="tx1"/>
                </a:solidFill>
                <a:effectLst/>
                <a:uLnTx/>
                <a:uFillTx/>
                <a:latin typeface="+mj-lt"/>
                <a:ea typeface="+mj-ea"/>
                <a:cs typeface="+mj-cs"/>
              </a:rPr>
              <a:t>Finding edges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anny5"/>
          <p:cNvPicPr>
            <a:picLocks noChangeAspect="1" noChangeArrowheads="1"/>
          </p:cNvPicPr>
          <p:nvPr/>
        </p:nvPicPr>
        <p:blipFill>
          <a:blip r:embed="rId1" cstate="print"/>
          <a:srcRect/>
          <a:stretch>
            <a:fillRect/>
          </a:stretch>
        </p:blipFill>
        <p:spPr bwMode="auto">
          <a:xfrm>
            <a:off x="2514600" y="1252538"/>
            <a:ext cx="4387850" cy="4387850"/>
          </a:xfrm>
          <a:prstGeom prst="rect">
            <a:avLst/>
          </a:prstGeom>
          <a:noFill/>
          <a:ln w="9525">
            <a:noFill/>
            <a:miter lim="800000"/>
            <a:headEnd/>
            <a:tailEnd/>
          </a:ln>
        </p:spPr>
      </p:pic>
      <p:sp>
        <p:nvSpPr>
          <p:cNvPr id="24580" name="Rectangle 4"/>
          <p:cNvSpPr>
            <a:spLocks noChangeArrowheads="1"/>
          </p:cNvSpPr>
          <p:nvPr/>
        </p:nvSpPr>
        <p:spPr bwMode="auto">
          <a:xfrm>
            <a:off x="685800" y="5791200"/>
            <a:ext cx="7772400" cy="609600"/>
          </a:xfrm>
          <a:prstGeom prst="rect">
            <a:avLst/>
          </a:prstGeom>
          <a:noFill/>
          <a:ln w="9525">
            <a:noFill/>
            <a:miter lim="800000"/>
          </a:ln>
        </p:spPr>
        <p:txBody>
          <a:bodyPr/>
          <a:lstStyle/>
          <a:p>
            <a:pPr marL="342900" indent="-342900" algn="ctr">
              <a:spcBef>
                <a:spcPct val="20000"/>
              </a:spcBef>
            </a:pPr>
            <a:r>
              <a:rPr lang="en-US" sz="2800"/>
              <a:t>thinning</a:t>
            </a:r>
            <a:endParaRPr lang="en-US" sz="2800"/>
          </a:p>
          <a:p>
            <a:pPr marL="342900" indent="-342900" algn="ctr">
              <a:spcBef>
                <a:spcPct val="20000"/>
              </a:spcBef>
            </a:pPr>
            <a:r>
              <a:rPr lang="en-US" sz="2000"/>
              <a:t>(non-maximum suppression)</a:t>
            </a:r>
            <a:endParaRPr lang="en-US" sz="2000"/>
          </a:p>
        </p:txBody>
      </p:sp>
      <p:sp>
        <p:nvSpPr>
          <p:cNvPr id="6" name="Rectangle 2"/>
          <p:cNvSpPr txBox="1">
            <a:spLocks noChangeArrowheads="1"/>
          </p:cNvSpPr>
          <p:nvPr/>
        </p:nvSpPr>
        <p:spPr>
          <a:xfrm>
            <a:off x="457200" y="7620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0" normalizeH="0" baseline="0" noProof="0" dirty="0">
                <a:ln>
                  <a:noFill/>
                </a:ln>
                <a:solidFill>
                  <a:schemeClr val="tx1"/>
                </a:solidFill>
                <a:effectLst/>
                <a:uLnTx/>
                <a:uFillTx/>
                <a:latin typeface="+mj-lt"/>
                <a:ea typeface="+mj-ea"/>
                <a:cs typeface="+mj-cs"/>
              </a:rPr>
              <a:t>Finding edges</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Canny edge detector</a:t>
            </a:r>
            <a:endParaRPr lang="en-US"/>
          </a:p>
        </p:txBody>
      </p:sp>
      <p:sp>
        <p:nvSpPr>
          <p:cNvPr id="1102851" name="Rectangle 3"/>
          <p:cNvSpPr>
            <a:spLocks noGrp="1" noChangeArrowheads="1"/>
          </p:cNvSpPr>
          <p:nvPr>
            <p:ph type="body" idx="1"/>
          </p:nvPr>
        </p:nvSpPr>
        <p:spPr>
          <a:xfrm>
            <a:off x="1992086" y="1600200"/>
            <a:ext cx="7010400" cy="4525963"/>
          </a:xfrm>
        </p:spPr>
        <p:txBody>
          <a:bodyPr>
            <a:normAutofit lnSpcReduction="10000"/>
          </a:bodyPr>
          <a:lstStyle/>
          <a:p>
            <a:pPr marL="533400" indent="-533400">
              <a:buFontTx/>
              <a:buAutoNum type="arabicPeriod"/>
            </a:pPr>
            <a:r>
              <a:rPr lang="en-US" sz="2800" dirty="0"/>
              <a:t>Filter image with derivative of Gaussian </a:t>
            </a:r>
            <a:endParaRPr lang="en-US" sz="2800" dirty="0"/>
          </a:p>
          <a:p>
            <a:pPr marL="533400" indent="-533400">
              <a:buFontTx/>
              <a:buAutoNum type="arabicPeriod"/>
            </a:pPr>
            <a:endParaRPr lang="en-US" sz="2800" dirty="0"/>
          </a:p>
          <a:p>
            <a:pPr marL="533400" indent="-533400">
              <a:buFontTx/>
              <a:buAutoNum type="arabicPeriod"/>
            </a:pPr>
            <a:r>
              <a:rPr lang="en-US" sz="2800" dirty="0"/>
              <a:t>Find magnitude and orientation of gradient</a:t>
            </a:r>
            <a:endParaRPr lang="en-US" sz="2800" dirty="0"/>
          </a:p>
          <a:p>
            <a:pPr marL="533400" indent="-533400">
              <a:buFontTx/>
              <a:buAutoNum type="arabicPeriod"/>
            </a:pPr>
            <a:endParaRPr lang="en-US" sz="2800" dirty="0"/>
          </a:p>
          <a:p>
            <a:pPr marL="533400" indent="-533400">
              <a:buFontTx/>
              <a:buAutoNum type="arabicPeriod"/>
            </a:pPr>
            <a:r>
              <a:rPr lang="en-US" sz="2800" dirty="0"/>
              <a:t>Non-maximum suppression</a:t>
            </a:r>
            <a:endParaRPr lang="en-US" sz="2800" dirty="0"/>
          </a:p>
          <a:p>
            <a:pPr marL="533400" indent="-533400">
              <a:buFontTx/>
              <a:buAutoNum type="arabicPeriod"/>
            </a:pPr>
            <a:endParaRPr lang="en-US" sz="2800" dirty="0"/>
          </a:p>
          <a:p>
            <a:pPr marL="533400" indent="-533400">
              <a:buFontTx/>
              <a:buAutoNum type="arabicPeriod"/>
            </a:pPr>
            <a:r>
              <a:rPr lang="en-US" sz="2800" dirty="0"/>
              <a:t>Linking and </a:t>
            </a:r>
            <a:r>
              <a:rPr lang="en-US" sz="2800" dirty="0" err="1"/>
              <a:t>thresholding</a:t>
            </a:r>
            <a:r>
              <a:rPr lang="en-US" sz="2800" dirty="0"/>
              <a:t> (hysteresis):</a:t>
            </a:r>
            <a:endParaRPr lang="en-US" sz="2800" dirty="0"/>
          </a:p>
          <a:p>
            <a:pPr marL="838200" lvl="1" indent="-381000"/>
            <a:r>
              <a:rPr lang="en-US" sz="2400" dirty="0"/>
              <a:t>Define two thresholds: low and high</a:t>
            </a:r>
            <a:endParaRPr lang="en-US" sz="2400" dirty="0"/>
          </a:p>
          <a:p>
            <a:pPr marL="838200" lvl="1" indent="-381000"/>
            <a:r>
              <a:rPr lang="en-US" sz="2400" dirty="0"/>
              <a:t>Use the high threshold to start edge curves and the low threshold to continue them</a:t>
            </a:r>
            <a:endParaRPr lang="en-US" sz="2400" b="1" dirty="0"/>
          </a:p>
        </p:txBody>
      </p:sp>
      <p:sp>
        <p:nvSpPr>
          <p:cNvPr id="20484" name="Text Box 4"/>
          <p:cNvSpPr txBox="1">
            <a:spLocks noChangeArrowheads="1"/>
          </p:cNvSpPr>
          <p:nvPr/>
        </p:nvSpPr>
        <p:spPr bwMode="auto">
          <a:xfrm>
            <a:off x="6705600" y="6553200"/>
            <a:ext cx="2341563" cy="304800"/>
          </a:xfrm>
          <a:prstGeom prst="rect">
            <a:avLst/>
          </a:prstGeom>
          <a:noFill/>
          <a:ln w="9525">
            <a:noFill/>
            <a:miter lim="800000"/>
          </a:ln>
        </p:spPr>
        <p:txBody>
          <a:bodyPr wrap="none">
            <a:spAutoFit/>
          </a:bodyPr>
          <a:lstStyle/>
          <a:p>
            <a:pPr algn="ctr"/>
            <a:r>
              <a:rPr lang="en-US" sz="1400"/>
              <a:t>Source: D. Lowe, L. Fei-Fei</a:t>
            </a:r>
            <a:endParaRPr lang="en-US" sz="1400"/>
          </a:p>
        </p:txBody>
      </p:sp>
      <p:sp>
        <p:nvSpPr>
          <p:cNvPr id="5" name="Rectangle 4"/>
          <p:cNvSpPr/>
          <p:nvPr/>
        </p:nvSpPr>
        <p:spPr>
          <a:xfrm>
            <a:off x="2733494" y="1099843"/>
            <a:ext cx="3837525" cy="369332"/>
          </a:xfrm>
          <a:prstGeom prst="rect">
            <a:avLst/>
          </a:prstGeom>
        </p:spPr>
        <p:txBody>
          <a:bodyPr wrap="none">
            <a:spAutoFit/>
          </a:bodyPr>
          <a:lstStyle/>
          <a:p>
            <a:pPr marL="533400" indent="-533400"/>
            <a:r>
              <a:rPr lang="en-US" dirty="0"/>
              <a:t>MATLAB:  </a:t>
            </a:r>
            <a:r>
              <a:rPr lang="en-US" b="1" dirty="0">
                <a:solidFill>
                  <a:srgbClr val="FF0000"/>
                </a:solidFill>
                <a:latin typeface="Courier New" panose="02070409020205090404" pitchFamily="49" charset="0"/>
                <a:cs typeface="Courier New" panose="02070409020205090404" pitchFamily="49" charset="0"/>
              </a:rPr>
              <a:t>edge(</a:t>
            </a:r>
            <a:r>
              <a:rPr lang="en-US" b="1" dirty="0" err="1">
                <a:solidFill>
                  <a:srgbClr val="FF0000"/>
                </a:solidFill>
                <a:latin typeface="Courier New" panose="02070409020205090404" pitchFamily="49" charset="0"/>
                <a:cs typeface="Courier New" panose="02070409020205090404" pitchFamily="49" charset="0"/>
              </a:rPr>
              <a:t>image,‘canny</a:t>
            </a:r>
            <a:r>
              <a:rPr lang="en-US" b="1" dirty="0">
                <a:solidFill>
                  <a:srgbClr val="FF0000"/>
                </a:solidFill>
                <a:latin typeface="Courier New" panose="02070409020205090404" pitchFamily="49" charset="0"/>
                <a:cs typeface="Courier New" panose="02070409020205090404" pitchFamily="49" charset="0"/>
              </a:rPr>
              <a:t>’)</a:t>
            </a:r>
            <a:endParaRPr lang="en-US" b="1" dirty="0">
              <a:solidFill>
                <a:srgbClr val="FF0000"/>
              </a:solidFill>
              <a:latin typeface="Courier New" panose="02070409020205090404" pitchFamily="49" charset="0"/>
              <a:cs typeface="Courier New" panose="02070409020205090404" pitchFamily="49" charset="0"/>
            </a:endParaRPr>
          </a:p>
        </p:txBody>
      </p:sp>
      <p:pic>
        <p:nvPicPr>
          <p:cNvPr id="8" name="Picture 4" descr="lena"/>
          <p:cNvPicPr>
            <a:picLocks noChangeAspect="1" noChangeArrowheads="1"/>
          </p:cNvPicPr>
          <p:nvPr/>
        </p:nvPicPr>
        <p:blipFill>
          <a:blip r:embed="rId1" cstate="print"/>
          <a:srcRect/>
          <a:stretch>
            <a:fillRect/>
          </a:stretch>
        </p:blipFill>
        <p:spPr bwMode="auto">
          <a:xfrm>
            <a:off x="574320" y="423766"/>
            <a:ext cx="900629" cy="900629"/>
          </a:xfrm>
          <a:prstGeom prst="rect">
            <a:avLst/>
          </a:prstGeom>
          <a:noFill/>
          <a:ln w="9525">
            <a:noFill/>
            <a:miter lim="800000"/>
            <a:headEnd/>
            <a:tailEnd/>
          </a:ln>
        </p:spPr>
      </p:pic>
      <p:pic>
        <p:nvPicPr>
          <p:cNvPr id="9" name="Picture 3" descr="canny3"/>
          <p:cNvPicPr>
            <a:picLocks noChangeAspect="1" noChangeArrowheads="1"/>
          </p:cNvPicPr>
          <p:nvPr/>
        </p:nvPicPr>
        <p:blipFill>
          <a:blip r:embed="rId2" cstate="print"/>
          <a:srcRect/>
          <a:stretch>
            <a:fillRect/>
          </a:stretch>
        </p:blipFill>
        <p:spPr bwMode="auto">
          <a:xfrm>
            <a:off x="210240" y="1546570"/>
            <a:ext cx="1593238" cy="1593238"/>
          </a:xfrm>
          <a:prstGeom prst="rect">
            <a:avLst/>
          </a:prstGeom>
          <a:noFill/>
          <a:ln w="9525">
            <a:noFill/>
            <a:miter lim="800000"/>
            <a:headEnd/>
            <a:tailEnd/>
          </a:ln>
        </p:spPr>
      </p:pic>
      <p:pic>
        <p:nvPicPr>
          <p:cNvPr id="10" name="Picture 2" descr="canny5"/>
          <p:cNvPicPr>
            <a:picLocks noChangeAspect="1" noChangeArrowheads="1"/>
          </p:cNvPicPr>
          <p:nvPr/>
        </p:nvPicPr>
        <p:blipFill>
          <a:blip r:embed="rId3" cstate="print"/>
          <a:srcRect/>
          <a:stretch>
            <a:fillRect/>
          </a:stretch>
        </p:blipFill>
        <p:spPr bwMode="auto">
          <a:xfrm>
            <a:off x="239486" y="3432815"/>
            <a:ext cx="1600200" cy="16002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2851">
                                            <p:txEl>
                                              <p:pRg st="0" end="0"/>
                                            </p:txEl>
                                          </p:spTgt>
                                        </p:tgtEl>
                                        <p:attrNameLst>
                                          <p:attrName>style.visibility</p:attrName>
                                        </p:attrNameLst>
                                      </p:cBhvr>
                                      <p:to>
                                        <p:strVal val="visible"/>
                                      </p:to>
                                    </p:set>
                                    <p:animEffect transition="in" filter="fade">
                                      <p:cBhvr>
                                        <p:cTn id="7" dur="500"/>
                                        <p:tgtEl>
                                          <p:spTgt spid="110285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2851">
                                            <p:txEl>
                                              <p:pRg st="2" end="2"/>
                                            </p:txEl>
                                          </p:spTgt>
                                        </p:tgtEl>
                                        <p:attrNameLst>
                                          <p:attrName>style.visibility</p:attrName>
                                        </p:attrNameLst>
                                      </p:cBhvr>
                                      <p:to>
                                        <p:strVal val="visible"/>
                                      </p:to>
                                    </p:set>
                                    <p:animEffect transition="in" filter="fade">
                                      <p:cBhvr>
                                        <p:cTn id="10" dur="500"/>
                                        <p:tgtEl>
                                          <p:spTgt spid="1102851">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02851">
                                            <p:txEl>
                                              <p:pRg st="4" end="4"/>
                                            </p:txEl>
                                          </p:spTgt>
                                        </p:tgtEl>
                                        <p:attrNameLst>
                                          <p:attrName>style.visibility</p:attrName>
                                        </p:attrNameLst>
                                      </p:cBhvr>
                                      <p:to>
                                        <p:strVal val="visible"/>
                                      </p:to>
                                    </p:set>
                                    <p:animEffect transition="in" filter="fade">
                                      <p:cBhvr>
                                        <p:cTn id="18" dur="500"/>
                                        <p:tgtEl>
                                          <p:spTgt spid="1102851">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02851">
                                            <p:txEl>
                                              <p:pRg st="6" end="6"/>
                                            </p:txEl>
                                          </p:spTgt>
                                        </p:tgtEl>
                                        <p:attrNameLst>
                                          <p:attrName>style.visibility</p:attrName>
                                        </p:attrNameLst>
                                      </p:cBhvr>
                                      <p:to>
                                        <p:strVal val="visible"/>
                                      </p:to>
                                    </p:set>
                                    <p:animEffect transition="in" filter="fade">
                                      <p:cBhvr>
                                        <p:cTn id="26" dur="500"/>
                                        <p:tgtEl>
                                          <p:spTgt spid="1102851">
                                            <p:txEl>
                                              <p:pRg st="6" end="6"/>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02851">
                                            <p:txEl>
                                              <p:pRg st="7" end="7"/>
                                            </p:txEl>
                                          </p:spTgt>
                                        </p:tgtEl>
                                        <p:attrNameLst>
                                          <p:attrName>style.visibility</p:attrName>
                                        </p:attrNameLst>
                                      </p:cBhvr>
                                      <p:to>
                                        <p:strVal val="visible"/>
                                      </p:to>
                                    </p:set>
                                    <p:animEffect transition="in" filter="fade">
                                      <p:cBhvr>
                                        <p:cTn id="29" dur="500"/>
                                        <p:tgtEl>
                                          <p:spTgt spid="1102851">
                                            <p:txEl>
                                              <p:pRg st="7" end="7"/>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02851">
                                            <p:txEl>
                                              <p:pRg st="8" end="8"/>
                                            </p:txEl>
                                          </p:spTgt>
                                        </p:tgtEl>
                                        <p:attrNameLst>
                                          <p:attrName>style.visibility</p:attrName>
                                        </p:attrNameLst>
                                      </p:cBhvr>
                                      <p:to>
                                        <p:strVal val="visible"/>
                                      </p:to>
                                    </p:set>
                                    <p:animEffect transition="in" filter="fade">
                                      <p:cBhvr>
                                        <p:cTn id="32" dur="500"/>
                                        <p:tgtEl>
                                          <p:spTgt spid="110285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28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592138" y="0"/>
            <a:ext cx="7772400" cy="1143000"/>
          </a:xfrm>
        </p:spPr>
        <p:txBody>
          <a:bodyPr/>
          <a:lstStyle/>
          <a:p>
            <a:r>
              <a:rPr lang="en-US" altLang="en-US" dirty="0"/>
              <a:t>‘Hysteresis’ thresholding</a:t>
            </a:r>
            <a:endParaRPr lang="en-US" altLang="en-US" dirty="0"/>
          </a:p>
        </p:txBody>
      </p:sp>
      <p:sp>
        <p:nvSpPr>
          <p:cNvPr id="65539" name="Rectangle 3"/>
          <p:cNvSpPr>
            <a:spLocks noGrp="1" noChangeArrowheads="1"/>
          </p:cNvSpPr>
          <p:nvPr>
            <p:ph idx="1"/>
          </p:nvPr>
        </p:nvSpPr>
        <p:spPr>
          <a:xfrm>
            <a:off x="701675" y="1201738"/>
            <a:ext cx="7772400" cy="3657600"/>
          </a:xfrm>
        </p:spPr>
        <p:txBody>
          <a:bodyPr/>
          <a:lstStyle/>
          <a:p>
            <a:pPr>
              <a:buFont typeface="Arial" panose="020B0604020202090204" pitchFamily="34" charset="0"/>
              <a:buChar char="•"/>
            </a:pPr>
            <a:r>
              <a:rPr lang="en-US" altLang="en-US" sz="2400" dirty="0"/>
              <a:t>Two thresholds – high and low</a:t>
            </a:r>
            <a:endParaRPr lang="en-US" altLang="en-US" sz="2400" dirty="0"/>
          </a:p>
          <a:p>
            <a:pPr>
              <a:buFont typeface="Arial" panose="020B0604020202090204" pitchFamily="34" charset="0"/>
              <a:buChar char="•"/>
            </a:pPr>
            <a:r>
              <a:rPr lang="en-US" altLang="en-US" sz="2400" dirty="0"/>
              <a:t>Grad. mag. &gt; high threshold? = strong edge</a:t>
            </a:r>
            <a:endParaRPr lang="en-US" altLang="en-US" sz="2400" dirty="0"/>
          </a:p>
          <a:p>
            <a:pPr>
              <a:buFont typeface="Arial" panose="020B0604020202090204" pitchFamily="34" charset="0"/>
              <a:buChar char="•"/>
            </a:pPr>
            <a:r>
              <a:rPr lang="en-US" altLang="en-US" sz="2400" dirty="0"/>
              <a:t>Grad. mag. &lt; low threshold? noise</a:t>
            </a:r>
            <a:endParaRPr lang="en-US" altLang="en-US" sz="2400" dirty="0"/>
          </a:p>
          <a:p>
            <a:pPr>
              <a:buFont typeface="Arial" panose="020B0604020202090204" pitchFamily="34" charset="0"/>
              <a:buChar char="•"/>
            </a:pPr>
            <a:r>
              <a:rPr lang="en-US" altLang="en-US" sz="2400" dirty="0"/>
              <a:t>In between = weak edge</a:t>
            </a:r>
            <a:endParaRPr lang="en-US" altLang="en-US" sz="2400" dirty="0"/>
          </a:p>
          <a:p>
            <a:pPr>
              <a:buFont typeface="Arial" panose="020B0604020202090204" pitchFamily="34" charset="0"/>
              <a:buChar char="•"/>
            </a:pPr>
            <a:endParaRPr lang="en-US" altLang="en-US" sz="2400" dirty="0"/>
          </a:p>
          <a:p>
            <a:pPr>
              <a:buFont typeface="Arial" panose="020B0604020202090204" pitchFamily="34" charset="0"/>
              <a:buChar char="•"/>
            </a:pPr>
            <a:r>
              <a:rPr lang="en-US" altLang="en-US" sz="2400" dirty="0"/>
              <a:t>‘Follow’ edges starting from strong edge pixels</a:t>
            </a:r>
            <a:endParaRPr lang="en-US" altLang="en-US" sz="2400" dirty="0"/>
          </a:p>
          <a:p>
            <a:pPr>
              <a:buFont typeface="Arial" panose="020B0604020202090204" pitchFamily="34" charset="0"/>
              <a:buChar char="•"/>
            </a:pPr>
            <a:r>
              <a:rPr lang="en-US" altLang="en-US" sz="2400" dirty="0"/>
              <a:t>Continue them into weak edges</a:t>
            </a:r>
            <a:endParaRPr lang="en-US" altLang="en-US" sz="2400" dirty="0"/>
          </a:p>
          <a:p>
            <a:pPr marL="1238250" lvl="2" indent="-381000"/>
            <a:r>
              <a:rPr lang="en-US" altLang="en-US" dirty="0"/>
              <a:t>Connected components (</a:t>
            </a:r>
            <a:r>
              <a:rPr lang="en-US" altLang="en-US" dirty="0" err="1"/>
              <a:t>Szeliski</a:t>
            </a:r>
            <a:r>
              <a:rPr lang="en-US" altLang="en-US" dirty="0"/>
              <a:t> 3.3.4)</a:t>
            </a:r>
            <a:endParaRPr lang="en-US" altLang="en-US" dirty="0"/>
          </a:p>
        </p:txBody>
      </p:sp>
      <p:sp>
        <p:nvSpPr>
          <p:cNvPr id="65540" name="Freeform 4"/>
          <p:cNvSpPr/>
          <p:nvPr/>
        </p:nvSpPr>
        <p:spPr bwMode="auto">
          <a:xfrm>
            <a:off x="482600" y="4927600"/>
            <a:ext cx="2743200" cy="774700"/>
          </a:xfrm>
          <a:custGeom>
            <a:avLst/>
            <a:gdLst>
              <a:gd name="T0" fmla="*/ 2147483646 w 1728"/>
              <a:gd name="T1" fmla="*/ 2147483646 h 488"/>
              <a:gd name="T2" fmla="*/ 2147483646 w 1728"/>
              <a:gd name="T3" fmla="*/ 2147483646 h 488"/>
              <a:gd name="T4" fmla="*/ 2147483646 w 1728"/>
              <a:gd name="T5" fmla="*/ 2147483646 h 488"/>
              <a:gd name="T6" fmla="*/ 2147483646 w 1728"/>
              <a:gd name="T7" fmla="*/ 2147483646 h 488"/>
              <a:gd name="T8" fmla="*/ 2147483646 w 1728"/>
              <a:gd name="T9" fmla="*/ 2147483646 h 488"/>
              <a:gd name="T10" fmla="*/ 0 60000 65536"/>
              <a:gd name="T11" fmla="*/ 0 60000 65536"/>
              <a:gd name="T12" fmla="*/ 0 60000 65536"/>
              <a:gd name="T13" fmla="*/ 0 60000 65536"/>
              <a:gd name="T14" fmla="*/ 0 60000 65536"/>
              <a:gd name="T15" fmla="*/ 0 w 1728"/>
              <a:gd name="T16" fmla="*/ 0 h 488"/>
              <a:gd name="T17" fmla="*/ 1728 w 1728"/>
              <a:gd name="T18" fmla="*/ 488 h 488"/>
            </a:gdLst>
            <a:ahLst/>
            <a:cxnLst>
              <a:cxn ang="T10">
                <a:pos x="T0" y="T1"/>
              </a:cxn>
              <a:cxn ang="T11">
                <a:pos x="T2" y="T3"/>
              </a:cxn>
              <a:cxn ang="T12">
                <a:pos x="T4" y="T5"/>
              </a:cxn>
              <a:cxn ang="T13">
                <a:pos x="T6" y="T7"/>
              </a:cxn>
              <a:cxn ang="T14">
                <a:pos x="T8" y="T9"/>
              </a:cxn>
            </a:cxnLst>
            <a:rect l="T15" t="T16" r="T17" b="T18"/>
            <a:pathLst>
              <a:path w="1728" h="488">
                <a:moveTo>
                  <a:pt x="96" y="464"/>
                </a:moveTo>
                <a:cubicBezTo>
                  <a:pt x="48" y="476"/>
                  <a:pt x="0" y="488"/>
                  <a:pt x="96" y="416"/>
                </a:cubicBezTo>
                <a:cubicBezTo>
                  <a:pt x="192" y="344"/>
                  <a:pt x="488" y="64"/>
                  <a:pt x="672" y="32"/>
                </a:cubicBezTo>
                <a:cubicBezTo>
                  <a:pt x="856" y="0"/>
                  <a:pt x="1024" y="184"/>
                  <a:pt x="1200" y="224"/>
                </a:cubicBezTo>
                <a:cubicBezTo>
                  <a:pt x="1376" y="264"/>
                  <a:pt x="1552" y="268"/>
                  <a:pt x="1728" y="272"/>
                </a:cubicBezTo>
              </a:path>
            </a:pathLst>
          </a:custGeom>
          <a:noFill/>
          <a:ln w="76200">
            <a:solidFill>
              <a:schemeClr val="tx1"/>
            </a:solidFill>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prstClr val="black"/>
              </a:solidFill>
              <a:latin typeface="Arial" panose="020B0604020202090204" pitchFamily="34" charset="0"/>
              <a:cs typeface="Arial" panose="020B0604020202090204" pitchFamily="34" charset="0"/>
            </a:endParaRPr>
          </a:p>
        </p:txBody>
      </p:sp>
      <p:sp>
        <p:nvSpPr>
          <p:cNvPr id="65541" name="Freeform 5"/>
          <p:cNvSpPr/>
          <p:nvPr/>
        </p:nvSpPr>
        <p:spPr bwMode="auto">
          <a:xfrm>
            <a:off x="3149600" y="4965700"/>
            <a:ext cx="2590800" cy="698500"/>
          </a:xfrm>
          <a:custGeom>
            <a:avLst/>
            <a:gdLst>
              <a:gd name="T0" fmla="*/ 0 w 1632"/>
              <a:gd name="T1" fmla="*/ 2147483646 h 440"/>
              <a:gd name="T2" fmla="*/ 2147483646 w 1632"/>
              <a:gd name="T3" fmla="*/ 2147483646 h 440"/>
              <a:gd name="T4" fmla="*/ 2147483646 w 1632"/>
              <a:gd name="T5" fmla="*/ 2147483646 h 440"/>
              <a:gd name="T6" fmla="*/ 2147483646 w 1632"/>
              <a:gd name="T7" fmla="*/ 2147483646 h 440"/>
              <a:gd name="T8" fmla="*/ 2147483646 w 1632"/>
              <a:gd name="T9" fmla="*/ 2147483646 h 440"/>
              <a:gd name="T10" fmla="*/ 0 60000 65536"/>
              <a:gd name="T11" fmla="*/ 0 60000 65536"/>
              <a:gd name="T12" fmla="*/ 0 60000 65536"/>
              <a:gd name="T13" fmla="*/ 0 60000 65536"/>
              <a:gd name="T14" fmla="*/ 0 60000 65536"/>
              <a:gd name="T15" fmla="*/ 0 w 1632"/>
              <a:gd name="T16" fmla="*/ 0 h 440"/>
              <a:gd name="T17" fmla="*/ 1632 w 1632"/>
              <a:gd name="T18" fmla="*/ 440 h 440"/>
            </a:gdLst>
            <a:ahLst/>
            <a:cxnLst>
              <a:cxn ang="T10">
                <a:pos x="T0" y="T1"/>
              </a:cxn>
              <a:cxn ang="T11">
                <a:pos x="T2" y="T3"/>
              </a:cxn>
              <a:cxn ang="T12">
                <a:pos x="T4" y="T5"/>
              </a:cxn>
              <a:cxn ang="T13">
                <a:pos x="T6" y="T7"/>
              </a:cxn>
              <a:cxn ang="T14">
                <a:pos x="T8" y="T9"/>
              </a:cxn>
            </a:cxnLst>
            <a:rect l="T15" t="T16" r="T17" b="T18"/>
            <a:pathLst>
              <a:path w="1632" h="440">
                <a:moveTo>
                  <a:pt x="0" y="248"/>
                </a:moveTo>
                <a:cubicBezTo>
                  <a:pt x="72" y="268"/>
                  <a:pt x="144" y="288"/>
                  <a:pt x="288" y="248"/>
                </a:cubicBezTo>
                <a:cubicBezTo>
                  <a:pt x="432" y="208"/>
                  <a:pt x="664" y="0"/>
                  <a:pt x="864" y="8"/>
                </a:cubicBezTo>
                <a:cubicBezTo>
                  <a:pt x="1064" y="16"/>
                  <a:pt x="1360" y="224"/>
                  <a:pt x="1488" y="296"/>
                </a:cubicBezTo>
                <a:cubicBezTo>
                  <a:pt x="1616" y="368"/>
                  <a:pt x="1624" y="404"/>
                  <a:pt x="1632" y="440"/>
                </a:cubicBez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prstClr val="black"/>
              </a:solidFill>
              <a:latin typeface="Arial" panose="020B0604020202090204" pitchFamily="34" charset="0"/>
              <a:cs typeface="Arial" panose="020B0604020202090204" pitchFamily="34" charset="0"/>
            </a:endParaRPr>
          </a:p>
        </p:txBody>
      </p:sp>
      <p:sp>
        <p:nvSpPr>
          <p:cNvPr id="65542" name="Freeform 6"/>
          <p:cNvSpPr/>
          <p:nvPr/>
        </p:nvSpPr>
        <p:spPr bwMode="auto">
          <a:xfrm>
            <a:off x="5638800" y="5664200"/>
            <a:ext cx="711200" cy="609600"/>
          </a:xfrm>
          <a:custGeom>
            <a:avLst/>
            <a:gdLst>
              <a:gd name="T0" fmla="*/ 2147483646 w 448"/>
              <a:gd name="T1" fmla="*/ 0 h 384"/>
              <a:gd name="T2" fmla="*/ 2147483646 w 448"/>
              <a:gd name="T3" fmla="*/ 2147483646 h 384"/>
              <a:gd name="T4" fmla="*/ 2147483646 w 448"/>
              <a:gd name="T5" fmla="*/ 2147483646 h 384"/>
              <a:gd name="T6" fmla="*/ 0 60000 65536"/>
              <a:gd name="T7" fmla="*/ 0 60000 65536"/>
              <a:gd name="T8" fmla="*/ 0 60000 65536"/>
              <a:gd name="T9" fmla="*/ 0 w 448"/>
              <a:gd name="T10" fmla="*/ 0 h 384"/>
              <a:gd name="T11" fmla="*/ 448 w 448"/>
              <a:gd name="T12" fmla="*/ 384 h 384"/>
            </a:gdLst>
            <a:ahLst/>
            <a:cxnLst>
              <a:cxn ang="T6">
                <a:pos x="T0" y="T1"/>
              </a:cxn>
              <a:cxn ang="T7">
                <a:pos x="T2" y="T3"/>
              </a:cxn>
              <a:cxn ang="T8">
                <a:pos x="T4" y="T5"/>
              </a:cxn>
            </a:cxnLst>
            <a:rect l="T9" t="T10" r="T11" b="T12"/>
            <a:pathLst>
              <a:path w="448" h="384">
                <a:moveTo>
                  <a:pt x="64" y="0"/>
                </a:moveTo>
                <a:cubicBezTo>
                  <a:pt x="32" y="88"/>
                  <a:pt x="0" y="176"/>
                  <a:pt x="64" y="240"/>
                </a:cubicBezTo>
                <a:cubicBezTo>
                  <a:pt x="128" y="304"/>
                  <a:pt x="288" y="344"/>
                  <a:pt x="448" y="384"/>
                </a:cubicBezTo>
              </a:path>
            </a:pathLst>
          </a:custGeom>
          <a:noFill/>
          <a:ln w="57150">
            <a:solidFill>
              <a:schemeClr val="tx1"/>
            </a:solidFill>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prstClr val="black"/>
              </a:solidFill>
              <a:latin typeface="Arial" panose="020B0604020202090204" pitchFamily="34" charset="0"/>
              <a:cs typeface="Arial" panose="020B0604020202090204" pitchFamily="34" charset="0"/>
            </a:endParaRPr>
          </a:p>
        </p:txBody>
      </p:sp>
      <p:sp>
        <p:nvSpPr>
          <p:cNvPr id="65543" name="Freeform 7"/>
          <p:cNvSpPr/>
          <p:nvPr/>
        </p:nvSpPr>
        <p:spPr bwMode="auto">
          <a:xfrm>
            <a:off x="6350000" y="5511800"/>
            <a:ext cx="2286000" cy="965200"/>
          </a:xfrm>
          <a:custGeom>
            <a:avLst/>
            <a:gdLst>
              <a:gd name="T0" fmla="*/ 0 w 1440"/>
              <a:gd name="T1" fmla="*/ 2147483646 h 608"/>
              <a:gd name="T2" fmla="*/ 2147483646 w 1440"/>
              <a:gd name="T3" fmla="*/ 2147483646 h 608"/>
              <a:gd name="T4" fmla="*/ 2147483646 w 1440"/>
              <a:gd name="T5" fmla="*/ 2147483646 h 608"/>
              <a:gd name="T6" fmla="*/ 2147483646 w 1440"/>
              <a:gd name="T7" fmla="*/ 2147483646 h 608"/>
              <a:gd name="T8" fmla="*/ 2147483646 w 1440"/>
              <a:gd name="T9" fmla="*/ 0 h 608"/>
              <a:gd name="T10" fmla="*/ 0 60000 65536"/>
              <a:gd name="T11" fmla="*/ 0 60000 65536"/>
              <a:gd name="T12" fmla="*/ 0 60000 65536"/>
              <a:gd name="T13" fmla="*/ 0 60000 65536"/>
              <a:gd name="T14" fmla="*/ 0 60000 65536"/>
              <a:gd name="T15" fmla="*/ 0 w 1440"/>
              <a:gd name="T16" fmla="*/ 0 h 608"/>
              <a:gd name="T17" fmla="*/ 1440 w 1440"/>
              <a:gd name="T18" fmla="*/ 608 h 608"/>
            </a:gdLst>
            <a:ahLst/>
            <a:cxnLst>
              <a:cxn ang="T10">
                <a:pos x="T0" y="T1"/>
              </a:cxn>
              <a:cxn ang="T11">
                <a:pos x="T2" y="T3"/>
              </a:cxn>
              <a:cxn ang="T12">
                <a:pos x="T4" y="T5"/>
              </a:cxn>
              <a:cxn ang="T13">
                <a:pos x="T6" y="T7"/>
              </a:cxn>
              <a:cxn ang="T14">
                <a:pos x="T8" y="T9"/>
              </a:cxn>
            </a:cxnLst>
            <a:rect l="T15" t="T16" r="T17" b="T18"/>
            <a:pathLst>
              <a:path w="1440" h="608">
                <a:moveTo>
                  <a:pt x="0" y="480"/>
                </a:moveTo>
                <a:cubicBezTo>
                  <a:pt x="24" y="496"/>
                  <a:pt x="48" y="512"/>
                  <a:pt x="144" y="528"/>
                </a:cubicBezTo>
                <a:cubicBezTo>
                  <a:pt x="240" y="544"/>
                  <a:pt x="408" y="608"/>
                  <a:pt x="576" y="576"/>
                </a:cubicBezTo>
                <a:cubicBezTo>
                  <a:pt x="744" y="544"/>
                  <a:pt x="1008" y="432"/>
                  <a:pt x="1152" y="336"/>
                </a:cubicBezTo>
                <a:cubicBezTo>
                  <a:pt x="1296" y="240"/>
                  <a:pt x="1368" y="120"/>
                  <a:pt x="1440" y="0"/>
                </a:cubicBez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a:solidFill>
                <a:prstClr val="black"/>
              </a:solidFill>
              <a:latin typeface="Arial" panose="020B0604020202090204" pitchFamily="34" charset="0"/>
              <a:cs typeface="Arial" panose="020B0604020202090204" pitchFamily="34" charset="0"/>
            </a:endParaRPr>
          </a:p>
        </p:txBody>
      </p:sp>
      <p:sp>
        <p:nvSpPr>
          <p:cNvPr id="65544" name="Text Box 8"/>
          <p:cNvSpPr txBox="1">
            <a:spLocks noChangeArrowheads="1"/>
          </p:cNvSpPr>
          <p:nvPr/>
        </p:nvSpPr>
        <p:spPr bwMode="auto">
          <a:xfrm>
            <a:off x="7467600" y="6491288"/>
            <a:ext cx="19796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28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4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0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fontAlgn="base">
              <a:spcBef>
                <a:spcPct val="50000"/>
              </a:spcBef>
              <a:spcAft>
                <a:spcPct val="0"/>
              </a:spcAft>
              <a:buFontTx/>
              <a:buNone/>
            </a:pPr>
            <a:r>
              <a:rPr lang="en-US" altLang="en-US" sz="1400">
                <a:solidFill>
                  <a:prstClr val="black"/>
                </a:solidFill>
                <a:latin typeface="Arial" panose="020B0604020202090204" pitchFamily="34" charset="0"/>
                <a:cs typeface="Arial" panose="020B0604020202090204" pitchFamily="34" charset="0"/>
              </a:rPr>
              <a:t>Source: S. Seitz</a:t>
            </a:r>
            <a:endParaRPr lang="en-US" altLang="en-US" sz="1400">
              <a:solidFill>
                <a:prstClr val="black"/>
              </a:solidFill>
              <a:latin typeface="Arial" panose="020B0604020202090204" pitchFamily="34" charset="0"/>
              <a:cs typeface="Arial" panose="020B0604020202090204" pitchFamily="34" charset="0"/>
            </a:endParaRPr>
          </a:p>
        </p:txBody>
      </p:sp>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sz="3200"/>
              <a:t>Final Canny Edges</a:t>
            </a:r>
            <a:endParaRPr lang="en-US" altLang="en-US" sz="3200"/>
          </a:p>
        </p:txBody>
      </p:sp>
      <p:pic>
        <p:nvPicPr>
          <p:cNvPr id="4" name="Picture 3"/>
          <p:cNvPicPr>
            <a:picLocks noChangeAspect="1"/>
          </p:cNvPicPr>
          <p:nvPr/>
        </p:nvPicPr>
        <p:blipFill>
          <a:blip r:embed="rId1"/>
          <a:stretch>
            <a:fillRect/>
          </a:stretch>
        </p:blipFill>
        <p:spPr>
          <a:xfrm>
            <a:off x="4598661" y="1768023"/>
            <a:ext cx="4545339" cy="4532765"/>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952499" y="1031768"/>
                <a:ext cx="7239000" cy="618887"/>
              </a:xfrm>
              <a:prstGeom prst="rect">
                <a:avLst/>
              </a:prstGeom>
              <a:noFill/>
            </p:spPr>
            <p:txBody>
              <a:bodyPr wrap="squar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𝜎</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ad>
                        <m:radPr>
                          <m:degHide m:val="on"/>
                          <m:ctrlP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ctrlPr>
                        </m:radPr>
                        <m:deg/>
                        <m:e>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2</m:t>
                          </m:r>
                        </m:e>
                      </m:rad>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 </m:t>
                      </m:r>
                      <m:sSub>
                        <m:sSubPr>
                          <m:ctrlP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ctrlPr>
                        </m:sSubPr>
                        <m:e>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𝑡</m:t>
                          </m:r>
                        </m:e>
                        <m:sub>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𝑙𝑜𝑤</m:t>
                          </m:r>
                        </m:sub>
                      </m:sSub>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0</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05</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sSub>
                        <m:sSubPr>
                          <m:ctrlP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ctrlPr>
                        </m:sSubPr>
                        <m:e>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𝑡</m:t>
                          </m:r>
                        </m:e>
                        <m:sub>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ℎ𝑖𝑔ℎ</m:t>
                          </m:r>
                        </m:sub>
                      </m:sSub>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0</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1</m:t>
                      </m:r>
                    </m:oMath>
                  </m:oMathPara>
                </a14:m>
                <a:endParaRPr lang="en-US" dirty="0">
                  <a:solidFill>
                    <a:prstClr val="black"/>
                  </a:solidFill>
                  <a:latin typeface="Arial" panose="020B0604020202090204" pitchFamily="34" charset="0"/>
                  <a:cs typeface="Arial" panose="020B0604020202090204" pitchFamily="34" charset="0"/>
                </a:endParaRPr>
              </a:p>
            </p:txBody>
          </p:sp>
        </mc:Choice>
        <mc:Fallback>
          <p:sp>
            <p:nvSpPr>
              <p:cNvPr id="5" name="TextBox 4"/>
              <p:cNvSpPr txBox="1">
                <a:spLocks noRot="1" noChangeAspect="1" noMove="1" noResize="1" noEditPoints="1" noAdjustHandles="1" noChangeArrowheads="1" noChangeShapeType="1" noTextEdit="1"/>
              </p:cNvSpPr>
              <p:nvPr/>
            </p:nvSpPr>
            <p:spPr>
              <a:xfrm>
                <a:off x="952499" y="1031768"/>
                <a:ext cx="7239000" cy="618887"/>
              </a:xfrm>
              <a:prstGeom prst="rect">
                <a:avLst/>
              </a:prstGeom>
              <a:blipFill rotWithShape="1">
                <a:blip r:embed="rId2"/>
                <a:stretch>
                  <a:fillRect l="-9" t="-85" r="9" b="47"/>
                </a:stretch>
              </a:blipFill>
            </p:spPr>
            <p:txBody>
              <a:bodyPr/>
              <a:lstStyle/>
              <a:p>
                <a:r>
                  <a:rPr lang="zh-CN" altLang="en-US">
                    <a:noFill/>
                  </a:rPr>
                  <a:t> </a:t>
                </a:r>
              </a:p>
            </p:txBody>
          </p:sp>
        </mc:Fallback>
      </mc:AlternateContent>
      <p:pic>
        <p:nvPicPr>
          <p:cNvPr id="8" name="Picture 7" descr="A person standing in front of a building&#10;&#10;Description generated with very high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00" y="1760988"/>
            <a:ext cx="4539800" cy="4539800"/>
          </a:xfrm>
          <a:prstGeom prst="rect">
            <a:avLst/>
          </a:prstGeom>
        </p:spPr>
      </p:pic>
      <p:sp>
        <p:nvSpPr>
          <p:cNvPr id="2" name="Slide Number Placeholder 1"/>
          <p:cNvSpPr>
            <a:spLocks noGrp="1"/>
          </p:cNvSpPr>
          <p:nvPr>
            <p:ph type="sldNum" sz="quarter" idx="12"/>
          </p:nvPr>
        </p:nvSpPr>
        <p:spPr/>
        <p:txBody>
          <a:bodyPr/>
          <a:lstStyle/>
          <a:p>
            <a:pPr>
              <a:defRPr/>
            </a:pPr>
            <a:fld id="{BBB7035E-7F07-48E0-B6CD-AF661E7CEF08}" type="slidenum">
              <a:rPr lang="en-US" altLang="en-US" smtClean="0"/>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85800" y="76200"/>
            <a:ext cx="8229600" cy="838200"/>
          </a:xfrm>
        </p:spPr>
        <p:txBody>
          <a:bodyPr/>
          <a:lstStyle/>
          <a:p>
            <a:r>
              <a:rPr lang="en-US" altLang="en-US"/>
              <a:t>Effect of </a:t>
            </a:r>
            <a:r>
              <a:rPr lang="en-US" altLang="en-US">
                <a:sym typeface="Symbol" panose="05050102010706020507" pitchFamily="18" charset="2"/>
              </a:rPr>
              <a:t> (</a:t>
            </a:r>
            <a:r>
              <a:rPr lang="en-US" altLang="en-US"/>
              <a:t>Gaussian kernel spread/size)</a:t>
            </a:r>
            <a:endParaRPr lang="en-US" altLang="en-US"/>
          </a:p>
        </p:txBody>
      </p:sp>
      <p:sp>
        <p:nvSpPr>
          <p:cNvPr id="70666" name="Text Box 11"/>
          <p:cNvSpPr txBox="1">
            <a:spLocks noChangeArrowheads="1"/>
          </p:cNvSpPr>
          <p:nvPr/>
        </p:nvSpPr>
        <p:spPr bwMode="auto">
          <a:xfrm>
            <a:off x="1045253" y="4357688"/>
            <a:ext cx="11400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8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4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0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pPr>
            <a:r>
              <a:rPr lang="en-US" altLang="en-US" sz="2000" dirty="0">
                <a:solidFill>
                  <a:prstClr val="black"/>
                </a:solidFill>
                <a:latin typeface="Arial" panose="020B0604020202090204" pitchFamily="34" charset="0"/>
                <a:cs typeface="Arial" panose="020B0604020202090204" pitchFamily="34" charset="0"/>
              </a:rPr>
              <a:t>Original </a:t>
            </a:r>
            <a:endParaRPr lang="en-US" altLang="en-US" sz="2000" dirty="0">
              <a:solidFill>
                <a:prstClr val="black"/>
              </a:solidFill>
              <a:latin typeface="Arial" panose="020B0604020202090204" pitchFamily="34" charset="0"/>
              <a:cs typeface="Arial" panose="020B0604020202090204" pitchFamily="34" charset="0"/>
            </a:endParaRPr>
          </a:p>
        </p:txBody>
      </p:sp>
      <p:sp>
        <p:nvSpPr>
          <p:cNvPr id="70667" name="Rectangle 12"/>
          <p:cNvSpPr>
            <a:spLocks noChangeArrowheads="1"/>
          </p:cNvSpPr>
          <p:nvPr/>
        </p:nvSpPr>
        <p:spPr bwMode="auto">
          <a:xfrm>
            <a:off x="685800" y="52578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90204" pitchFamily="34" charset="0"/>
              <a:buChar char="•"/>
              <a:defRPr sz="28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4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0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fontAlgn="base">
              <a:spcAft>
                <a:spcPct val="0"/>
              </a:spcAft>
              <a:buFontTx/>
              <a:buNone/>
            </a:pPr>
            <a:r>
              <a:rPr lang="en-US" altLang="en-US" dirty="0">
                <a:solidFill>
                  <a:prstClr val="black"/>
                </a:solidFill>
                <a:latin typeface="Arial" panose="020B0604020202090204" pitchFamily="34" charset="0"/>
                <a:cs typeface="Arial" panose="020B0604020202090204" pitchFamily="34" charset="0"/>
              </a:rPr>
              <a:t>The choice of </a:t>
            </a:r>
            <a:r>
              <a:rPr lang="en-US" altLang="en-US" dirty="0">
                <a:solidFill>
                  <a:prstClr val="black"/>
                </a:solidFill>
                <a:latin typeface="Arial" panose="020B0604020202090204" pitchFamily="34" charset="0"/>
                <a:cs typeface="Arial" panose="020B0604020202090204" pitchFamily="34" charset="0"/>
                <a:sym typeface="Symbol" panose="05050102010706020507" pitchFamily="18" charset="2"/>
              </a:rPr>
              <a:t></a:t>
            </a:r>
            <a:r>
              <a:rPr lang="en-US" altLang="en-US" dirty="0">
                <a:solidFill>
                  <a:prstClr val="black"/>
                </a:solidFill>
                <a:latin typeface="Arial" panose="020B0604020202090204" pitchFamily="34" charset="0"/>
                <a:cs typeface="Arial" panose="020B0604020202090204" pitchFamily="34" charset="0"/>
              </a:rPr>
              <a:t> depends on desired behavior</a:t>
            </a:r>
            <a:endParaRPr lang="en-US" altLang="en-US" dirty="0">
              <a:solidFill>
                <a:prstClr val="black"/>
              </a:solidFill>
              <a:latin typeface="Arial" panose="020B0604020202090204" pitchFamily="34" charset="0"/>
              <a:cs typeface="Arial" panose="020B0604020202090204" pitchFamily="34" charset="0"/>
            </a:endParaRPr>
          </a:p>
          <a:p>
            <a:pPr lvl="1" fontAlgn="base">
              <a:spcAft>
                <a:spcPct val="0"/>
              </a:spcAft>
              <a:buFontTx/>
              <a:buChar char="•"/>
            </a:pPr>
            <a:r>
              <a:rPr lang="en-US" altLang="en-US" sz="2000" dirty="0">
                <a:solidFill>
                  <a:prstClr val="black"/>
                </a:solidFill>
                <a:latin typeface="Arial" panose="020B0604020202090204" pitchFamily="34" charset="0"/>
                <a:cs typeface="Arial" panose="020B0604020202090204" pitchFamily="34" charset="0"/>
              </a:rPr>
              <a:t>large </a:t>
            </a:r>
            <a:r>
              <a:rPr lang="en-US" altLang="en-US" sz="2000" dirty="0">
                <a:solidFill>
                  <a:prstClr val="black"/>
                </a:solidFill>
                <a:latin typeface="Arial" panose="020B0604020202090204" pitchFamily="34" charset="0"/>
                <a:cs typeface="Arial" panose="020B0604020202090204" pitchFamily="34" charset="0"/>
                <a:sym typeface="Symbol" panose="05050102010706020507" pitchFamily="18" charset="2"/>
              </a:rPr>
              <a:t></a:t>
            </a:r>
            <a:r>
              <a:rPr lang="en-US" altLang="en-US" sz="2000" dirty="0">
                <a:solidFill>
                  <a:prstClr val="black"/>
                </a:solidFill>
                <a:latin typeface="Arial" panose="020B0604020202090204" pitchFamily="34" charset="0"/>
                <a:cs typeface="Arial" panose="020B0604020202090204" pitchFamily="34" charset="0"/>
              </a:rPr>
              <a:t> detects large scale edges</a:t>
            </a:r>
            <a:endParaRPr lang="en-US" altLang="en-US" sz="2000" dirty="0">
              <a:solidFill>
                <a:prstClr val="black"/>
              </a:solidFill>
              <a:latin typeface="Arial" panose="020B0604020202090204" pitchFamily="34" charset="0"/>
              <a:cs typeface="Arial" panose="020B0604020202090204" pitchFamily="34" charset="0"/>
            </a:endParaRPr>
          </a:p>
          <a:p>
            <a:pPr lvl="1" fontAlgn="base">
              <a:spcAft>
                <a:spcPct val="0"/>
              </a:spcAft>
              <a:buFontTx/>
              <a:buChar char="•"/>
            </a:pPr>
            <a:r>
              <a:rPr lang="en-US" altLang="en-US" sz="2000" dirty="0">
                <a:solidFill>
                  <a:prstClr val="black"/>
                </a:solidFill>
                <a:latin typeface="Arial" panose="020B0604020202090204" pitchFamily="34" charset="0"/>
                <a:cs typeface="Arial" panose="020B0604020202090204" pitchFamily="34" charset="0"/>
              </a:rPr>
              <a:t>small </a:t>
            </a:r>
            <a:r>
              <a:rPr lang="en-US" altLang="en-US" sz="2000" dirty="0">
                <a:solidFill>
                  <a:prstClr val="black"/>
                </a:solidFill>
                <a:latin typeface="Arial" panose="020B0604020202090204" pitchFamily="34" charset="0"/>
                <a:cs typeface="Arial" panose="020B0604020202090204" pitchFamily="34" charset="0"/>
                <a:sym typeface="Symbol" panose="05050102010706020507" pitchFamily="18" charset="2"/>
              </a:rPr>
              <a:t></a:t>
            </a:r>
            <a:r>
              <a:rPr lang="en-US" altLang="en-US" sz="2000" dirty="0">
                <a:solidFill>
                  <a:prstClr val="black"/>
                </a:solidFill>
                <a:latin typeface="Arial" panose="020B0604020202090204" pitchFamily="34" charset="0"/>
                <a:cs typeface="Arial" panose="020B0604020202090204" pitchFamily="34" charset="0"/>
              </a:rPr>
              <a:t> detects fine features</a:t>
            </a:r>
            <a:endParaRPr lang="en-US" altLang="en-US" sz="2000" dirty="0">
              <a:solidFill>
                <a:prstClr val="black"/>
              </a:solidFill>
              <a:latin typeface="Arial" panose="020B0604020202090204" pitchFamily="34" charset="0"/>
              <a:cs typeface="Arial" panose="020B0604020202090204" pitchFamily="34" charset="0"/>
            </a:endParaRPr>
          </a:p>
        </p:txBody>
      </p:sp>
      <p:sp>
        <p:nvSpPr>
          <p:cNvPr id="70668" name="Text Box 16"/>
          <p:cNvSpPr txBox="1">
            <a:spLocks noChangeArrowheads="1"/>
          </p:cNvSpPr>
          <p:nvPr/>
        </p:nvSpPr>
        <p:spPr bwMode="auto">
          <a:xfrm>
            <a:off x="7704138" y="6567488"/>
            <a:ext cx="1457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90204" pitchFamily="34" charset="0"/>
              <a:buChar char="•"/>
              <a:defRPr sz="2800">
                <a:solidFill>
                  <a:schemeClr val="tx1"/>
                </a:solidFill>
                <a:latin typeface="Calibri" panose="020F0502020204030204" pitchFamily="34" charset="0"/>
              </a:defRPr>
            </a:lvl1pPr>
            <a:lvl2pPr marL="742950" indent="-285750">
              <a:spcBef>
                <a:spcPct val="20000"/>
              </a:spcBef>
              <a:buFont typeface="Arial" panose="020B0604020202090204" pitchFamily="34" charset="0"/>
              <a:buChar char="–"/>
              <a:defRPr sz="2400">
                <a:solidFill>
                  <a:schemeClr val="tx1"/>
                </a:solidFill>
                <a:latin typeface="Calibri" panose="020F0502020204030204" pitchFamily="34" charset="0"/>
              </a:defRPr>
            </a:lvl2pPr>
            <a:lvl3pPr marL="1143000" indent="-228600">
              <a:spcBef>
                <a:spcPct val="20000"/>
              </a:spcBef>
              <a:buFont typeface="Arial" panose="020B0604020202090204" pitchFamily="34" charset="0"/>
              <a:buChar char="•"/>
              <a:defRPr sz="2000">
                <a:solidFill>
                  <a:schemeClr val="tx1"/>
                </a:solidFill>
                <a:latin typeface="Calibri" panose="020F0502020204030204" pitchFamily="34" charset="0"/>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defRPr>
            </a:lvl9pPr>
          </a:lstStyle>
          <a:p>
            <a:pPr algn="ctr" fontAlgn="base">
              <a:spcBef>
                <a:spcPct val="0"/>
              </a:spcBef>
              <a:spcAft>
                <a:spcPct val="0"/>
              </a:spcAft>
              <a:buFontTx/>
              <a:buNone/>
            </a:pPr>
            <a:r>
              <a:rPr lang="en-US" altLang="en-US" sz="1400" dirty="0">
                <a:solidFill>
                  <a:prstClr val="white">
                    <a:lumMod val="50000"/>
                  </a:prstClr>
                </a:solidFill>
                <a:latin typeface="Arial" panose="020B0604020202090204" pitchFamily="34" charset="0"/>
                <a:cs typeface="Arial" panose="020B0604020202090204" pitchFamily="34" charset="0"/>
              </a:rPr>
              <a:t>Source: S. Seitz</a:t>
            </a:r>
            <a:endParaRPr lang="en-US" altLang="en-US" sz="1400" dirty="0">
              <a:solidFill>
                <a:prstClr val="white">
                  <a:lumMod val="50000"/>
                </a:prstClr>
              </a:solidFill>
              <a:latin typeface="Arial" panose="020B0604020202090204" pitchFamily="34" charset="0"/>
              <a:cs typeface="Arial" panose="020B0604020202090204" pitchFamily="34" charset="0"/>
            </a:endParaRPr>
          </a:p>
        </p:txBody>
      </p:sp>
      <p:pic>
        <p:nvPicPr>
          <p:cNvPr id="13" name="Picture 12" descr="A person standing in front of a building&#10;&#10;Description generated with very high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200" y="1357313"/>
            <a:ext cx="2940050" cy="2940050"/>
          </a:xfrm>
          <a:prstGeom prst="rect">
            <a:avLst/>
          </a:prstGeom>
        </p:spPr>
      </p:pic>
      <mc:AlternateContent xmlns:mc="http://schemas.openxmlformats.org/markup-compatibility/2006">
        <mc:Choice xmlns:a14="http://schemas.microsoft.com/office/drawing/2010/main" Requires="a14">
          <p:sp>
            <p:nvSpPr>
              <p:cNvPr id="14" name="TextBox 13"/>
              <p:cNvSpPr txBox="1"/>
              <p:nvPr/>
            </p:nvSpPr>
            <p:spPr>
              <a:xfrm>
                <a:off x="6781800" y="4385043"/>
                <a:ext cx="1638300" cy="573940"/>
              </a:xfrm>
              <a:prstGeom prst="rect">
                <a:avLst/>
              </a:prstGeom>
              <a:noFill/>
            </p:spPr>
            <p:txBody>
              <a:bodyPr wrap="squar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𝜎</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4</m:t>
                      </m:r>
                      <m:rad>
                        <m:radPr>
                          <m:degHide m:val="on"/>
                          <m:ctrlP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ctrlPr>
                        </m:radPr>
                        <m:deg/>
                        <m:e>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2</m:t>
                          </m:r>
                        </m:e>
                      </m:rad>
                    </m:oMath>
                  </m:oMathPara>
                </a14:m>
                <a:endParaRPr lang="en-US" dirty="0">
                  <a:solidFill>
                    <a:prstClr val="black"/>
                  </a:solidFill>
                  <a:latin typeface="Arial" panose="020B0604020202090204" pitchFamily="34" charset="0"/>
                  <a:cs typeface="Arial" panose="020B0604020202090204" pitchFamily="34"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6781800" y="4385043"/>
                <a:ext cx="1638300" cy="573940"/>
              </a:xfrm>
              <a:prstGeom prst="rect">
                <a:avLst/>
              </a:prstGeom>
              <a:blipFill rotWithShape="1">
                <a:blip r:embed="rId2"/>
                <a:stretch>
                  <a:fillRect t="-64" b="47"/>
                </a:stretch>
              </a:blipFill>
            </p:spPr>
            <p:txBody>
              <a:bodyPr/>
              <a:lstStyle/>
              <a:p>
                <a:r>
                  <a:rPr lang="zh-CN" altLang="en-US">
                    <a:noFill/>
                  </a:rPr>
                  <a:t> </a:t>
                </a:r>
              </a:p>
            </p:txBody>
          </p:sp>
        </mc:Fallback>
      </mc:AlternateContent>
      <p:pic>
        <p:nvPicPr>
          <p:cNvPr id="3" name="Picture 2" descr="A close up of a logo&#10;&#10;Description generated with very high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0612" y="1357313"/>
            <a:ext cx="2940050" cy="2940050"/>
          </a:xfrm>
          <a:prstGeom prst="rect">
            <a:avLst/>
          </a:prstGeom>
        </p:spPr>
      </p:pic>
      <mc:AlternateContent xmlns:mc="http://schemas.openxmlformats.org/markup-compatibility/2006">
        <mc:Choice xmlns:a14="http://schemas.microsoft.com/office/drawing/2010/main" Requires="a14">
          <p:sp>
            <p:nvSpPr>
              <p:cNvPr id="17" name="TextBox 16"/>
              <p:cNvSpPr txBox="1"/>
              <p:nvPr/>
            </p:nvSpPr>
            <p:spPr>
              <a:xfrm>
                <a:off x="3753644" y="4385043"/>
                <a:ext cx="1638300" cy="573940"/>
              </a:xfrm>
              <a:prstGeom prst="rect">
                <a:avLst/>
              </a:prstGeom>
              <a:noFill/>
            </p:spPr>
            <p:txBody>
              <a:bodyPr wrap="squar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𝜎</m:t>
                      </m:r>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m:t>
                      </m:r>
                      <m:rad>
                        <m:radPr>
                          <m:degHide m:val="on"/>
                          <m:ctrlP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ctrlPr>
                        </m:radPr>
                        <m:deg/>
                        <m:e>
                          <m:r>
                            <a:rPr lang="en-US" i="1" smtClean="0">
                              <a:solidFill>
                                <a:prstClr val="black"/>
                              </a:solidFill>
                              <a:latin typeface="Cambria Math" panose="02040503050406030204" pitchFamily="18" charset="0"/>
                              <a:ea typeface="Cambria Math" panose="02040503050406030204" pitchFamily="18" charset="0"/>
                              <a:cs typeface="Arial" panose="020B0604020202090204" pitchFamily="34" charset="0"/>
                            </a:rPr>
                            <m:t>2</m:t>
                          </m:r>
                        </m:e>
                      </m:rad>
                    </m:oMath>
                  </m:oMathPara>
                </a14:m>
                <a:endParaRPr lang="en-US" dirty="0">
                  <a:solidFill>
                    <a:prstClr val="black"/>
                  </a:solidFill>
                  <a:latin typeface="Arial" panose="020B0604020202090204" pitchFamily="34" charset="0"/>
                  <a:cs typeface="Arial" panose="020B0604020202090204" pitchFamily="34" charset="0"/>
                </a:endParaRPr>
              </a:p>
            </p:txBody>
          </p:sp>
        </mc:Choice>
        <mc:Fallback>
          <p:sp>
            <p:nvSpPr>
              <p:cNvPr id="17" name="TextBox 16"/>
              <p:cNvSpPr txBox="1">
                <a:spLocks noRot="1" noChangeAspect="1" noMove="1" noResize="1" noEditPoints="1" noAdjustHandles="1" noChangeArrowheads="1" noChangeShapeType="1" noTextEdit="1"/>
              </p:cNvSpPr>
              <p:nvPr/>
            </p:nvSpPr>
            <p:spPr>
              <a:xfrm>
                <a:off x="3753644" y="4385043"/>
                <a:ext cx="1638300" cy="573940"/>
              </a:xfrm>
              <a:prstGeom prst="rect">
                <a:avLst/>
              </a:prstGeom>
              <a:blipFill rotWithShape="1">
                <a:blip r:embed="rId4"/>
                <a:stretch>
                  <a:fillRect l="-10" t="-64" r="10" b="47"/>
                </a:stretch>
              </a:blipFill>
            </p:spPr>
            <p:txBody>
              <a:bodyPr/>
              <a:lstStyle/>
              <a:p>
                <a:r>
                  <a:rPr lang="zh-CN" altLang="en-US">
                    <a:noFill/>
                  </a:rPr>
                  <a:t> </a:t>
                </a:r>
              </a:p>
            </p:txBody>
          </p:sp>
        </mc:Fallback>
      </mc:AlternateContent>
      <p:pic>
        <p:nvPicPr>
          <p:cNvPr id="5" name="Picture 4" descr="A circuit board&#10;&#10;Description generated with high confid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23406" y="1357313"/>
            <a:ext cx="2940050" cy="2940050"/>
          </a:xfrm>
          <a:prstGeom prst="rect">
            <a:avLst/>
          </a:prstGeom>
        </p:spPr>
      </p:pic>
      <p:sp>
        <p:nvSpPr>
          <p:cNvPr id="2" name="Slide Number Placeholder 1"/>
          <p:cNvSpPr>
            <a:spLocks noGrp="1"/>
          </p:cNvSpPr>
          <p:nvPr>
            <p:ph type="sldNum" sz="quarter" idx="12"/>
          </p:nvPr>
        </p:nvSpPr>
        <p:spPr/>
        <p:txBody>
          <a:bodyPr/>
          <a:lstStyle/>
          <a:p>
            <a:pPr>
              <a:defRPr/>
            </a:pPr>
            <a:fld id="{FEF89315-E386-4877-A1F0-01B082BEB717}" type="slidenum">
              <a:rPr lang="en-US" altLang="en-US" smtClean="0"/>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z="3200">
                <a:solidFill>
                  <a:srgbClr val="FF0000"/>
                </a:solidFill>
              </a:rPr>
              <a:t>Canny Characteristics</a:t>
            </a:r>
            <a:endParaRPr lang="en-US" altLang="en-US" sz="3200">
              <a:solidFill>
                <a:srgbClr val="FF0000"/>
              </a:solidFill>
            </a:endParaRPr>
          </a:p>
        </p:txBody>
      </p:sp>
      <p:sp>
        <p:nvSpPr>
          <p:cNvPr id="16387" name="Rectangle 3"/>
          <p:cNvSpPr>
            <a:spLocks noGrp="1" noChangeArrowheads="1"/>
          </p:cNvSpPr>
          <p:nvPr>
            <p:ph type="body" idx="1"/>
          </p:nvPr>
        </p:nvSpPr>
        <p:spPr/>
        <p:txBody>
          <a:bodyPr/>
          <a:lstStyle/>
          <a:p>
            <a:pPr eaLnBrk="1" hangingPunct="1">
              <a:lnSpc>
                <a:spcPct val="90000"/>
              </a:lnSpc>
            </a:pPr>
            <a:r>
              <a:rPr lang="en-US" altLang="en-US" sz="2800" dirty="0"/>
              <a:t>The Canny operator gives single-pixel-wide images with good continuation between adjacent pixels</a:t>
            </a:r>
            <a:endParaRPr lang="en-US" altLang="en-US" sz="2800" dirty="0"/>
          </a:p>
          <a:p>
            <a:pPr eaLnBrk="1" hangingPunct="1">
              <a:lnSpc>
                <a:spcPct val="90000"/>
              </a:lnSpc>
            </a:pPr>
            <a:endParaRPr lang="en-US" altLang="en-US" sz="2800" dirty="0"/>
          </a:p>
          <a:p>
            <a:pPr eaLnBrk="1" hangingPunct="1">
              <a:lnSpc>
                <a:spcPct val="90000"/>
              </a:lnSpc>
            </a:pPr>
            <a:r>
              <a:rPr lang="en-US" altLang="en-US" sz="2800" dirty="0"/>
              <a:t>It is probably the most widely used edge operator today; no one has done better since it came out in the late 80s. Many implementations are available.</a:t>
            </a:r>
            <a:endParaRPr lang="en-US" altLang="en-US" sz="2800" dirty="0"/>
          </a:p>
          <a:p>
            <a:pPr eaLnBrk="1" hangingPunct="1">
              <a:lnSpc>
                <a:spcPct val="90000"/>
              </a:lnSpc>
            </a:pPr>
            <a:endParaRPr lang="en-US" altLang="en-US" sz="2800" dirty="0"/>
          </a:p>
          <a:p>
            <a:pPr eaLnBrk="1" hangingPunct="1">
              <a:lnSpc>
                <a:spcPct val="90000"/>
              </a:lnSpc>
            </a:pPr>
            <a:r>
              <a:rPr lang="en-US" altLang="en-US" sz="2800" dirty="0"/>
              <a:t>It is very sensitive to its parameters, which need to be adjusted for different application domains.</a:t>
            </a:r>
            <a:endParaRPr lang="en-US" altLang="en-US" sz="2800" dirty="0"/>
          </a:p>
        </p:txBody>
      </p:sp>
      <p:sp>
        <p:nvSpPr>
          <p:cNvPr id="5" name="Rectangle 4"/>
          <p:cNvSpPr>
            <a:spLocks noChangeArrowheads="1"/>
          </p:cNvSpPr>
          <p:nvPr/>
        </p:nvSpPr>
        <p:spPr bwMode="auto">
          <a:xfrm>
            <a:off x="685800" y="5654675"/>
            <a:ext cx="8229600" cy="701675"/>
          </a:xfrm>
          <a:prstGeom prst="rect">
            <a:avLst/>
          </a:prstGeom>
          <a:noFill/>
          <a:ln w="9525">
            <a:noFill/>
            <a:miter lim="800000"/>
          </a:ln>
        </p:spPr>
        <p:txBody>
          <a:bodyPr anchor="ctr">
            <a:spAutoFit/>
          </a:bodyPr>
          <a:lstStyle/>
          <a:p>
            <a:pPr eaLnBrk="1" hangingPunct="1"/>
            <a:r>
              <a:rPr lang="en-US" sz="2000" dirty="0"/>
              <a:t>J. Canny, </a:t>
            </a:r>
            <a:r>
              <a:rPr lang="en-US" sz="2000" b="1" i="1" dirty="0">
                <a:hlinkClick r:id="rId1"/>
              </a:rPr>
              <a:t>A Computational Approach To Edge Detection</a:t>
            </a:r>
            <a:r>
              <a:rPr lang="en-US" sz="2000" dirty="0"/>
              <a:t>, IEEE Trans. Pattern Analysis and Machine Intelligence, 8:679-714, 1986. </a:t>
            </a:r>
            <a:endParaRPr lang="en-US" sz="2000" dirty="0"/>
          </a:p>
        </p:txBody>
      </p:sp>
      <p:sp>
        <p:nvSpPr>
          <p:cNvPr id="2" name="Slide Number Placeholder 1"/>
          <p:cNvSpPr>
            <a:spLocks noGrp="1"/>
          </p:cNvSpPr>
          <p:nvPr>
            <p:ph type="sldNum" sz="quarter" idx="12"/>
          </p:nvPr>
        </p:nvSpPr>
        <p:spPr/>
        <p:txBody>
          <a:bodyPr/>
          <a:lstStyle/>
          <a:p>
            <a:fld id="{2941B2BE-37E8-49C8-A941-FB00A9E058CF}" type="slidenum">
              <a:rPr lang="en-US" smtClean="0"/>
            </a:fld>
            <a:endParaRPr lang="en-US"/>
          </a:p>
        </p:txBody>
      </p:sp>
    </p:spTree>
  </p:cSld>
  <p:clrMapOvr>
    <a:masterClrMapping/>
  </p:clrMapOvr>
  <p:transition>
    <p:fade/>
  </p:transition>
</p:sld>
</file>

<file path=ppt/tags/tag1.xml><?xml version="1.0" encoding="utf-8"?>
<p:tagLst xmlns:p="http://schemas.openxmlformats.org/presentationml/2006/main">
  <p:tag name="_INSTRUCTOR VIEW19C14C36-AC8E-43BC-9DB6-C2AAF774C7DC|PANE__TAG" val="_"/>
</p:tagLst>
</file>

<file path=ppt/tags/tag2.xml><?xml version="1.0" encoding="utf-8"?>
<p:tagLst xmlns:p="http://schemas.openxmlformats.org/presentationml/2006/main">
  <p:tag name="HIDDENFONTSHAPE" val="true"/>
  <p:tag name="_INSTRUCTOR VIEW19C14C36-AC8E-43BC-9DB6-C2AAF774C7DC|PANE__TAG" val="_"/>
</p:tagLst>
</file>

<file path=ppt/tags/tag3.xml><?xml version="1.0" encoding="utf-8"?>
<p:tagLst xmlns:p="http://schemas.openxmlformats.org/presentationml/2006/main">
  <p:tag name="_INSTRUCTOR VIEW19C14C36-AC8E-43BC-9DB6-C2AAF774C7DC|PANE__TAG" val="_"/>
</p:tagLst>
</file>

<file path=ppt/tags/tag4.xml><?xml version="1.0" encoding="utf-8"?>
<p:tagLst xmlns:p="http://schemas.openxmlformats.org/presentationml/2006/main">
  <p:tag name="_INSTRUCTOR VIEW19C14C36-AC8E-43BC-9DB6-C2AAF774C7DC|PANE__TAG" val="_"/>
</p:tagLst>
</file>

<file path=ppt/tags/tag5.xml><?xml version="1.0" encoding="utf-8"?>
<p:tagLst xmlns:p="http://schemas.openxmlformats.org/presentationml/2006/main">
  <p:tag name="_INSTRUCTOR VIEW19C14C36-AC8E-43BC-9DB6-C2AAF774C7DC|PANE__TAG" val="_"/>
</p:tagLst>
</file>

<file path=ppt/tags/tag6.xml><?xml version="1.0" encoding="utf-8"?>
<p:tagLst xmlns:p="http://schemas.openxmlformats.org/presentationml/2006/main">
  <p:tag name="_INSTRUCTOR VIEW19C14C36-AC8E-43BC-9DB6-C2AAF774C7DC|PANE__TAG" val="_"/>
</p:tagLst>
</file>

<file path=ppt/tags/tag7.xml><?xml version="1.0" encoding="utf-8"?>
<p:tagLst xmlns:p="http://schemas.openxmlformats.org/presentationml/2006/main">
  <p:tag name="_INSTRUCTOR VIEW19C14C36-AC8E-43BC-9DB6-C2AAF774C7DC|PANE__TAG" val="_"/>
</p:tagLst>
</file>

<file path=ppt/tags/tag8.xml><?xml version="1.0" encoding="utf-8"?>
<p:tagLst xmlns:p="http://schemas.openxmlformats.org/presentationml/2006/main">
  <p:tag name="_INSTRUCTOR VIEW19C14C36-AC8E-43BC-9DB6-C2AAF774C7DC|PANE__TAG" val="_"/>
</p:tagLst>
</file>

<file path=ppt/tags/tag9.xml><?xml version="1.0" encoding="utf-8"?>
<p:tagLst xmlns:p="http://schemas.openxmlformats.org/presentationml/2006/main">
  <p:tag name="_INSTRUCTOR VIEW19C14C36-AC8E-43BC-9DB6-C2AAF774C7DC|PANE__TAG" val="_"/>
</p:tagLst>
</file>

<file path=ppt/tags/tag10.xml><?xml version="1.0" encoding="utf-8"?>
<p:tagLst xmlns:p="http://schemas.openxmlformats.org/presentationml/2006/main">
  <p:tag name="_INSTRUCTOR VIEW19C14C36-AC8E-43BC-9DB6-C2AAF774C7DC|PANE__TAG" val="_"/>
</p:tagLst>
</file>

<file path=ppt/tags/tag11.xml><?xml version="1.0" encoding="utf-8"?>
<p:tagLst xmlns:p="http://schemas.openxmlformats.org/presentationml/2006/main">
  <p:tag name="_INSTRUCTOR VIEW19C14C36-AC8E-43BC-9DB6-C2AAF774C7DC|PANE__TAG" val="_"/>
</p:tagLst>
</file>

<file path=ppt/tags/tag12.xml><?xml version="1.0" encoding="utf-8"?>
<p:tagLst xmlns:p="http://schemas.openxmlformats.org/presentationml/2006/main">
  <p:tag name="_INSTRUCTOR VIEW19C14C36-AC8E-43BC-9DB6-C2AAF774C7DC|PANE__TAG" val="_"/>
</p:tagLst>
</file>

<file path=ppt/tags/tag13.xml><?xml version="1.0" encoding="utf-8"?>
<p:tagLst xmlns:p="http://schemas.openxmlformats.org/presentationml/2006/main">
  <p:tag name="_INSTRUCTOR VIEW19C14C36-AC8E-43BC-9DB6-C2AAF774C7DC|PANE__TAG" val="_"/>
</p:tagLst>
</file>

<file path=ppt/tags/tag14.xml><?xml version="1.0" encoding="utf-8"?>
<p:tagLst xmlns:p="http://schemas.openxmlformats.org/presentationml/2006/main">
  <p:tag name="_INSTRUCTOR VIEW19C14C36-AC8E-43BC-9DB6-C2AAF774C7DC|PANE__TAG" val="_"/>
</p:tagLst>
</file>

<file path=ppt/tags/tag15.xml><?xml version="1.0" encoding="utf-8"?>
<p:tagLst xmlns:p="http://schemas.openxmlformats.org/presentationml/2006/main">
  <p:tag name="_INSTRUCTOR VIEW19C14C36-AC8E-43BC-9DB6-C2AAF774C7DC|PANE__TAG" val="_"/>
</p:tagLst>
</file>

<file path=ppt/tags/tag16.xml><?xml version="1.0" encoding="utf-8"?>
<p:tagLst xmlns:p="http://schemas.openxmlformats.org/presentationml/2006/main">
  <p:tag name="SOURCE" val="\documentclass{slides}\pagestyle{empty}&#10;\begin{document}&#10;\[&#10;\frac{\partial f}{\partial x}[x,y] \approx&#10;F[x + 1,y] - F[x,y]&#10;\]&#10;\end{document}&#10;"/>
  <p:tag name="EXTERNALNAME" val="Edittex"/>
  <p:tag name="BLEND" val="False"/>
  <p:tag name="TRANSPARENT" val="False"/>
  <p:tag name="KEEPFILES" val="False"/>
  <p:tag name="DEBUGPAUSE" val="False"/>
  <p:tag name="RESOLUTION" val="1200"/>
  <p:tag name="TIMEOUT" val="(none)"/>
  <p:tag name="BOXWIDTH" val="348"/>
  <p:tag name="BOXHEIGHT" val="317"/>
  <p:tag name="BOXFONT" val="10"/>
  <p:tag name="BOXWRAP" val="False"/>
  <p:tag name="WORKAROUNDTRANSPARENCYBUG" val="False"/>
  <p:tag name="BITMAPFORMAT" val="bmpmono"/>
  <p:tag name="DEBUGINTERACTIVE" val="True"/>
  <p:tag name="ORIGWIDTH" val="291"/>
  <p:tag name="PICTUREFILESIZE" val="445726"/>
  <p:tag name="_INSTRUCTOR VIEW19C14C36-AC8E-43BC-9DB6-C2AAF774C7DC|PANE__TAG" val="_"/>
</p:tagLst>
</file>

<file path=ppt/tags/tag17.xml><?xml version="1.0" encoding="utf-8"?>
<p:tagLst xmlns:p="http://schemas.openxmlformats.org/presentationml/2006/main">
  <p:tag name="SOURCE" val="\documentclass{slides}\pagestyle{empty}&#10;\begin{document}&#10;$\nabla f = \left[\frac{\partial f}{\partial x},\frac{\partial f}{\partial y}\right]$&#10;\end{document}&#10;"/>
  <p:tag name="EXTERNALNAME" val="Edittex"/>
  <p:tag name="BLEND" val="False"/>
  <p:tag name="TRANSPARENT" val="False"/>
  <p:tag name="BITMAPFORMAT" val="bmpmono"/>
  <p:tag name="DEBUGINTERACTIVE" val="True"/>
  <p:tag name="ORIGWIDTH" val="479.75"/>
</p:tagLst>
</file>

<file path=ppt/tags/tag18.xml><?xml version="1.0" encoding="utf-8"?>
<p:tagLst xmlns:p="http://schemas.openxmlformats.org/presentationml/2006/main">
  <p:tag name="SOURCE" val="\documentclass{slides}\pagestyle{empty}&#10;\begin{document}&#10;$\nabla f = \left[\frac{\partial f}{\partial x},\frac{\partial f}{\partial y}\right]$&#10;\end{document}&#10;"/>
  <p:tag name="EXTERNALNAME" val="Edittex"/>
  <p:tag name="BLEND" val="False"/>
  <p:tag name="TRANSPARENT" val="False"/>
  <p:tag name="BITMAPFORMAT" val="bmpmono"/>
  <p:tag name="DEBUGINTERACTIVE" val="True"/>
  <p:tag name="ORIGWIDTH" val="479.75"/>
</p:tagLst>
</file>

<file path=ppt/tags/tag19.xml><?xml version="1.0" encoding="utf-8"?>
<p:tagLst xmlns:p="http://schemas.openxmlformats.org/presentationml/2006/main">
  <p:tag name="SOURCE" val="\documentclass{slides}\pagestyle{empty}&#10;\begin{document}&#10;$\nabla f = \left[\frac{\partial f}{\partial x},0\right]$&#10;\end{document}&#10;"/>
  <p:tag name="EXTERNALNAME" val="Edittex"/>
  <p:tag name="BLEND" val="False"/>
  <p:tag name="TRANSPARENT" val="False"/>
  <p:tag name="BITMAPFORMAT" val="bmpmono"/>
  <p:tag name="DEBUGINTERACTIVE" val="True"/>
  <p:tag name="ORIGWIDTH" val="441.875"/>
</p:tagLst>
</file>

<file path=ppt/tags/tag20.xml><?xml version="1.0" encoding="utf-8"?>
<p:tagLst xmlns:p="http://schemas.openxmlformats.org/presentationml/2006/main">
  <p:tag name="SOURCE" val="\documentclass{slides}\pagestyle{empty}&#10;\begin{document}&#10;$\nabla f = \left[0,\frac{\partial f}{\partial y}\right]$&#10;\end{document}&#10;"/>
  <p:tag name="EXTERNALNAME" val="Edittex"/>
  <p:tag name="BLEND" val="False"/>
  <p:tag name="TRANSPARENT" val="False"/>
  <p:tag name="BITMAPFORMAT" val="bmpmono"/>
  <p:tag name="DEBUGINTERACTIVE" val="True"/>
  <p:tag name="ORIGWIDTH" val="441.875"/>
</p:tagLst>
</file>

<file path=ppt/tags/tag21.xml><?xml version="1.0" encoding="utf-8"?>
<p:tagLst xmlns:p="http://schemas.openxmlformats.org/presentationml/2006/main">
  <p:tag name="SOURCE" val="\documentclass{slides}\pagestyle{empty}&#10;\begin{document}&#10;$\theta$&#10;\end{document}&#10;"/>
  <p:tag name="EXTERNALNAME" val="Edittex"/>
  <p:tag name="BLEND" val="False"/>
  <p:tag name="TRANSPARENT" val="True"/>
  <p:tag name="BITMAPFORMAT" val="bmpmono"/>
  <p:tag name="DEBUGINTERACTIVE" val="True"/>
  <p:tag name="ORIGWIDTH" val="33.25"/>
</p:tagLst>
</file>

<file path=ppt/tags/tag22.xml><?xml version="1.0" encoding="utf-8"?>
<p:tagLst xmlns:p="http://schemas.openxmlformats.org/presentationml/2006/main">
  <p:tag name="SOURCE" val="\documentclass{slides}\pagestyle{empty}&#10;\begin{document}&#10;$\theta = \tan^{-1} \left(\frac{\partial f}{\partial y}/\frac{\partial f}{\partial x}\right)$&#10;\end{document}&#10;"/>
  <p:tag name="EXTERNALNAME" val="Edittex"/>
  <p:tag name="BLEND" val="False"/>
  <p:tag name="TRANSPARENT" val="False"/>
  <p:tag name="BITMAPFORMAT" val="bmpmono"/>
  <p:tag name="DEBUGINTERACTIVE" val="True"/>
  <p:tag name="ORIGWIDTH" val="659.75"/>
</p:tagLst>
</file>

<file path=ppt/tags/tag23.xml><?xml version="1.0" encoding="utf-8"?>
<p:tagLst xmlns:p="http://schemas.openxmlformats.org/presentationml/2006/main">
  <p:tag name="SOURCE" val="\documentclass{slides}\pagestyle{empty}&#10;\begin{document}&#10;$\|\nabla f\| = \sqrt{{(\frac{\partial f}{\partial x})}^2 + {(\frac{\partial f}{\partial y})}^2}$&#10;\end{document}&#10;"/>
  <p:tag name="EXTERNALNAME" val="Edittex"/>
  <p:tag name="BLEND" val="False"/>
  <p:tag name="TRANSPARENT" val="False"/>
  <p:tag name="BITMAPFORMAT" val="bmpmono"/>
  <p:tag name="DEBUGINTERACTIVE" val="True"/>
  <p:tag name="ORIGWIDTH" val="873"/>
</p:tagLst>
</file>

<file path=ppt/tags/tag24.xml><?xml version="1.0" encoding="utf-8"?>
<p:tagLst xmlns:p="http://schemas.openxmlformats.org/presentationml/2006/main">
  <p:tag name="SOURCE" val="\documentclass{slides}\pagestyle{empty}&#10;\begin{document}&#10;$f(x)$&#10;\end{document}&#10;"/>
  <p:tag name="EXTERNALNAME" val="txp_fig"/>
  <p:tag name="BLEND" val="False"/>
  <p:tag name="TRANSPARENT" val="False"/>
  <p:tag name="KEEPFILES" val="False"/>
  <p:tag name="DEBUGPAUSE" val="False"/>
  <p:tag name="RESOLUTION" val="300"/>
  <p:tag name="BITMAPFORMAT" val="bmpmono"/>
  <p:tag name="DEBUGINTERACTIVE" val="True"/>
  <p:tag name="ORIGWIDTH" val="153"/>
  <p:tag name="PICTUREFILESIZE" val="2054"/>
</p:tagLst>
</file>

<file path=ppt/tags/tag25.xml><?xml version="1.0" encoding="utf-8"?>
<p:tagLst xmlns:p="http://schemas.openxmlformats.org/presentationml/2006/main">
  <p:tag name="SOURCE" val="\documentclass{slides}\pagestyle{empty}&#10;\begin{document}&#10;$\frac{d}{dx}f(x)$&#10;\end{document}&#10;"/>
  <p:tag name="EXTERNALNAME" val="txp_fig"/>
  <p:tag name="BLEND" val="False"/>
  <p:tag name="TRANSPARENT" val="False"/>
  <p:tag name="KEEPFILES" val="False"/>
  <p:tag name="DEBUGPAUSE" val="False"/>
  <p:tag name="RESOLUTION" val="300"/>
  <p:tag name="BITMAPFORMAT" val="bmpmono"/>
  <p:tag name="DEBUGINTERACTIVE" val="True"/>
  <p:tag name="ORIGWIDTH" val="232.25"/>
  <p:tag name="PICTUREFILESIZE" val="4238"/>
</p:tagLst>
</file>

<file path=ppt/tags/tag26.xml><?xml version="1.0" encoding="utf-8"?>
<p:tagLst xmlns:p="http://schemas.openxmlformats.org/presentationml/2006/main">
  <p:tag name="_INSTRUCTOR VIEW19C14C36-AC8E-43BC-9DB6-C2AAF774C7DC|PANE__TAG" val="_"/>
</p:tagLst>
</file>

<file path=ppt/tags/tag27.xml><?xml version="1.0" encoding="utf-8"?>
<p:tagLst xmlns:p="http://schemas.openxmlformats.org/presentationml/2006/main">
  <p:tag name="_INSTRUCTOR VIEW19C14C36-AC8E-43BC-9DB6-C2AAF774C7DC|PANE__TAG" val="_"/>
</p:tagLst>
</file>

<file path=ppt/tags/tag28.xml><?xml version="1.0" encoding="utf-8"?>
<p:tagLst xmlns:p="http://schemas.openxmlformats.org/presentationml/2006/main">
  <p:tag name="_INSTRUCTOR VIEW19C14C36-AC8E-43BC-9DB6-C2AAF774C7DC|PANE__TAG" val="_"/>
</p:tagLst>
</file>

<file path=ppt/tags/tag29.xml><?xml version="1.0" encoding="utf-8"?>
<p:tagLst xmlns:p="http://schemas.openxmlformats.org/presentationml/2006/main">
  <p:tag name="_INSTRUCTOR VIEW19C14C36-AC8E-43BC-9DB6-C2AAF774C7DC|PANE__TAG" val="_"/>
</p:tagLst>
</file>

<file path=ppt/tags/tag30.xml><?xml version="1.0" encoding="utf-8"?>
<p:tagLst xmlns:p="http://schemas.openxmlformats.org/presentationml/2006/main">
  <p:tag name="SOURCE" val="\documentclass{slides}\pagestyle{empty}&#10;\begin{document}&#10;$\frac{1}{8}$&#10;\end{document}&#10;"/>
  <p:tag name="EXTERNALNAME" val="Edittex"/>
  <p:tag name="BLEND" val="False"/>
  <p:tag name="TRANSPARENT" val="False"/>
  <p:tag name="KEEPFILES" val="False"/>
  <p:tag name="DEBUGPAUSE" val="False"/>
  <p:tag name="RESOLUTION" val="300"/>
  <p:tag name="BITMAPFORMAT" val="bmpmono"/>
  <p:tag name="DEBUGINTERACTIVE" val="True"/>
  <p:tag name="ORIGWIDTH" val="45"/>
  <p:tag name="PICTUREFILESIZE" val="990"/>
  <p:tag name="_INSTRUCTOR VIEW19C14C36-AC8E-43BC-9DB6-C2AAF774C7DC|PANE__TAG" val="_"/>
</p:tagLst>
</file>

<file path=ppt/tags/tag31.xml><?xml version="1.0" encoding="utf-8"?>
<p:tagLst xmlns:p="http://schemas.openxmlformats.org/presentationml/2006/main">
  <p:tag name="SOURCE" val="\documentclass{slides}\pagestyle{empty}&#10;\begin{document}&#10;$\frac{1}{8}$&#10;\end{document}&#10;"/>
  <p:tag name="EXTERNALNAME" val="Edittex"/>
  <p:tag name="BLEND" val="False"/>
  <p:tag name="TRANSPARENT" val="False"/>
  <p:tag name="KEEPFILES" val="False"/>
  <p:tag name="DEBUGPAUSE" val="False"/>
  <p:tag name="RESOLUTION" val="300"/>
  <p:tag name="BITMAPFORMAT" val="bmpmono"/>
  <p:tag name="DEBUGINTERACTIVE" val="True"/>
  <p:tag name="ORIGWIDTH" val="45"/>
  <p:tag name="PICTUREFILESIZE" val="990"/>
  <p:tag name="_INSTRUCTOR VIEW19C14C36-AC8E-43BC-9DB6-C2AAF774C7DC|PANE__TAG" val="_"/>
</p:tagLst>
</file>

<file path=ppt/tags/tag32.xml><?xml version="1.0" encoding="utf-8"?>
<p:tagLst xmlns:p="http://schemas.openxmlformats.org/presentationml/2006/main">
  <p:tag name="_INSTRUCTOR VIEW19C14C36-AC8E-43BC-9DB6-C2AAF774C7DC|PANE__TAG" val="_"/>
</p:tagLst>
</file>

<file path=ppt/tags/tag33.xml><?xml version="1.0" encoding="utf-8"?>
<p:tagLst xmlns:p="http://schemas.openxmlformats.org/presentationml/2006/main">
  <p:tag name="SOURCE" val="\documentclass{slides}\pagestyle{empty}&#10;\begin{document}&#10;$s_x$&#10;\end{document}&#10;"/>
  <p:tag name="EXTERNALNAME" val="Edittex"/>
  <p:tag name="BLEND" val="False"/>
  <p:tag name="TRANSPARENT" val="False"/>
  <p:tag name="BITMAPFORMAT" val="bmpmono"/>
  <p:tag name="DEBUGINTERACTIVE" val="True"/>
  <p:tag name="ORIGWIDTH" val="71.125"/>
  <p:tag name="_INSTRUCTOR VIEW19C14C36-AC8E-43BC-9DB6-C2AAF774C7DC|PANE__TAG" val="_"/>
</p:tagLst>
</file>

<file path=ppt/tags/tag34.xml><?xml version="1.0" encoding="utf-8"?>
<p:tagLst xmlns:p="http://schemas.openxmlformats.org/presentationml/2006/main">
  <p:tag name="SOURCE" val="\documentclass{slides}\pagestyle{empty}&#10;\begin{document}&#10;$s_y$&#10;\end{document}&#10;"/>
  <p:tag name="EXTERNALNAME" val="Edittex"/>
  <p:tag name="BLEND" val="False"/>
  <p:tag name="TRANSPARENT" val="False"/>
  <p:tag name="BITMAPFORMAT" val="bmpmono"/>
  <p:tag name="DEBUGINTERACTIVE" val="True"/>
  <p:tag name="ORIGWIDTH" val="67.5"/>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ustom1">
  <a:themeElements>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custom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anose="020B0604030504040204" pitchFamily="34" charset="0"/>
          </a:defRPr>
        </a:defPPr>
      </a:lstStyle>
    </a:lnDef>
  </a:objectDefaults>
  <a:extraClrSchemeLst>
    <a:extraClrScheme>
      <a:clrScheme name="custom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ustom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custom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ustom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ustom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ustom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5496</Words>
  <Application>WPS 演示</Application>
  <PresentationFormat>On-screen Show (4:3)</PresentationFormat>
  <Paragraphs>448</Paragraphs>
  <Slides>41</Slides>
  <Notes>24</Notes>
  <HiddenSlides>0</HiddenSlides>
  <MMClips>0</MMClips>
  <ScaleCrop>false</ScaleCrop>
  <HeadingPairs>
    <vt:vector size="8" baseType="variant">
      <vt:variant>
        <vt:lpstr>已用的字体</vt:lpstr>
      </vt:variant>
      <vt:variant>
        <vt:i4>28</vt:i4>
      </vt:variant>
      <vt:variant>
        <vt:lpstr>主题</vt:lpstr>
      </vt:variant>
      <vt:variant>
        <vt:i4>8</vt:i4>
      </vt:variant>
      <vt:variant>
        <vt:lpstr>嵌入 OLE 服务器</vt:lpstr>
      </vt:variant>
      <vt:variant>
        <vt:i4>1</vt:i4>
      </vt:variant>
      <vt:variant>
        <vt:lpstr>幻灯片标题</vt:lpstr>
      </vt:variant>
      <vt:variant>
        <vt:i4>41</vt:i4>
      </vt:variant>
    </vt:vector>
  </HeadingPairs>
  <TitlesOfParts>
    <vt:vector size="78" baseType="lpstr">
      <vt:lpstr>Arial</vt:lpstr>
      <vt:lpstr>宋体</vt:lpstr>
      <vt:lpstr>Wingdings</vt:lpstr>
      <vt:lpstr>Kalinga</vt:lpstr>
      <vt:lpstr>苹方-简</vt:lpstr>
      <vt:lpstr>Calibri</vt:lpstr>
      <vt:lpstr>Helvetica Neue</vt:lpstr>
      <vt:lpstr>Arial</vt:lpstr>
      <vt:lpstr>Tahoma</vt:lpstr>
      <vt:lpstr>Times New Roman</vt:lpstr>
      <vt:lpstr>CMMI10</vt:lpstr>
      <vt:lpstr>CMR7</vt:lpstr>
      <vt:lpstr>CMR10</vt:lpstr>
      <vt:lpstr>微软雅黑</vt:lpstr>
      <vt:lpstr>方正雅意黑 GB18030L2</vt:lpstr>
      <vt:lpstr>宋体</vt:lpstr>
      <vt:lpstr>Arial Unicode MS</vt:lpstr>
      <vt:lpstr>汉仪书宋二KW</vt:lpstr>
      <vt:lpstr>Myriad Roman</vt:lpstr>
      <vt:lpstr>MS PGothic</vt:lpstr>
      <vt:lpstr>Arial Bold</vt:lpstr>
      <vt:lpstr>Courier New</vt:lpstr>
      <vt:lpstr>Cambria Math</vt:lpstr>
      <vt:lpstr>Kingsoft Math</vt:lpstr>
      <vt:lpstr>DejaVu Math TeX Gyre</vt:lpstr>
      <vt:lpstr>Symbol</vt:lpstr>
      <vt:lpstr>Kingsoft Sign</vt:lpstr>
      <vt:lpstr>Symbol</vt:lpstr>
      <vt:lpstr>Office Theme</vt:lpstr>
      <vt:lpstr>1_Office Theme</vt:lpstr>
      <vt:lpstr>2_Office Theme</vt:lpstr>
      <vt:lpstr>3_Office Theme</vt:lpstr>
      <vt:lpstr>6_Office Theme</vt:lpstr>
      <vt:lpstr>8_Office Theme</vt:lpstr>
      <vt:lpstr>9_Office Theme</vt:lpstr>
      <vt:lpstr>custom1</vt:lpstr>
      <vt:lpstr>PBrush</vt:lpstr>
      <vt:lpstr> CS 5187: Vision and Image Lecture 1-3 Edge Detection</vt:lpstr>
      <vt:lpstr>Edge detection</vt:lpstr>
      <vt:lpstr>Edge detection</vt:lpstr>
      <vt:lpstr>Origin of Edges</vt:lpstr>
      <vt:lpstr>Images as functions…</vt:lpstr>
      <vt:lpstr>Closeup of edges</vt:lpstr>
      <vt:lpstr>Closeup of edges</vt:lpstr>
      <vt:lpstr>Closeup of edges</vt:lpstr>
      <vt:lpstr>Closeup of edges</vt:lpstr>
      <vt:lpstr>Characterizing edges</vt:lpstr>
      <vt:lpstr>Image derivatives</vt:lpstr>
      <vt:lpstr>Image gradient</vt:lpstr>
      <vt:lpstr>Image gradient</vt:lpstr>
      <vt:lpstr>Effects of noise</vt:lpstr>
      <vt:lpstr>Solution: smooth first</vt:lpstr>
      <vt:lpstr>Associative property of convolution</vt:lpstr>
      <vt:lpstr>The 1D Gaussian and its derivatives</vt:lpstr>
      <vt:lpstr>Derivative of Gaussian filter</vt:lpstr>
      <vt:lpstr>The Sobel operator</vt:lpstr>
      <vt:lpstr>Sobel operator: example</vt:lpstr>
      <vt:lpstr>PowerPoint 演示文稿</vt:lpstr>
      <vt:lpstr>Laplacian of Gaussian (LoG)</vt:lpstr>
      <vt:lpstr>2D edge detection filters</vt:lpstr>
      <vt:lpstr>Laplacian for Edge Detection</vt:lpstr>
      <vt:lpstr>Using the LoG Function</vt:lpstr>
      <vt:lpstr>Designing an edge detector</vt:lpstr>
      <vt:lpstr>Canny edge detector</vt:lpstr>
      <vt:lpstr>Example</vt:lpstr>
      <vt:lpstr>Finding edges</vt:lpstr>
      <vt:lpstr>PowerPoint 演示文稿</vt:lpstr>
      <vt:lpstr>Get Orientation at Each Pixel</vt:lpstr>
      <vt:lpstr>Non-maximum suppression</vt:lpstr>
      <vt:lpstr>Before Non-max Suppression</vt:lpstr>
      <vt:lpstr>After Non-max Suppression</vt:lpstr>
      <vt:lpstr>PowerPoint 演示文稿</vt:lpstr>
      <vt:lpstr>PowerPoint 演示文稿</vt:lpstr>
      <vt:lpstr>Canny edge detector</vt:lpstr>
      <vt:lpstr>‘Hysteresis’ thresholding</vt:lpstr>
      <vt:lpstr>Final Canny Edges</vt:lpstr>
      <vt:lpstr>Effect of  (Gaussian kernel spread/size)</vt:lpstr>
      <vt:lpstr>Canny Characteristics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Images and image filtering</dc:title>
  <dc:creator>Noah Snavely</dc:creator>
  <cp:lastModifiedBy>WPS_1649552930</cp:lastModifiedBy>
  <cp:revision>226</cp:revision>
  <dcterms:created xsi:type="dcterms:W3CDTF">2026-09-04T13:54:03Z</dcterms:created>
  <dcterms:modified xsi:type="dcterms:W3CDTF">2026-09-04T13:54:03Z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2052-12.1.26055.26055</vt:lpwstr>
  </property>
  <property fmtid="{D5CDD505-2E9C-101B-9397-08002B2CF9AE}" pid="3" name="ICV">
    <vt:lpwstr>0A3FB5C7C304CA1E7BCD9A6A521E2C3A_42</vt:lpwstr>
  </property>
</Properties>
</file>