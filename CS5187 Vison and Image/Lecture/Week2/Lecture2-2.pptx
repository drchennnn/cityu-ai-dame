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03" r:id="rId2"/>
    <p:sldMasterId id="2147483716" r:id="rId3"/>
  </p:sldMasterIdLst>
  <p:notesMasterIdLst>
    <p:notesMasterId r:id="rId59"/>
  </p:notesMasterIdLst>
  <p:handoutMasterIdLst>
    <p:handoutMasterId r:id="rId60"/>
  </p:handoutMasterIdLst>
  <p:sldIdLst>
    <p:sldId id="256" r:id="rId4"/>
    <p:sldId id="272" r:id="rId5"/>
    <p:sldId id="257" r:id="rId6"/>
    <p:sldId id="273" r:id="rId7"/>
    <p:sldId id="274" r:id="rId8"/>
    <p:sldId id="320" r:id="rId9"/>
    <p:sldId id="277" r:id="rId10"/>
    <p:sldId id="325" r:id="rId11"/>
    <p:sldId id="278" r:id="rId12"/>
    <p:sldId id="280" r:id="rId13"/>
    <p:sldId id="284" r:id="rId14"/>
    <p:sldId id="285" r:id="rId15"/>
    <p:sldId id="286" r:id="rId16"/>
    <p:sldId id="357" r:id="rId17"/>
    <p:sldId id="359" r:id="rId18"/>
    <p:sldId id="290" r:id="rId19"/>
    <p:sldId id="291" r:id="rId20"/>
    <p:sldId id="292" r:id="rId21"/>
    <p:sldId id="293" r:id="rId22"/>
    <p:sldId id="294" r:id="rId23"/>
    <p:sldId id="295" r:id="rId24"/>
    <p:sldId id="297" r:id="rId25"/>
    <p:sldId id="332" r:id="rId26"/>
    <p:sldId id="298" r:id="rId27"/>
    <p:sldId id="299" r:id="rId28"/>
    <p:sldId id="300" r:id="rId29"/>
    <p:sldId id="301" r:id="rId30"/>
    <p:sldId id="303" r:id="rId31"/>
    <p:sldId id="333" r:id="rId32"/>
    <p:sldId id="358" r:id="rId33"/>
    <p:sldId id="334" r:id="rId34"/>
    <p:sldId id="335" r:id="rId35"/>
    <p:sldId id="336" r:id="rId36"/>
    <p:sldId id="337" r:id="rId37"/>
    <p:sldId id="338" r:id="rId38"/>
    <p:sldId id="339" r:id="rId39"/>
    <p:sldId id="340" r:id="rId40"/>
    <p:sldId id="341" r:id="rId41"/>
    <p:sldId id="342" r:id="rId42"/>
    <p:sldId id="343" r:id="rId43"/>
    <p:sldId id="344" r:id="rId44"/>
    <p:sldId id="345" r:id="rId45"/>
    <p:sldId id="346" r:id="rId46"/>
    <p:sldId id="347" r:id="rId47"/>
    <p:sldId id="348" r:id="rId48"/>
    <p:sldId id="349" r:id="rId49"/>
    <p:sldId id="350" r:id="rId50"/>
    <p:sldId id="351" r:id="rId51"/>
    <p:sldId id="352" r:id="rId52"/>
    <p:sldId id="353" r:id="rId53"/>
    <p:sldId id="354" r:id="rId54"/>
    <p:sldId id="355" r:id="rId55"/>
    <p:sldId id="356" r:id="rId56"/>
    <p:sldId id="360" r:id="rId57"/>
    <p:sldId id="317" r:id="rId58"/>
  </p:sldIdLst>
  <p:sldSz cx="9144000" cy="6858000" type="screen4x3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94" autoAdjust="0"/>
    <p:restoredTop sz="71039"/>
  </p:normalViewPr>
  <p:slideViewPr>
    <p:cSldViewPr snapToGrid="0" snapToObjects="1">
      <p:cViewPr varScale="1">
        <p:scale>
          <a:sx n="47" d="100"/>
          <a:sy n="47" d="100"/>
        </p:scale>
        <p:origin x="1886" y="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presProps" Target="pres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handoutMaster" Target="handoutMasters/handout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peng" userId="766581d8-4b49-4c74-b70d-570e2257b99b" providerId="ADAL" clId="{3A892CBC-5AAD-4077-91A5-79CA48C0B9E0}"/>
    <pc:docChg chg="modSld">
      <pc:chgData name="Dapeng" userId="766581d8-4b49-4c74-b70d-570e2257b99b" providerId="ADAL" clId="{3A892CBC-5AAD-4077-91A5-79CA48C0B9E0}" dt="2024-08-30T10:39:29.539" v="3" actId="20577"/>
      <pc:docMkLst>
        <pc:docMk/>
      </pc:docMkLst>
      <pc:sldChg chg="modSp mod">
        <pc:chgData name="Dapeng" userId="766581d8-4b49-4c74-b70d-570e2257b99b" providerId="ADAL" clId="{3A892CBC-5AAD-4077-91A5-79CA48C0B9E0}" dt="2024-08-30T10:39:29.539" v="3" actId="20577"/>
        <pc:sldMkLst>
          <pc:docMk/>
          <pc:sldMk cId="0" sldId="256"/>
        </pc:sldMkLst>
        <pc:spChg chg="mod">
          <ac:chgData name="Dapeng" userId="766581d8-4b49-4c74-b70d-570e2257b99b" providerId="ADAL" clId="{3A892CBC-5AAD-4077-91A5-79CA48C0B9E0}" dt="2024-08-30T10:39:29.539" v="3" actId="20577"/>
          <ac:spMkLst>
            <pc:docMk/>
            <pc:sldMk cId="0" sldId="256"/>
            <ac:spMk id="6146" creationId="{3A1339C4-60C5-8DCF-4DB4-2245250D25B3}"/>
          </ac:spMkLst>
        </pc:spChg>
      </pc:sldChg>
    </pc:docChg>
  </pc:docChgLst>
  <pc:docChgLst>
    <pc:chgData name="Prof. WU Dapeng" userId="766581d8-4b49-4c74-b70d-570e2257b99b" providerId="ADAL" clId="{961DDFB1-F107-4E01-B449-CF31EC6D752A}"/>
    <pc:docChg chg="undo custSel addSld modSld sldOrd modMainMaster">
      <pc:chgData name="Prof. WU Dapeng" userId="766581d8-4b49-4c74-b70d-570e2257b99b" providerId="ADAL" clId="{961DDFB1-F107-4E01-B449-CF31EC6D752A}" dt="2023-01-17T04:00:55.170" v="213" actId="207"/>
      <pc:docMkLst>
        <pc:docMk/>
      </pc:docMkLst>
      <pc:sldChg chg="modSp add mod">
        <pc:chgData name="Prof. WU Dapeng" userId="766581d8-4b49-4c74-b70d-570e2257b99b" providerId="ADAL" clId="{961DDFB1-F107-4E01-B449-CF31EC6D752A}" dt="2023-01-14T14:35:17.510" v="13" actId="20577"/>
        <pc:sldMkLst>
          <pc:docMk/>
          <pc:sldMk cId="0" sldId="256"/>
        </pc:sldMkLst>
        <pc:spChg chg="mod">
          <ac:chgData name="Prof. WU Dapeng" userId="766581d8-4b49-4c74-b70d-570e2257b99b" providerId="ADAL" clId="{961DDFB1-F107-4E01-B449-CF31EC6D752A}" dt="2023-01-14T14:35:17.510" v="13" actId="20577"/>
          <ac:spMkLst>
            <pc:docMk/>
            <pc:sldMk cId="0" sldId="256"/>
            <ac:spMk id="6147" creationId="{8302DAF3-E5D1-04A4-59C3-473F9FBD31B0}"/>
          </ac:spMkLst>
        </pc:spChg>
      </pc:sldChg>
      <pc:sldChg chg="ord">
        <pc:chgData name="Prof. WU Dapeng" userId="766581d8-4b49-4c74-b70d-570e2257b99b" providerId="ADAL" clId="{961DDFB1-F107-4E01-B449-CF31EC6D752A}" dt="2023-01-14T14:19:53.109" v="3"/>
        <pc:sldMkLst>
          <pc:docMk/>
          <pc:sldMk cId="3077847651" sldId="272"/>
        </pc:sldMkLst>
      </pc:sldChg>
      <pc:sldChg chg="addSp delSp modSp mod modClrScheme chgLayout">
        <pc:chgData name="Prof. WU Dapeng" userId="766581d8-4b49-4c74-b70d-570e2257b99b" providerId="ADAL" clId="{961DDFB1-F107-4E01-B449-CF31EC6D752A}" dt="2023-01-14T14:34:34.594" v="10" actId="207"/>
        <pc:sldMkLst>
          <pc:docMk/>
          <pc:sldMk cId="0" sldId="273"/>
        </pc:sldMkLst>
        <pc:spChg chg="add del mod ord">
          <ac:chgData name="Prof. WU Dapeng" userId="766581d8-4b49-4c74-b70d-570e2257b99b" providerId="ADAL" clId="{961DDFB1-F107-4E01-B449-CF31EC6D752A}" dt="2023-01-14T14:33:23.921" v="9" actId="700"/>
          <ac:spMkLst>
            <pc:docMk/>
            <pc:sldMk cId="0" sldId="273"/>
            <ac:spMk id="2" creationId="{FA784A2D-7759-E009-8037-315F4EAA22DB}"/>
          </ac:spMkLst>
        </pc:spChg>
        <pc:spChg chg="mod ord">
          <ac:chgData name="Prof. WU Dapeng" userId="766581d8-4b49-4c74-b70d-570e2257b99b" providerId="ADAL" clId="{961DDFB1-F107-4E01-B449-CF31EC6D752A}" dt="2023-01-14T14:34:34.594" v="10" actId="207"/>
          <ac:spMkLst>
            <pc:docMk/>
            <pc:sldMk cId="0" sldId="273"/>
            <ac:spMk id="5122" creationId="{00000000-0000-0000-0000-000000000000}"/>
          </ac:spMkLst>
        </pc:spChg>
        <pc:spChg chg="mod ord">
          <ac:chgData name="Prof. WU Dapeng" userId="766581d8-4b49-4c74-b70d-570e2257b99b" providerId="ADAL" clId="{961DDFB1-F107-4E01-B449-CF31EC6D752A}" dt="2023-01-14T14:33:23.921" v="9" actId="700"/>
          <ac:spMkLst>
            <pc:docMk/>
            <pc:sldMk cId="0" sldId="273"/>
            <ac:spMk id="5126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4T14:34:42.883" v="11" actId="207"/>
        <pc:sldMkLst>
          <pc:docMk/>
          <pc:sldMk cId="0" sldId="274"/>
        </pc:sldMkLst>
        <pc:spChg chg="mod">
          <ac:chgData name="Prof. WU Dapeng" userId="766581d8-4b49-4c74-b70d-570e2257b99b" providerId="ADAL" clId="{961DDFB1-F107-4E01-B449-CF31EC6D752A}" dt="2023-01-14T14:34:42.883" v="11" actId="207"/>
          <ac:spMkLst>
            <pc:docMk/>
            <pc:sldMk cId="0" sldId="274"/>
            <ac:spMk id="6146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3:41:52.905" v="93" actId="20577"/>
        <pc:sldMkLst>
          <pc:docMk/>
          <pc:sldMk cId="0" sldId="278"/>
        </pc:sldMkLst>
        <pc:spChg chg="mod">
          <ac:chgData name="Prof. WU Dapeng" userId="766581d8-4b49-4c74-b70d-570e2257b99b" providerId="ADAL" clId="{961DDFB1-F107-4E01-B449-CF31EC6D752A}" dt="2023-01-17T03:41:52.905" v="93" actId="20577"/>
          <ac:spMkLst>
            <pc:docMk/>
            <pc:sldMk cId="0" sldId="278"/>
            <ac:spMk id="16386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3:42:35.395" v="94" actId="207"/>
        <pc:sldMkLst>
          <pc:docMk/>
          <pc:sldMk cId="0" sldId="280"/>
        </pc:sldMkLst>
        <pc:spChg chg="mod">
          <ac:chgData name="Prof. WU Dapeng" userId="766581d8-4b49-4c74-b70d-570e2257b99b" providerId="ADAL" clId="{961DDFB1-F107-4E01-B449-CF31EC6D752A}" dt="2023-01-17T03:42:35.395" v="94" actId="207"/>
          <ac:spMkLst>
            <pc:docMk/>
            <pc:sldMk cId="0" sldId="280"/>
            <ac:spMk id="18434" creationId="{00000000-0000-0000-0000-000000000000}"/>
          </ac:spMkLst>
        </pc:spChg>
        <pc:spChg chg="mod">
          <ac:chgData name="Prof. WU Dapeng" userId="766581d8-4b49-4c74-b70d-570e2257b99b" providerId="ADAL" clId="{961DDFB1-F107-4E01-B449-CF31EC6D752A}" dt="2023-01-17T03:41:13.930" v="88" actId="20577"/>
          <ac:spMkLst>
            <pc:docMk/>
            <pc:sldMk cId="0" sldId="280"/>
            <ac:spMk id="18435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3:42:44.975" v="95" actId="207"/>
        <pc:sldMkLst>
          <pc:docMk/>
          <pc:sldMk cId="0" sldId="284"/>
        </pc:sldMkLst>
        <pc:spChg chg="mod">
          <ac:chgData name="Prof. WU Dapeng" userId="766581d8-4b49-4c74-b70d-570e2257b99b" providerId="ADAL" clId="{961DDFB1-F107-4E01-B449-CF31EC6D752A}" dt="2023-01-17T03:42:44.975" v="95" actId="207"/>
          <ac:spMkLst>
            <pc:docMk/>
            <pc:sldMk cId="0" sldId="284"/>
            <ac:spMk id="23554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3:49:28.104" v="97" actId="207"/>
        <pc:sldMkLst>
          <pc:docMk/>
          <pc:sldMk cId="0" sldId="291"/>
        </pc:sldMkLst>
        <pc:spChg chg="mod">
          <ac:chgData name="Prof. WU Dapeng" userId="766581d8-4b49-4c74-b70d-570e2257b99b" providerId="ADAL" clId="{961DDFB1-F107-4E01-B449-CF31EC6D752A}" dt="2023-01-17T03:49:28.104" v="97" actId="207"/>
          <ac:spMkLst>
            <pc:docMk/>
            <pc:sldMk cId="0" sldId="291"/>
            <ac:spMk id="3074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3:50:00.500" v="100" actId="207"/>
        <pc:sldMkLst>
          <pc:docMk/>
          <pc:sldMk cId="0" sldId="292"/>
        </pc:sldMkLst>
        <pc:spChg chg="mod">
          <ac:chgData name="Prof. WU Dapeng" userId="766581d8-4b49-4c74-b70d-570e2257b99b" providerId="ADAL" clId="{961DDFB1-F107-4E01-B449-CF31EC6D752A}" dt="2023-01-17T03:49:45.845" v="98" actId="207"/>
          <ac:spMkLst>
            <pc:docMk/>
            <pc:sldMk cId="0" sldId="292"/>
            <ac:spMk id="5122" creationId="{00000000-0000-0000-0000-000000000000}"/>
          </ac:spMkLst>
        </pc:spChg>
        <pc:spChg chg="mod">
          <ac:chgData name="Prof. WU Dapeng" userId="766581d8-4b49-4c74-b70d-570e2257b99b" providerId="ADAL" clId="{961DDFB1-F107-4E01-B449-CF31EC6D752A}" dt="2023-01-17T03:49:56.129" v="99" actId="207"/>
          <ac:spMkLst>
            <pc:docMk/>
            <pc:sldMk cId="0" sldId="292"/>
            <ac:spMk id="5124" creationId="{00000000-0000-0000-0000-000000000000}"/>
          </ac:spMkLst>
        </pc:spChg>
        <pc:spChg chg="mod">
          <ac:chgData name="Prof. WU Dapeng" userId="766581d8-4b49-4c74-b70d-570e2257b99b" providerId="ADAL" clId="{961DDFB1-F107-4E01-B449-CF31EC6D752A}" dt="2023-01-17T03:50:00.500" v="100" actId="207"/>
          <ac:spMkLst>
            <pc:docMk/>
            <pc:sldMk cId="0" sldId="292"/>
            <ac:spMk id="5126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3:52:50.732" v="111" actId="20577"/>
        <pc:sldMkLst>
          <pc:docMk/>
          <pc:sldMk cId="0" sldId="293"/>
        </pc:sldMkLst>
        <pc:spChg chg="mod">
          <ac:chgData name="Prof. WU Dapeng" userId="766581d8-4b49-4c74-b70d-570e2257b99b" providerId="ADAL" clId="{961DDFB1-F107-4E01-B449-CF31EC6D752A}" dt="2023-01-17T03:50:17.623" v="101" actId="207"/>
          <ac:spMkLst>
            <pc:docMk/>
            <pc:sldMk cId="0" sldId="293"/>
            <ac:spMk id="6146" creationId="{00000000-0000-0000-0000-000000000000}"/>
          </ac:spMkLst>
        </pc:spChg>
        <pc:spChg chg="mod">
          <ac:chgData name="Prof. WU Dapeng" userId="766581d8-4b49-4c74-b70d-570e2257b99b" providerId="ADAL" clId="{961DDFB1-F107-4E01-B449-CF31EC6D752A}" dt="2023-01-17T03:52:50.732" v="111" actId="20577"/>
          <ac:spMkLst>
            <pc:docMk/>
            <pc:sldMk cId="0" sldId="293"/>
            <ac:spMk id="6147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3:53:07.802" v="112" actId="207"/>
        <pc:sldMkLst>
          <pc:docMk/>
          <pc:sldMk cId="0" sldId="294"/>
        </pc:sldMkLst>
        <pc:spChg chg="mod">
          <ac:chgData name="Prof. WU Dapeng" userId="766581d8-4b49-4c74-b70d-570e2257b99b" providerId="ADAL" clId="{961DDFB1-F107-4E01-B449-CF31EC6D752A}" dt="2023-01-17T03:53:07.802" v="112" actId="207"/>
          <ac:spMkLst>
            <pc:docMk/>
            <pc:sldMk cId="0" sldId="294"/>
            <ac:spMk id="7170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3:56:18.857" v="198" actId="1076"/>
        <pc:sldMkLst>
          <pc:docMk/>
          <pc:sldMk cId="0" sldId="295"/>
        </pc:sldMkLst>
        <pc:spChg chg="mod">
          <ac:chgData name="Prof. WU Dapeng" userId="766581d8-4b49-4c74-b70d-570e2257b99b" providerId="ADAL" clId="{961DDFB1-F107-4E01-B449-CF31EC6D752A}" dt="2023-01-17T03:53:35.952" v="113" actId="207"/>
          <ac:spMkLst>
            <pc:docMk/>
            <pc:sldMk cId="0" sldId="295"/>
            <ac:spMk id="8194" creationId="{00000000-0000-0000-0000-000000000000}"/>
          </ac:spMkLst>
        </pc:spChg>
        <pc:spChg chg="mod">
          <ac:chgData name="Prof. WU Dapeng" userId="766581d8-4b49-4c74-b70d-570e2257b99b" providerId="ADAL" clId="{961DDFB1-F107-4E01-B449-CF31EC6D752A}" dt="2023-01-17T03:55:58.801" v="194" actId="14100"/>
          <ac:spMkLst>
            <pc:docMk/>
            <pc:sldMk cId="0" sldId="295"/>
            <ac:spMk id="8195" creationId="{00000000-0000-0000-0000-000000000000}"/>
          </ac:spMkLst>
        </pc:spChg>
        <pc:spChg chg="mod">
          <ac:chgData name="Prof. WU Dapeng" userId="766581d8-4b49-4c74-b70d-570e2257b99b" providerId="ADAL" clId="{961DDFB1-F107-4E01-B449-CF31EC6D752A}" dt="2023-01-17T03:56:18.857" v="198" actId="1076"/>
          <ac:spMkLst>
            <pc:docMk/>
            <pc:sldMk cId="0" sldId="295"/>
            <ac:spMk id="8198" creationId="{00000000-0000-0000-0000-000000000000}"/>
          </ac:spMkLst>
        </pc:spChg>
        <pc:spChg chg="mod">
          <ac:chgData name="Prof. WU Dapeng" userId="766581d8-4b49-4c74-b70d-570e2257b99b" providerId="ADAL" clId="{961DDFB1-F107-4E01-B449-CF31EC6D752A}" dt="2023-01-17T03:56:14.495" v="197" actId="1076"/>
          <ac:spMkLst>
            <pc:docMk/>
            <pc:sldMk cId="0" sldId="295"/>
            <ac:spMk id="8199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3:56:47.149" v="201" actId="113"/>
        <pc:sldMkLst>
          <pc:docMk/>
          <pc:sldMk cId="0" sldId="297"/>
        </pc:sldMkLst>
        <pc:spChg chg="mod">
          <ac:chgData name="Prof. WU Dapeng" userId="766581d8-4b49-4c74-b70d-570e2257b99b" providerId="ADAL" clId="{961DDFB1-F107-4E01-B449-CF31EC6D752A}" dt="2023-01-17T03:56:47.149" v="201" actId="113"/>
          <ac:spMkLst>
            <pc:docMk/>
            <pc:sldMk cId="0" sldId="297"/>
            <ac:spMk id="10242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3:58:56.256" v="203" actId="207"/>
        <pc:sldMkLst>
          <pc:docMk/>
          <pc:sldMk cId="0" sldId="298"/>
        </pc:sldMkLst>
        <pc:spChg chg="mod">
          <ac:chgData name="Prof. WU Dapeng" userId="766581d8-4b49-4c74-b70d-570e2257b99b" providerId="ADAL" clId="{961DDFB1-F107-4E01-B449-CF31EC6D752A}" dt="2023-01-17T03:58:56.256" v="203" actId="207"/>
          <ac:spMkLst>
            <pc:docMk/>
            <pc:sldMk cId="0" sldId="298"/>
            <ac:spMk id="11268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3:59:03.154" v="204" actId="207"/>
        <pc:sldMkLst>
          <pc:docMk/>
          <pc:sldMk cId="0" sldId="299"/>
        </pc:sldMkLst>
        <pc:spChg chg="mod">
          <ac:chgData name="Prof. WU Dapeng" userId="766581d8-4b49-4c74-b70d-570e2257b99b" providerId="ADAL" clId="{961DDFB1-F107-4E01-B449-CF31EC6D752A}" dt="2023-01-17T03:59:03.154" v="204" actId="207"/>
          <ac:spMkLst>
            <pc:docMk/>
            <pc:sldMk cId="0" sldId="299"/>
            <ac:spMk id="12292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3:59:09.606" v="205" actId="207"/>
        <pc:sldMkLst>
          <pc:docMk/>
          <pc:sldMk cId="0" sldId="300"/>
        </pc:sldMkLst>
        <pc:spChg chg="mod">
          <ac:chgData name="Prof. WU Dapeng" userId="766581d8-4b49-4c74-b70d-570e2257b99b" providerId="ADAL" clId="{961DDFB1-F107-4E01-B449-CF31EC6D752A}" dt="2023-01-17T03:59:09.606" v="205" actId="207"/>
          <ac:spMkLst>
            <pc:docMk/>
            <pc:sldMk cId="0" sldId="300"/>
            <ac:spMk id="13314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3:59:15.346" v="206" actId="207"/>
        <pc:sldMkLst>
          <pc:docMk/>
          <pc:sldMk cId="0" sldId="301"/>
        </pc:sldMkLst>
        <pc:spChg chg="mod">
          <ac:chgData name="Prof. WU Dapeng" userId="766581d8-4b49-4c74-b70d-570e2257b99b" providerId="ADAL" clId="{961DDFB1-F107-4E01-B449-CF31EC6D752A}" dt="2023-01-17T03:59:15.346" v="206" actId="207"/>
          <ac:spMkLst>
            <pc:docMk/>
            <pc:sldMk cId="0" sldId="301"/>
            <ac:spMk id="14357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3:59:20.890" v="207" actId="207"/>
        <pc:sldMkLst>
          <pc:docMk/>
          <pc:sldMk cId="0" sldId="303"/>
        </pc:sldMkLst>
        <pc:spChg chg="mod">
          <ac:chgData name="Prof. WU Dapeng" userId="766581d8-4b49-4c74-b70d-570e2257b99b" providerId="ADAL" clId="{961DDFB1-F107-4E01-B449-CF31EC6D752A}" dt="2023-01-17T03:59:20.890" v="207" actId="207"/>
          <ac:spMkLst>
            <pc:docMk/>
            <pc:sldMk cId="0" sldId="303"/>
            <ac:spMk id="16386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3:58:26.462" v="202" actId="207"/>
        <pc:sldMkLst>
          <pc:docMk/>
          <pc:sldMk cId="1215997880" sldId="332"/>
        </pc:sldMkLst>
        <pc:spChg chg="mod">
          <ac:chgData name="Prof. WU Dapeng" userId="766581d8-4b49-4c74-b70d-570e2257b99b" providerId="ADAL" clId="{961DDFB1-F107-4E01-B449-CF31EC6D752A}" dt="2023-01-17T03:58:26.462" v="202" actId="207"/>
          <ac:spMkLst>
            <pc:docMk/>
            <pc:sldMk cId="1215997880" sldId="332"/>
            <ac:spMk id="2" creationId="{00000000-0000-0000-0000-000000000000}"/>
          </ac:spMkLst>
        </pc:spChg>
        <pc:spChg chg="mod">
          <ac:chgData name="Prof. WU Dapeng" userId="766581d8-4b49-4c74-b70d-570e2257b99b" providerId="ADAL" clId="{961DDFB1-F107-4E01-B449-CF31EC6D752A}" dt="2023-01-14T14:31:34.074" v="7"/>
          <ac:spMkLst>
            <pc:docMk/>
            <pc:sldMk cId="1215997880" sldId="332"/>
            <ac:spMk id="3" creationId="{86553D88-BE07-C022-B7D2-7AE51E6B63FE}"/>
          </ac:spMkLst>
        </pc:spChg>
      </pc:sldChg>
      <pc:sldChg chg="modSp mod">
        <pc:chgData name="Prof. WU Dapeng" userId="766581d8-4b49-4c74-b70d-570e2257b99b" providerId="ADAL" clId="{961DDFB1-F107-4E01-B449-CF31EC6D752A}" dt="2023-01-17T03:59:25.947" v="208" actId="207"/>
        <pc:sldMkLst>
          <pc:docMk/>
          <pc:sldMk cId="1153137793" sldId="333"/>
        </pc:sldMkLst>
        <pc:spChg chg="mod">
          <ac:chgData name="Prof. WU Dapeng" userId="766581d8-4b49-4c74-b70d-570e2257b99b" providerId="ADAL" clId="{961DDFB1-F107-4E01-B449-CF31EC6D752A}" dt="2023-01-17T03:59:25.947" v="208" actId="207"/>
          <ac:spMkLst>
            <pc:docMk/>
            <pc:sldMk cId="1153137793" sldId="333"/>
            <ac:spMk id="378881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3:59:46.336" v="210" actId="207"/>
        <pc:sldMkLst>
          <pc:docMk/>
          <pc:sldMk cId="1536550939" sldId="334"/>
        </pc:sldMkLst>
        <pc:spChg chg="mod">
          <ac:chgData name="Prof. WU Dapeng" userId="766581d8-4b49-4c74-b70d-570e2257b99b" providerId="ADAL" clId="{961DDFB1-F107-4E01-B449-CF31EC6D752A}" dt="2023-01-17T03:59:46.336" v="210" actId="207"/>
          <ac:spMkLst>
            <pc:docMk/>
            <pc:sldMk cId="1536550939" sldId="334"/>
            <ac:spMk id="2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4:00:27.822" v="211" actId="207"/>
        <pc:sldMkLst>
          <pc:docMk/>
          <pc:sldMk cId="701034706" sldId="355"/>
        </pc:sldMkLst>
        <pc:spChg chg="mod">
          <ac:chgData name="Prof. WU Dapeng" userId="766581d8-4b49-4c74-b70d-570e2257b99b" providerId="ADAL" clId="{961DDFB1-F107-4E01-B449-CF31EC6D752A}" dt="2023-01-17T04:00:27.822" v="211" actId="207"/>
          <ac:spMkLst>
            <pc:docMk/>
            <pc:sldMk cId="701034706" sldId="355"/>
            <ac:spMk id="3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4:00:45.669" v="212" actId="207"/>
        <pc:sldMkLst>
          <pc:docMk/>
          <pc:sldMk cId="1371887356" sldId="356"/>
        </pc:sldMkLst>
        <pc:spChg chg="mod">
          <ac:chgData name="Prof. WU Dapeng" userId="766581d8-4b49-4c74-b70d-570e2257b99b" providerId="ADAL" clId="{961DDFB1-F107-4E01-B449-CF31EC6D752A}" dt="2023-01-17T04:00:45.669" v="212" actId="207"/>
          <ac:spMkLst>
            <pc:docMk/>
            <pc:sldMk cId="1371887356" sldId="356"/>
            <ac:spMk id="3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3:46:25.914" v="96" actId="207"/>
        <pc:sldMkLst>
          <pc:docMk/>
          <pc:sldMk cId="3648341114" sldId="357"/>
        </pc:sldMkLst>
        <pc:spChg chg="mod">
          <ac:chgData name="Prof. WU Dapeng" userId="766581d8-4b49-4c74-b70d-570e2257b99b" providerId="ADAL" clId="{961DDFB1-F107-4E01-B449-CF31EC6D752A}" dt="2023-01-17T03:46:25.914" v="96" actId="207"/>
          <ac:spMkLst>
            <pc:docMk/>
            <pc:sldMk cId="3648341114" sldId="357"/>
            <ac:spMk id="18434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3:59:33.894" v="209" actId="207"/>
        <pc:sldMkLst>
          <pc:docMk/>
          <pc:sldMk cId="3899482183" sldId="358"/>
        </pc:sldMkLst>
        <pc:spChg chg="mod">
          <ac:chgData name="Prof. WU Dapeng" userId="766581d8-4b49-4c74-b70d-570e2257b99b" providerId="ADAL" clId="{961DDFB1-F107-4E01-B449-CF31EC6D752A}" dt="2023-01-17T03:59:33.894" v="209" actId="207"/>
          <ac:spMkLst>
            <pc:docMk/>
            <pc:sldMk cId="3899482183" sldId="358"/>
            <ac:spMk id="378881" creationId="{00000000-0000-0000-0000-000000000000}"/>
          </ac:spMkLst>
        </pc:spChg>
      </pc:sldChg>
      <pc:sldChg chg="modSp mod">
        <pc:chgData name="Prof. WU Dapeng" userId="766581d8-4b49-4c74-b70d-570e2257b99b" providerId="ADAL" clId="{961DDFB1-F107-4E01-B449-CF31EC6D752A}" dt="2023-01-17T04:00:55.170" v="213" actId="207"/>
        <pc:sldMkLst>
          <pc:docMk/>
          <pc:sldMk cId="1787108853" sldId="360"/>
        </pc:sldMkLst>
        <pc:spChg chg="mod">
          <ac:chgData name="Prof. WU Dapeng" userId="766581d8-4b49-4c74-b70d-570e2257b99b" providerId="ADAL" clId="{961DDFB1-F107-4E01-B449-CF31EC6D752A}" dt="2023-01-17T04:00:55.170" v="213" actId="207"/>
          <ac:spMkLst>
            <pc:docMk/>
            <pc:sldMk cId="1787108853" sldId="360"/>
            <ac:spMk id="2" creationId="{00000000-0000-0000-0000-000000000000}"/>
          </ac:spMkLst>
        </pc:spChg>
      </pc:sldChg>
      <pc:sldMasterChg chg="modSp modSldLayout sldLayoutOrd">
        <pc:chgData name="Prof. WU Dapeng" userId="766581d8-4b49-4c74-b70d-570e2257b99b" providerId="ADAL" clId="{961DDFB1-F107-4E01-B449-CF31EC6D752A}" dt="2023-01-14T14:29:38.769" v="6" actId="207"/>
        <pc:sldMasterMkLst>
          <pc:docMk/>
          <pc:sldMasterMk cId="69695993" sldId="2147483648"/>
        </pc:sldMasterMkLst>
        <pc:spChg chg="mod">
          <ac:chgData name="Prof. WU Dapeng" userId="766581d8-4b49-4c74-b70d-570e2257b99b" providerId="ADAL" clId="{961DDFB1-F107-4E01-B449-CF31EC6D752A}" dt="2023-01-14T14:29:38.769" v="6" actId="207"/>
          <ac:spMkLst>
            <pc:docMk/>
            <pc:sldMasterMk cId="69695993" sldId="2147483648"/>
            <ac:spMk id="2" creationId="{00000000-0000-0000-0000-000000000000}"/>
          </ac:spMkLst>
        </pc:spChg>
        <pc:sldLayoutChg chg="modSp ord">
          <pc:chgData name="Prof. WU Dapeng" userId="766581d8-4b49-4c74-b70d-570e2257b99b" providerId="ADAL" clId="{961DDFB1-F107-4E01-B449-CF31EC6D752A}" dt="2023-01-14T14:23:57.175" v="5" actId="20578"/>
          <pc:sldLayoutMkLst>
            <pc:docMk/>
            <pc:sldMasterMk cId="69695993" sldId="2147483648"/>
            <pc:sldLayoutMk cId="4284104342" sldId="2147483650"/>
          </pc:sldLayoutMkLst>
          <pc:spChg chg="mod">
            <ac:chgData name="Prof. WU Dapeng" userId="766581d8-4b49-4c74-b70d-570e2257b99b" providerId="ADAL" clId="{961DDFB1-F107-4E01-B449-CF31EC6D752A}" dt="2023-01-14T14:22:49.124" v="4" actId="207"/>
            <ac:spMkLst>
              <pc:docMk/>
              <pc:sldMasterMk cId="69695993" sldId="2147483648"/>
              <pc:sldLayoutMk cId="4284104342" sldId="2147483650"/>
              <ac:spMk id="2" creationId="{00000000-0000-0000-0000-000000000000}"/>
            </ac:spMkLst>
          </pc:spChg>
        </pc:sldLayoutChg>
      </pc:sldMasterChg>
    </pc:docChg>
  </pc:docChgLst>
  <pc:docChgLst>
    <pc:chgData name="Prof. WU Dapeng" userId="766581d8-4b49-4c74-b70d-570e2257b99b" providerId="ADAL" clId="{20970759-D671-49F2-BD7F-E87E4DE5FF77}"/>
    <pc:docChg chg="modSld">
      <pc:chgData name="Prof. WU Dapeng" userId="766581d8-4b49-4c74-b70d-570e2257b99b" providerId="ADAL" clId="{20970759-D671-49F2-BD7F-E87E4DE5FF77}" dt="2026-09-04T15:18:53.574" v="7" actId="20577"/>
      <pc:docMkLst>
        <pc:docMk/>
      </pc:docMkLst>
      <pc:sldChg chg="modSp mod">
        <pc:chgData name="Prof. WU Dapeng" userId="766581d8-4b49-4c74-b70d-570e2257b99b" providerId="ADAL" clId="{20970759-D671-49F2-BD7F-E87E4DE5FF77}" dt="2026-09-04T15:18:53.574" v="7" actId="20577"/>
        <pc:sldMkLst>
          <pc:docMk/>
          <pc:sldMk cId="0" sldId="256"/>
        </pc:sldMkLst>
        <pc:spChg chg="mod">
          <ac:chgData name="Prof. WU Dapeng" userId="766581d8-4b49-4c74-b70d-570e2257b99b" providerId="ADAL" clId="{20970759-D671-49F2-BD7F-E87E4DE5FF77}" dt="2026-09-04T15:18:53.574" v="7" actId="20577"/>
          <ac:spMkLst>
            <pc:docMk/>
            <pc:sldMk cId="0" sldId="256"/>
            <ac:spMk id="6146" creationId="{3A1339C4-60C5-8DCF-4DB4-2245250D25B3}"/>
          </ac:spMkLst>
        </pc:spChg>
      </pc:sldChg>
    </pc:docChg>
  </pc:docChgLst>
  <pc:docChgLst>
    <pc:chgData name="Prof. WU Dapeng" userId="766581d8-4b49-4c74-b70d-570e2257b99b" providerId="ADAL" clId="{F63C6677-B5FB-4D70-855E-0B590926F4A9}"/>
    <pc:docChg chg="modSld">
      <pc:chgData name="Prof. WU Dapeng" userId="766581d8-4b49-4c74-b70d-570e2257b99b" providerId="ADAL" clId="{F63C6677-B5FB-4D70-855E-0B590926F4A9}" dt="2023-08-27T19:41:26.198" v="0"/>
      <pc:docMkLst>
        <pc:docMk/>
      </pc:docMkLst>
      <pc:sldChg chg="modSp mod">
        <pc:chgData name="Prof. WU Dapeng" userId="766581d8-4b49-4c74-b70d-570e2257b99b" providerId="ADAL" clId="{F63C6677-B5FB-4D70-855E-0B590926F4A9}" dt="2023-08-27T19:41:26.198" v="0"/>
        <pc:sldMkLst>
          <pc:docMk/>
          <pc:sldMk cId="0" sldId="256"/>
        </pc:sldMkLst>
        <pc:spChg chg="mod">
          <ac:chgData name="Prof. WU Dapeng" userId="766581d8-4b49-4c74-b70d-570e2257b99b" providerId="ADAL" clId="{F63C6677-B5FB-4D70-855E-0B590926F4A9}" dt="2023-08-27T19:41:26.198" v="0"/>
          <ac:spMkLst>
            <pc:docMk/>
            <pc:sldMk cId="0" sldId="256"/>
            <ac:spMk id="6146" creationId="{3A1339C4-60C5-8DCF-4DB4-2245250D25B3}"/>
          </ac:spMkLst>
        </pc:spChg>
      </pc:sldChg>
    </pc:docChg>
  </pc:docChgLst>
  <pc:docChgLst>
    <pc:chgData name="Prof. WU Dapeng" userId="766581d8-4b49-4c74-b70d-570e2257b99b" providerId="ADAL" clId="{CA0F28C8-9724-4EC7-891E-64AF590FD67F}"/>
    <pc:docChg chg="modSld">
      <pc:chgData name="Prof. WU Dapeng" userId="766581d8-4b49-4c74-b70d-570e2257b99b" providerId="ADAL" clId="{CA0F28C8-9724-4EC7-891E-64AF590FD67F}" dt="2025-09-08T09:37:23.150" v="2" actId="20577"/>
      <pc:docMkLst>
        <pc:docMk/>
      </pc:docMkLst>
      <pc:sldChg chg="modSp mod">
        <pc:chgData name="Prof. WU Dapeng" userId="766581d8-4b49-4c74-b70d-570e2257b99b" providerId="ADAL" clId="{CA0F28C8-9724-4EC7-891E-64AF590FD67F}" dt="2025-09-08T09:37:23.150" v="2" actId="20577"/>
        <pc:sldMkLst>
          <pc:docMk/>
          <pc:sldMk cId="0" sldId="256"/>
        </pc:sldMkLst>
        <pc:spChg chg="mod">
          <ac:chgData name="Prof. WU Dapeng" userId="766581d8-4b49-4c74-b70d-570e2257b99b" providerId="ADAL" clId="{CA0F28C8-9724-4EC7-891E-64AF590FD67F}" dt="2025-09-08T09:37:23.150" v="2" actId="20577"/>
          <ac:spMkLst>
            <pc:docMk/>
            <pc:sldMk cId="0" sldId="256"/>
            <ac:spMk id="6146" creationId="{3A1339C4-60C5-8DCF-4DB4-2245250D25B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46416-5886-4153-A07C-557C2A0D6FE8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E09DA-DA0F-4292-9615-F4BCEAC20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221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CFD502-654C-554A-AA31-7C7273086463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2A2DE-1375-9243-86BD-04E3F7443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9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6A32FA5-E5D3-296C-A46B-2F2961ED76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810F1E-E8C2-445A-B9BF-113FD19F2D3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3653F249-3D0B-2B1F-AB07-C1CFB44133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4F3CF346-043F-A67B-0D94-80A141A7AA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(H) of a color refers to which pure color it resembles. All tints, tones and shades of red have the same hue.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Hues are described by a number that specifies the position of the corresponding pure color on the color wheel, as a fraction between 0 and 1. Value 0 refers to red; 1/6 is yellow; 1/3 is green; and so forth around the color wheel.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saturation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(S) of a color describes how white the color is. A pure red is fully saturated, with a saturation of 1; tints of red have saturations less than 1; and white has a saturation of 0.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(V) of a color, also called its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lightness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describes how dark the color is. A value of 0 is black, with increasing lightness moving away from black.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2A2DE-1375-9243-86BD-04E3F74430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2A2DE-1375-9243-86BD-04E3F74430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2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r’ = r/(</a:t>
            </a:r>
            <a:r>
              <a:rPr lang="en-US" baseline="0" dirty="0" err="1"/>
              <a:t>r+g+b</a:t>
            </a:r>
            <a:r>
              <a:rPr lang="en-US" baseline="0" dirty="0"/>
              <a:t>)</a:t>
            </a:r>
          </a:p>
          <a:p>
            <a:r>
              <a:rPr lang="en-US" baseline="0" dirty="0"/>
              <a:t>g’ = g/(</a:t>
            </a:r>
            <a:r>
              <a:rPr lang="en-US" baseline="0" dirty="0" err="1"/>
              <a:t>r+b+g</a:t>
            </a:r>
            <a:r>
              <a:rPr lang="en-US" baseline="0" dirty="0"/>
              <a:t>)</a:t>
            </a:r>
          </a:p>
          <a:p>
            <a:r>
              <a:rPr lang="en-US" baseline="0" dirty="0"/>
              <a:t>b’ = b/(</a:t>
            </a:r>
            <a:r>
              <a:rPr lang="en-US" baseline="0" dirty="0" err="1"/>
              <a:t>r+g+b</a:t>
            </a:r>
            <a:r>
              <a:rPr lang="en-US" baseline="0" dirty="0"/>
              <a:t>)</a:t>
            </a:r>
          </a:p>
          <a:p>
            <a:endParaRPr lang="en-US" baseline="0" dirty="0"/>
          </a:p>
          <a:p>
            <a:r>
              <a:rPr lang="en-US" baseline="0" dirty="0"/>
              <a:t>b’ = 1-r’-g’, which can be ignored in representation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2A2DE-1375-9243-86BD-04E3F74430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491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rg</a:t>
            </a:r>
            <a:r>
              <a:rPr lang="en-US" dirty="0"/>
              <a:t>, by, and </a:t>
            </a:r>
            <a:r>
              <a:rPr lang="en-US" dirty="0" err="1"/>
              <a:t>wb</a:t>
            </a:r>
            <a:r>
              <a:rPr lang="en-US" dirty="0"/>
              <a:t> axes are analogous to the opponent color axes used by the human visual system (Lennie &amp; </a:t>
            </a:r>
            <a:r>
              <a:rPr lang="en-US" dirty="0" err="1"/>
              <a:t>D'Zmura</a:t>
            </a:r>
            <a:r>
              <a:rPr lang="en-US" dirty="0"/>
              <a:t> 1988). They were used here simply to allow the intensity (</a:t>
            </a:r>
            <a:r>
              <a:rPr lang="en-US" dirty="0" err="1"/>
              <a:t>wb</a:t>
            </a:r>
            <a:r>
              <a:rPr lang="en-US" dirty="0"/>
              <a:t>) axis to be more coarsely sampled than the other two, because the intensity axis is more sensitive to lighting variation from shadows and distance from the light source. The </a:t>
            </a:r>
            <a:r>
              <a:rPr lang="en-US" dirty="0" err="1"/>
              <a:t>wb</a:t>
            </a:r>
            <a:r>
              <a:rPr lang="en-US" dirty="0"/>
              <a:t> axis was divided into 8 sections, while the </a:t>
            </a:r>
            <a:r>
              <a:rPr lang="en-US" dirty="0" err="1"/>
              <a:t>rg</a:t>
            </a:r>
            <a:r>
              <a:rPr lang="en-US" dirty="0"/>
              <a:t> and by bins were each divided into 16 sections, for a total of 2048 bins.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2A2DE-1375-9243-86BD-04E3F74430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07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2A2DE-1375-9243-86BD-04E3F74430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33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r’ = r/(</a:t>
            </a:r>
            <a:r>
              <a:rPr lang="en-US" baseline="0" dirty="0" err="1"/>
              <a:t>r+g+b</a:t>
            </a:r>
            <a:r>
              <a:rPr lang="en-US" baseline="0" dirty="0"/>
              <a:t>)</a:t>
            </a:r>
          </a:p>
          <a:p>
            <a:r>
              <a:rPr lang="en-US" baseline="0" dirty="0"/>
              <a:t>g’ = g/(</a:t>
            </a:r>
            <a:r>
              <a:rPr lang="en-US" baseline="0" dirty="0" err="1"/>
              <a:t>r+b+g</a:t>
            </a:r>
            <a:r>
              <a:rPr lang="en-US" baseline="0" dirty="0"/>
              <a:t>)</a:t>
            </a:r>
          </a:p>
          <a:p>
            <a:r>
              <a:rPr lang="en-US" baseline="0" dirty="0"/>
              <a:t>b’ = b/(</a:t>
            </a:r>
            <a:r>
              <a:rPr lang="en-US" baseline="0" dirty="0" err="1"/>
              <a:t>r+g+b</a:t>
            </a:r>
            <a:r>
              <a:rPr lang="en-US" baseline="0" dirty="0"/>
              <a:t>)</a:t>
            </a:r>
          </a:p>
          <a:p>
            <a:endParaRPr lang="en-US" baseline="0" dirty="0"/>
          </a:p>
          <a:p>
            <a:r>
              <a:rPr lang="en-US" baseline="0" dirty="0"/>
              <a:t>b’ = 1-r’-g’, which can be ignored in representation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2A2DE-1375-9243-86BD-04E3F74430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006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r’ = r/(</a:t>
            </a:r>
            <a:r>
              <a:rPr lang="en-US" baseline="0" dirty="0" err="1"/>
              <a:t>r+g+b</a:t>
            </a:r>
            <a:r>
              <a:rPr lang="en-US" baseline="0" dirty="0"/>
              <a:t>)</a:t>
            </a:r>
          </a:p>
          <a:p>
            <a:r>
              <a:rPr lang="en-US" baseline="0" dirty="0"/>
              <a:t>g’ = g/(</a:t>
            </a:r>
            <a:r>
              <a:rPr lang="en-US" baseline="0" dirty="0" err="1"/>
              <a:t>r+b+g</a:t>
            </a:r>
            <a:r>
              <a:rPr lang="en-US" baseline="0" dirty="0"/>
              <a:t>)</a:t>
            </a:r>
          </a:p>
          <a:p>
            <a:r>
              <a:rPr lang="en-US" baseline="0" dirty="0"/>
              <a:t>b’ = b/(</a:t>
            </a:r>
            <a:r>
              <a:rPr lang="en-US" baseline="0" dirty="0" err="1"/>
              <a:t>r+g+b</a:t>
            </a:r>
            <a:r>
              <a:rPr lang="en-US" baseline="0" dirty="0"/>
              <a:t>)</a:t>
            </a:r>
          </a:p>
          <a:p>
            <a:endParaRPr lang="en-US" baseline="0" dirty="0"/>
          </a:p>
          <a:p>
            <a:r>
              <a:rPr lang="en-US" baseline="0" dirty="0"/>
              <a:t>b’ = 1-r’-g’, which can be ignored in representation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2A2DE-1375-9243-86BD-04E3F74430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758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814D4F1-C326-44BC-886F-539CF86229FB}" type="slidenum">
              <a:rPr lang="en-US" altLang="en-US" smtClean="0"/>
              <a:pPr eaLnBrk="1" hangingPunct="1"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2197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8601911-F913-4920-B2B9-629777489438}" type="slidenum">
              <a:rPr lang="en-US" altLang="en-US" smtClean="0"/>
              <a:pPr eaLnBrk="1" hangingPunct="1"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4232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7F2C784-2F21-4ADC-9F09-EA50BBB6CD6D}" type="slidenum">
              <a:rPr lang="en-US" altLang="en-US" smtClean="0"/>
              <a:pPr eaLnBrk="1" hangingPunct="1"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89974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A96AD5D-2C2C-4275-9D48-51416A5C2368}" type="slidenum">
              <a:rPr lang="en-US" altLang="en-US" smtClean="0"/>
              <a:pPr eaLnBrk="1" hangingPunct="1"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27577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529B4D8-29E9-4CE6-97EF-8B6E5C6D3AD2}" type="slidenum">
              <a:rPr lang="en-US" altLang="en-US" smtClean="0"/>
              <a:pPr eaLnBrk="1" hangingPunct="1"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0343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D1894DF-8708-44E3-A38A-A09C644B89D0}" type="slidenum">
              <a:rPr lang="en-US" altLang="en-US" smtClean="0"/>
              <a:pPr eaLnBrk="1" hangingPunct="1"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68975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87C53CE-44AD-4626-9147-9A6143F42AA4}" type="slidenum">
              <a:rPr lang="en-US" altLang="en-US" smtClean="0"/>
              <a:pPr eaLnBrk="1" hangingPunct="1"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59583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54182DD-DCD4-4350-A472-439A86033554}" type="slidenum">
              <a:rPr lang="en-US" altLang="en-US" smtClean="0"/>
              <a:pPr eaLnBrk="1" hangingPunct="1"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12267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D55809C-CF96-4BDA-8B8F-491E13E8BDC4}" type="slidenum">
              <a:rPr lang="en-US" altLang="en-US" smtClean="0"/>
              <a:pPr eaLnBrk="1" hangingPunct="1"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6495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03B879C-1D27-46F2-A2C7-10A2D0F99906}" type="slidenum">
              <a:rPr lang="en-US" altLang="en-US" smtClean="0"/>
              <a:pPr eaLnBrk="1" hangingPunct="1"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87300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5E47CC9-BB41-43BC-9BE2-35CFF083B2AF}" type="slidenum">
              <a:rPr lang="en-US" altLang="en-US" smtClean="0"/>
              <a:pPr eaLnBrk="1" hangingPunct="1"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48118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7990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37990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>
              <a:defRPr/>
            </a:pPr>
            <a:fld id="{7252A77E-6543-4FB0-94D6-99F65A5E6759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29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4564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7990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37990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>
              <a:defRPr/>
            </a:pPr>
            <a:fld id="{7252A77E-6543-4FB0-94D6-99F65A5E6759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30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0061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E371F-9BFA-4F6B-BF36-275653E4AE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31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7765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E371F-9BFA-4F6B-BF36-275653E4AE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33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86042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E371F-9BFA-4F6B-BF36-275653E4AE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34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5782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E371F-9BFA-4F6B-BF36-275653E4AE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35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693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E371F-9BFA-4F6B-BF36-275653E4AE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8405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E371F-9BFA-4F6B-BF36-275653E4AE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38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5154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E371F-9BFA-4F6B-BF36-275653E4AE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39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1731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E371F-9BFA-4F6B-BF36-275653E4AE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40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5023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9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E371F-9BFA-4F6B-BF36-275653E4AE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41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790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E371F-9BFA-4F6B-BF36-275653E4AE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42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350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E371F-9BFA-4F6B-BF36-275653E4AE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43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4791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E371F-9BFA-4F6B-BF36-275653E4AE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44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579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E371F-9BFA-4F6B-BF36-275653E4AE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45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7788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E371F-9BFA-4F6B-BF36-275653E4AE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46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4705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E371F-9BFA-4F6B-BF36-275653E4AE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47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0951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E371F-9BFA-4F6B-BF36-275653E4AE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48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6304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E371F-9BFA-4F6B-BF36-275653E4AE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50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0340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E371F-9BFA-4F6B-BF36-275653E4AE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51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7673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E371F-9BFA-4F6B-BF36-275653E4AE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52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01630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E371F-9BFA-4F6B-BF36-275653E4AE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53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35810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2A2DE-1375-9243-86BD-04E3F74430DA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8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C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49E8-9823-4909-AB4E-A576EF91FF31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116A-A103-9F48-8AAE-8BFFF0920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04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B100-9F9A-4F8C-AE4A-150FFDD008B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116A-A103-9F48-8AAE-8BFFF0920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8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ACA6-A3F2-4D07-816C-6AB305E57F9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116A-A103-9F48-8AAE-8BFFF0920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724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9E5A-B02E-47E5-9F9F-1EC9DDE749D6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116A-A103-9F48-8AAE-8BFFF0920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889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C0DE-B058-434B-B39D-E585711529B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116A-A103-9F48-8AAE-8BFFF0920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839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0115-47F1-44B1-B8D5-8D17732B5228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116A-A103-9F48-8AAE-8BFFF0920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18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E5FC1-C154-4955-80D6-23EFA1075B08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116A-A103-9F48-8AAE-8BFFF0920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50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8F206-0AAE-42FC-9B99-111149F0332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116A-A103-9F48-8AAE-8BFFF0920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23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AFD92-BF42-4DEB-B593-00CEA96BB7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116A-A103-9F48-8AAE-8BFFF0920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877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BDE42-FB71-4444-9BB1-4AAF826E8BE1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116A-A103-9F48-8AAE-8BFFF0920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29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0A24-C167-4783-A27C-976604873784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116A-A103-9F48-8AAE-8BFFF0920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41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3F473-BCF7-4445-A763-B914F45D5C6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7C9F2-2249-493C-9338-94CA759BE3D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96821-18C7-465F-8835-E5D27FBEE4A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9461C-2B1F-462C-A42B-C5595765F12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EB36F-8D34-4581-9DEE-2AABA2E6B69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9924-BE54-47C8-B649-2178E9F8A09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678BA-2BAF-4332-BF6C-399978F6BFB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D80D8-31B7-4C4C-A3FE-A97F942997E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1CC7-2EA5-4E87-8A88-D1BABEA7D57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3ECAE-B500-4917-99AF-6CFDE31D448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911E6-E491-4603-A081-2689318987C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914400"/>
            <a:ext cx="7772400" cy="5257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FC7641-28D3-4F8E-B3CA-82D54FEA12A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7DFF11-EF67-4A6A-8E8B-46DEBC046CE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96470B-9C9F-1A92-8D89-7FCE7F981B9D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E6F1A96-CCA1-6576-561B-A3CC6C6E36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1E08D2B4-42C5-4E77-7336-F001DF3C5D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C6D234D2-A665-8BE4-8F1E-DBD79932CF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F081B943-C5E1-7571-9873-476AE31E44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66F5DBD-B0E4-BC3A-B8BC-24DCE37FD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8FF2900-2DB1-65C9-7443-47219FE20A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45174F14-4091-6A7C-4DB7-78BA208D1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440C8579-B83E-02BA-09C4-3F00442FB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DA135A8D-ECA0-787E-0136-AE41D6946F2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573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3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A2055EC3-70B3-A3A6-30EC-335F1EAC2A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id="{B085FA1B-7D15-CD38-EDD8-072A756ACF64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949E477B-21BF-416B-9E0A-FC2FBE2F3AD5}" type="datetime1">
              <a:rPr lang="en-US" smtClean="0"/>
              <a:t>9/4/2026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524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36598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3078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81200"/>
            <a:ext cx="3886200" cy="4535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981200"/>
            <a:ext cx="3886200" cy="4535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67091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34323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379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898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47212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7633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4216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04800"/>
            <a:ext cx="1981200" cy="6211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4800"/>
            <a:ext cx="5791200" cy="6211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7577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EB103-651A-46DE-BDE3-EF6B23C28186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2116A-A103-9F48-8AAE-8BFFF09208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95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0000CC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D88E9C3D-DC90-4518-8086-1F7B291D75E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4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5215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024333C-8817-060F-35D5-3DCA59EEE3F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9144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B2B35B4-4650-F69A-724C-3F4FFEB6FCA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3435026D-7665-797A-60E8-A61D82470A4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5925" y="12192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E16EBA2A-737C-3AB2-7ECD-18C58DD1FA9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0" y="12192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9F297019-9936-C49B-05B7-15B721B2956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213" y="1066800"/>
            <a:ext cx="560387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432AE891-6C54-334E-D430-12663DA0336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5334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/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192C3D81-C96B-4B18-924E-CE7D7E11C5B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57200" y="13716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/>
          </a:p>
        </p:txBody>
      </p:sp>
      <p:sp>
        <p:nvSpPr>
          <p:cNvPr id="2057" name="Rectangle 9">
            <a:extLst>
              <a:ext uri="{FF2B5EF4-FFF2-40B4-BE49-F238E27FC236}">
                <a16:creationId xmlns:a16="http://schemas.microsoft.com/office/drawing/2014/main" id="{A6600EE5-D962-074C-C4A2-5C6115FBE5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3048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6690AE2D-7B1D-66BE-27CE-FF384F8301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81200"/>
            <a:ext cx="7924800" cy="453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572CD329-6D98-7969-A845-019C1DA01C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05800" y="6553200"/>
            <a:ext cx="4000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DB8E2D05-C076-40AE-9D2A-15B154584073}" type="slidenum">
              <a:rPr lang="en-GB" altLang="en-US" sz="1400" smtClean="0">
                <a:solidFill>
                  <a:srgbClr val="0000FF"/>
                </a:solidFill>
              </a:rPr>
              <a:pPr>
                <a:defRPr/>
              </a:pPr>
              <a:t>‹#›</a:t>
            </a:fld>
            <a:endParaRPr lang="en-US" altLang="en-US" sz="14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186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8.tif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tif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8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0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2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6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8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0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2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4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6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8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0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2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4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6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0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2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3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3A1339C4-60C5-8DCF-4DB4-2245250D25B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914400" y="3810000"/>
            <a:ext cx="7543800" cy="2286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66FF"/>
                </a:solidFill>
              </a:rPr>
              <a:t>Dr. Dapeng Oliver Wu</a:t>
            </a:r>
          </a:p>
          <a:p>
            <a:pPr eaLnBrk="1" hangingPunct="1"/>
            <a:r>
              <a:rPr lang="en-US" altLang="en-US" b="1" dirty="0">
                <a:solidFill>
                  <a:srgbClr val="0066FF"/>
                </a:solidFill>
              </a:rPr>
              <a:t>City University of Hong Kong</a:t>
            </a:r>
          </a:p>
          <a:p>
            <a:pPr eaLnBrk="1" hangingPunct="1"/>
            <a:r>
              <a:rPr lang="en-US" altLang="en-US" b="1" dirty="0">
                <a:solidFill>
                  <a:srgbClr val="0066FF"/>
                </a:solidFill>
              </a:rPr>
              <a:t>Department of Computer Science</a:t>
            </a:r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zh-CN" dirty="0">
                <a:solidFill>
                  <a:srgbClr val="CC0000"/>
                </a:solidFill>
              </a:rPr>
              <a:t>Semester A, 2026/2027</a:t>
            </a:r>
            <a:endParaRPr lang="en-US" dirty="0">
              <a:solidFill>
                <a:srgbClr val="CC0000"/>
              </a:solidFill>
            </a:endParaRP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id="{8302DAF3-E5D1-04A4-59C3-473F9FBD31B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381000"/>
            <a:ext cx="7772400" cy="25908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333399"/>
                </a:solidFill>
              </a:rPr>
              <a:t> CS 5187: Vision and Image</a:t>
            </a:r>
            <a:br>
              <a:rPr lang="en-US" altLang="en-US" dirty="0">
                <a:solidFill>
                  <a:srgbClr val="333399"/>
                </a:solidFill>
              </a:rPr>
            </a:br>
            <a:r>
              <a:rPr lang="en-US" altLang="en-US" dirty="0">
                <a:solidFill>
                  <a:srgbClr val="000000"/>
                </a:solidFill>
              </a:rPr>
              <a:t>Lecture 2-2</a:t>
            </a:r>
            <a:br>
              <a:rPr lang="en-US" altLang="en-US" dirty="0">
                <a:solidFill>
                  <a:srgbClr val="333399"/>
                </a:solidFill>
              </a:rPr>
            </a:br>
            <a:r>
              <a:rPr lang="en-US" altLang="en-US" i="1" dirty="0">
                <a:solidFill>
                  <a:srgbClr val="009900"/>
                </a:solidFill>
              </a:rPr>
              <a:t>Color and Texture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856" y="682210"/>
            <a:ext cx="7772400" cy="1470025"/>
          </a:xfrm>
        </p:spPr>
        <p:txBody>
          <a:bodyPr/>
          <a:lstStyle/>
          <a:p>
            <a:r>
              <a:rPr lang="en-US" dirty="0"/>
              <a:t>Color and Texture</a:t>
            </a:r>
          </a:p>
        </p:txBody>
      </p:sp>
      <p:pic>
        <p:nvPicPr>
          <p:cNvPr id="3" name="Picture 10" descr="http://animals.nationalgeographic.com/staticfiles/NGS/Shared/StaticFiles/animals/images/primary/zebra-her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1083" y="2152235"/>
            <a:ext cx="3862601" cy="2662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http://www.indianwildlife.org/jungles%20of%20india/leopard22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07508" y="3635360"/>
            <a:ext cx="3935656" cy="2656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CBD9D9-E835-A6D1-F251-76E9F272B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116A-A103-9F48-8AAE-8BFFF09208A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47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54" y="365043"/>
            <a:ext cx="7772400" cy="1470025"/>
          </a:xfrm>
        </p:spPr>
        <p:txBody>
          <a:bodyPr/>
          <a:lstStyle/>
          <a:p>
            <a:r>
              <a:rPr lang="en-US" spc="-200" dirty="0">
                <a:latin typeface="Kalinga" pitchFamily="34" charset="0"/>
                <a:cs typeface="Kalinga" pitchFamily="34" charset="0"/>
              </a:rPr>
              <a:t>Color 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5222" y="1812705"/>
            <a:ext cx="225516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RGB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HSI/HSV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YIQ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and more</a:t>
            </a:r>
          </a:p>
          <a:p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3633107" y="1744300"/>
            <a:ext cx="435234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standard for cameras</a:t>
            </a:r>
          </a:p>
          <a:p>
            <a:r>
              <a:rPr lang="en-US" sz="3200" dirty="0"/>
              <a:t>hue, saturation, intensity</a:t>
            </a:r>
          </a:p>
          <a:p>
            <a:r>
              <a:rPr lang="en-US" sz="3200" dirty="0"/>
              <a:t>color TVs, Y is intensity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778E0-34DD-7123-A7B8-B239570AA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116A-A103-9F48-8AAE-8BFFF09208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81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RGB Color Space</a:t>
            </a:r>
          </a:p>
        </p:txBody>
      </p:sp>
      <p:sp>
        <p:nvSpPr>
          <p:cNvPr id="5123" name="Line 5"/>
          <p:cNvSpPr>
            <a:spLocks noChangeShapeType="1"/>
          </p:cNvSpPr>
          <p:nvPr/>
        </p:nvSpPr>
        <p:spPr bwMode="auto">
          <a:xfrm flipH="1">
            <a:off x="228600" y="4876800"/>
            <a:ext cx="1371600" cy="990600"/>
          </a:xfrm>
          <a:prstGeom prst="line">
            <a:avLst/>
          </a:prstGeom>
          <a:noFill/>
          <a:ln w="571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4" name="Line 6"/>
          <p:cNvSpPr>
            <a:spLocks noChangeShapeType="1"/>
          </p:cNvSpPr>
          <p:nvPr/>
        </p:nvSpPr>
        <p:spPr bwMode="auto">
          <a:xfrm flipV="1">
            <a:off x="1600200" y="2667000"/>
            <a:ext cx="0" cy="2209800"/>
          </a:xfrm>
          <a:prstGeom prst="line">
            <a:avLst/>
          </a:prstGeom>
          <a:noFill/>
          <a:ln w="57150">
            <a:solidFill>
              <a:srgbClr val="0033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5" name="Line 7"/>
          <p:cNvSpPr>
            <a:spLocks noChangeShapeType="1"/>
          </p:cNvSpPr>
          <p:nvPr/>
        </p:nvSpPr>
        <p:spPr bwMode="auto">
          <a:xfrm>
            <a:off x="1600200" y="4876800"/>
            <a:ext cx="2590800" cy="0"/>
          </a:xfrm>
          <a:prstGeom prst="line">
            <a:avLst/>
          </a:prstGeom>
          <a:noFill/>
          <a:ln w="38100">
            <a:solidFill>
              <a:srgbClr val="3399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6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2BF45FC-FEBB-401A-A685-118F2D597342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dirty="0"/>
          </a:p>
        </p:txBody>
      </p:sp>
      <p:sp>
        <p:nvSpPr>
          <p:cNvPr id="5127" name="TextBox 8"/>
          <p:cNvSpPr txBox="1">
            <a:spLocks noChangeArrowheads="1"/>
          </p:cNvSpPr>
          <p:nvPr/>
        </p:nvSpPr>
        <p:spPr bwMode="auto">
          <a:xfrm>
            <a:off x="1066800" y="4953000"/>
            <a:ext cx="517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red</a:t>
            </a:r>
          </a:p>
        </p:txBody>
      </p:sp>
      <p:sp>
        <p:nvSpPr>
          <p:cNvPr id="5128" name="TextBox 9"/>
          <p:cNvSpPr txBox="1">
            <a:spLocks noChangeArrowheads="1"/>
          </p:cNvSpPr>
          <p:nvPr/>
        </p:nvSpPr>
        <p:spPr bwMode="auto">
          <a:xfrm>
            <a:off x="1676400" y="3581400"/>
            <a:ext cx="620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blue</a:t>
            </a:r>
          </a:p>
        </p:txBody>
      </p:sp>
      <p:sp>
        <p:nvSpPr>
          <p:cNvPr id="5129" name="TextBox 10"/>
          <p:cNvSpPr txBox="1">
            <a:spLocks noChangeArrowheads="1"/>
          </p:cNvSpPr>
          <p:nvPr/>
        </p:nvSpPr>
        <p:spPr bwMode="auto">
          <a:xfrm>
            <a:off x="3124200" y="4953000"/>
            <a:ext cx="774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green</a:t>
            </a:r>
          </a:p>
        </p:txBody>
      </p:sp>
      <p:sp>
        <p:nvSpPr>
          <p:cNvPr id="5130" name="TextBox 11"/>
          <p:cNvSpPr txBox="1">
            <a:spLocks noChangeArrowheads="1"/>
          </p:cNvSpPr>
          <p:nvPr/>
        </p:nvSpPr>
        <p:spPr bwMode="auto">
          <a:xfrm>
            <a:off x="1600200" y="4495800"/>
            <a:ext cx="850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(0,0,0)</a:t>
            </a:r>
          </a:p>
        </p:txBody>
      </p:sp>
      <p:sp>
        <p:nvSpPr>
          <p:cNvPr id="5131" name="TextBox 12"/>
          <p:cNvSpPr txBox="1">
            <a:spLocks noChangeArrowheads="1"/>
          </p:cNvSpPr>
          <p:nvPr/>
        </p:nvSpPr>
        <p:spPr bwMode="auto">
          <a:xfrm>
            <a:off x="1600200" y="3048000"/>
            <a:ext cx="1108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(0,0,255)</a:t>
            </a:r>
          </a:p>
        </p:txBody>
      </p:sp>
      <p:sp>
        <p:nvSpPr>
          <p:cNvPr id="5132" name="TextBox 13"/>
          <p:cNvSpPr txBox="1">
            <a:spLocks noChangeArrowheads="1"/>
          </p:cNvSpPr>
          <p:nvPr/>
        </p:nvSpPr>
        <p:spPr bwMode="auto">
          <a:xfrm>
            <a:off x="3352800" y="4495800"/>
            <a:ext cx="1108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(0,255,0)</a:t>
            </a:r>
          </a:p>
        </p:txBody>
      </p:sp>
      <p:sp>
        <p:nvSpPr>
          <p:cNvPr id="5133" name="TextBox 14"/>
          <p:cNvSpPr txBox="1">
            <a:spLocks noChangeArrowheads="1"/>
          </p:cNvSpPr>
          <p:nvPr/>
        </p:nvSpPr>
        <p:spPr bwMode="auto">
          <a:xfrm>
            <a:off x="533400" y="5638800"/>
            <a:ext cx="1108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(255,0,0)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rot="5400000" flipH="1" flipV="1">
            <a:off x="1562100" y="3162300"/>
            <a:ext cx="1752600" cy="16764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5" name="TextBox 17"/>
          <p:cNvSpPr txBox="1">
            <a:spLocks noChangeArrowheads="1"/>
          </p:cNvSpPr>
          <p:nvPr/>
        </p:nvSpPr>
        <p:spPr bwMode="auto">
          <a:xfrm>
            <a:off x="2819400" y="3505200"/>
            <a:ext cx="8905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R,G,B </a:t>
            </a:r>
          </a:p>
        </p:txBody>
      </p:sp>
      <p:sp>
        <p:nvSpPr>
          <p:cNvPr id="5136" name="TextBox 20"/>
          <p:cNvSpPr txBox="1">
            <a:spLocks noChangeArrowheads="1"/>
          </p:cNvSpPr>
          <p:nvPr/>
        </p:nvSpPr>
        <p:spPr bwMode="auto">
          <a:xfrm>
            <a:off x="5029200" y="2667000"/>
            <a:ext cx="3717925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Normalized red      </a:t>
            </a:r>
            <a:r>
              <a:rPr lang="en-US" altLang="en-US" sz="1800" b="1"/>
              <a:t>r = R/(R+G+B)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Normalized green  </a:t>
            </a:r>
            <a:r>
              <a:rPr lang="en-US" altLang="en-US" sz="1800" b="1"/>
              <a:t>g = G/(R+G+B)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Normalized blue    </a:t>
            </a:r>
            <a:r>
              <a:rPr lang="en-US" altLang="en-US" sz="1800" b="1"/>
              <a:t>b = B/(R+G+B)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3" name="Straight Connector 22"/>
          <p:cNvCxnSpPr/>
          <p:nvPr/>
        </p:nvCxnSpPr>
        <p:spPr>
          <a:xfrm>
            <a:off x="1447800" y="31242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5400000">
            <a:off x="3657600" y="487680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6200000" flipH="1">
            <a:off x="342900" y="5600700"/>
            <a:ext cx="22860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0" name="TextBox 28"/>
          <p:cNvSpPr txBox="1">
            <a:spLocks noChangeArrowheads="1"/>
          </p:cNvSpPr>
          <p:nvPr/>
        </p:nvSpPr>
        <p:spPr bwMode="auto">
          <a:xfrm>
            <a:off x="1371600" y="1905000"/>
            <a:ext cx="53038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Absolute </a:t>
            </a:r>
            <a:r>
              <a:rPr lang="en-US" altLang="en-US" sz="2000"/>
              <a:t>                                      </a:t>
            </a:r>
            <a:r>
              <a:rPr lang="en-US" altLang="en-US" sz="2000">
                <a:solidFill>
                  <a:srgbClr val="FF0000"/>
                </a:solidFill>
              </a:rPr>
              <a:t>Normalized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Color hexagon for HSI (HSV)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457200" y="2133600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Tahoma" charset="0"/>
            </a:endParaRP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990600" y="1371600"/>
            <a:ext cx="77724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Tahoma" charset="0"/>
              </a:rPr>
              <a:t> Hue is encoded as an angle (0 to 2</a:t>
            </a:r>
            <a:r>
              <a:rPr lang="en-US" altLang="en-US" sz="2400" dirty="0">
                <a:latin typeface="Tahoma" charset="0"/>
                <a:sym typeface="Symbol" pitchFamily="18" charset="2"/>
              </a:rPr>
              <a:t>)</a:t>
            </a:r>
            <a:r>
              <a:rPr lang="en-US" altLang="en-US" sz="2400" dirty="0">
                <a:latin typeface="Tahoma" charset="0"/>
              </a:rPr>
              <a:t>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Tahoma" charset="0"/>
              </a:rPr>
              <a:t> Saturation is the distance to the vertical axis (0 to 1).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Tahoma" charset="0"/>
              </a:rPr>
              <a:t> Intensity is the height along the vertical axis (0 to 1).</a:t>
            </a:r>
          </a:p>
        </p:txBody>
      </p:sp>
      <p:sp>
        <p:nvSpPr>
          <p:cNvPr id="6170" name="Slide Number Placeholder 2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49F3F75-BACC-4669-AFAC-4871493CAD32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467" y="3070676"/>
            <a:ext cx="4394200" cy="3590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Editing Saturation of Colors</a:t>
            </a:r>
          </a:p>
        </p:txBody>
      </p:sp>
      <p:pic>
        <p:nvPicPr>
          <p:cNvPr id="7" name="Picture 3" descr="H:\Book\Chapters\Figures\Fig6\food.colors.or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33" y="1930400"/>
            <a:ext cx="2922588" cy="235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:\Book\Chapters\Figures\Fig6\food.colors.lesssa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333" y="1930400"/>
            <a:ext cx="2857500" cy="230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5" descr="H:\Book\Chapters\Figures\Fig6\food.colors.moresa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133" y="1930400"/>
            <a:ext cx="2819400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626532" y="4673600"/>
            <a:ext cx="88392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x-none" sz="2400">
                <a:solidFill>
                  <a:srgbClr val="000000"/>
                </a:solidFill>
                <a:latin typeface="Tahoma" charset="0"/>
              </a:rPr>
              <a:t>(Left) Image of food originating from a digital camera; 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x-none" sz="2400" dirty="0">
                <a:solidFill>
                  <a:srgbClr val="000000"/>
                </a:solidFill>
                <a:latin typeface="Tahoma" charset="0"/>
              </a:rPr>
              <a:t>(center) saturation value of each pixel decreased 20%; 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x-none" sz="2400" dirty="0">
                <a:solidFill>
                  <a:srgbClr val="000000"/>
                </a:solidFill>
                <a:latin typeface="Tahoma" charset="0"/>
              </a:rPr>
              <a:t>(right) saturation value of each pixel increased 40%.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8D7FE-9F3D-AC9F-2C23-447DA9327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116A-A103-9F48-8AAE-8BFFF09208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613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histogram of a gray-tone image is an array H[*] of bins, one for each gray tone.</a:t>
            </a:r>
          </a:p>
          <a:p>
            <a:endParaRPr lang="en-US" dirty="0"/>
          </a:p>
          <a:p>
            <a:r>
              <a:rPr lang="en-US" dirty="0"/>
              <a:t>H[</a:t>
            </a:r>
            <a:r>
              <a:rPr lang="en-US" dirty="0" err="1"/>
              <a:t>i</a:t>
            </a:r>
            <a:r>
              <a:rPr lang="en-US" dirty="0"/>
              <a:t>] gives the count of how many pixels of an image have gray tone </a:t>
            </a:r>
            <a:r>
              <a:rPr lang="en-US" dirty="0" err="1"/>
              <a:t>i</a:t>
            </a:r>
            <a:r>
              <a:rPr lang="en-US"/>
              <a:t>.</a:t>
            </a:r>
          </a:p>
          <a:p>
            <a:endParaRPr lang="en-US" dirty="0"/>
          </a:p>
          <a:p>
            <a:r>
              <a:rPr lang="en-US" dirty="0"/>
              <a:t>P[</a:t>
            </a:r>
            <a:r>
              <a:rPr lang="en-US" dirty="0" err="1"/>
              <a:t>i</a:t>
            </a:r>
            <a:r>
              <a:rPr lang="en-US" dirty="0"/>
              <a:t>] (the normalized histogram) gives the percentage of pixels that have gray tone </a:t>
            </a:r>
            <a:r>
              <a:rPr lang="en-US" dirty="0" err="1"/>
              <a:t>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0194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Gray image histogram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8634" y="2221446"/>
            <a:ext cx="2362200" cy="2311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457" y="1608671"/>
            <a:ext cx="4522042" cy="3536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239434" y="5503870"/>
                <a:ext cx="4397038" cy="9577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e>
                      </m:d>
                      <m:r>
                        <a:rPr lang="en-US" sz="2400" b="0" i="1" smtClean="0">
                          <a:latin typeface="Cambria Math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charset="0"/>
                            </a:rPr>
                            <m:t>𝑥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charset="0"/>
                                </a:rPr>
                                <m:t>𝑦</m:t>
                              </m:r>
                            </m:sub>
                            <m:sup/>
                            <m:e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b="0" i="1" smtClean="0">
                                            <a:latin typeface="Cambria Math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sz="2400" b="0" i="1" smtClean="0">
                                            <a:latin typeface="Cambria Math" charset="0"/>
                                          </a:rPr>
                                          <m:t>𝑖𝑓</m:t>
                                        </m:r>
                                        <m:r>
                                          <a:rPr lang="en-US" sz="2400" b="0" i="1" smtClean="0">
                                            <a:latin typeface="Cambria Math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2400" b="0" i="1" smtClean="0">
                                            <a:latin typeface="Cambria Math" charset="0"/>
                                          </a:rPr>
                                          <m:t>𝐹</m:t>
                                        </m:r>
                                        <m:r>
                                          <a:rPr lang="en-US" sz="2400" b="0" i="1" smtClean="0">
                                            <a:latin typeface="Cambria Math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400" b="0" i="1" smtClean="0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400" b="0" i="1" smtClean="0">
                                            <a:latin typeface="Cambria Math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400" b="0" i="1" smtClean="0">
                                            <a:latin typeface="Cambria Math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sz="2400" b="0" i="1" smtClean="0">
                                            <a:latin typeface="Cambria Math" charset="0"/>
                                          </a:rPr>
                                          <m:t>)=</m:t>
                                        </m:r>
                                        <m:r>
                                          <a:rPr lang="en-US" sz="2400" b="0" i="1" smtClean="0">
                                            <a:latin typeface="Cambria Math" charset="0"/>
                                          </a:rPr>
                                          <m:t>𝑖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2400" b="0" i="1" smtClean="0">
                                            <a:latin typeface="Cambria Math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sz="2400" b="0" i="1" smtClean="0">
                                            <a:latin typeface="Cambria Math" charset="0"/>
                                          </a:rPr>
                                          <m:t>𝑜𝑡h𝑒𝑟𝑤𝑖𝑠𝑒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434" y="5503870"/>
                <a:ext cx="4397038" cy="9577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0012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79425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Color histograms can represent the distribution of pixel values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7513" y="2209800"/>
            <a:ext cx="8726487" cy="4114800"/>
          </a:xfrm>
        </p:spPr>
        <p:txBody>
          <a:bodyPr/>
          <a:lstStyle/>
          <a:p>
            <a:pPr eaLnBrk="1" hangingPunct="1"/>
            <a:r>
              <a:rPr lang="en-US" altLang="en-US"/>
              <a:t>Histogram is fast and easy to compute.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Size can easily be normalized so that different image histograms can be compared.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Can match color histograms for database query or classification.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How to make a color histogram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ln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2800" dirty="0"/>
              <a:t>Make a single histogram for 3D color vectors.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Make 3 scalar histograms (not so useful)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3200" dirty="0"/>
              <a:t>Swain and Ballard’s Histogram Matching</a:t>
            </a:r>
            <a:br>
              <a:rPr lang="en-US" altLang="en-US" sz="3200" dirty="0"/>
            </a:br>
            <a:r>
              <a:rPr lang="en-US" altLang="en-US" sz="3200" dirty="0"/>
              <a:t>for Color Object Recognition </a:t>
            </a:r>
            <a:br>
              <a:rPr lang="en-US" altLang="en-US" sz="3200" dirty="0"/>
            </a:br>
            <a:r>
              <a:rPr lang="en-US" altLang="en-US" sz="3200" dirty="0"/>
              <a:t>(IJCV Vol 7, No. 1, 1991)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914400" y="1981200"/>
            <a:ext cx="7591374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charset="0"/>
              </a:rPr>
              <a:t>Opponent Encoding: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charset="0"/>
              </a:rPr>
              <a:t>Histograms: 8 x 16 x 16 = 2048 bins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charset="0"/>
              </a:rPr>
              <a:t>Intersection of image histogram and model histogram: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charset="0"/>
              </a:rPr>
              <a:t>Match score is the </a:t>
            </a:r>
            <a:r>
              <a:rPr lang="en-US" altLang="en-US" sz="2400" dirty="0">
                <a:solidFill>
                  <a:srgbClr val="FF0000"/>
                </a:solidFill>
                <a:latin typeface="Tahoma" charset="0"/>
              </a:rPr>
              <a:t>normalized</a:t>
            </a:r>
            <a:r>
              <a:rPr lang="en-US" altLang="en-US" sz="2400" dirty="0">
                <a:latin typeface="Tahoma" charset="0"/>
              </a:rPr>
              <a:t> intersection: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4724400" y="1981200"/>
            <a:ext cx="2222500" cy="1016000"/>
          </a:xfrm>
          <a:prstGeom prst="rect">
            <a:avLst/>
          </a:prstGeom>
          <a:noFill/>
          <a:ln w="9525">
            <a:solidFill>
              <a:srgbClr val="00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>
                <a:solidFill>
                  <a:srgbClr val="003399"/>
                </a:solidFill>
                <a:latin typeface="Tahoma" charset="0"/>
              </a:rPr>
              <a:t> wb = R + G + B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000">
                <a:solidFill>
                  <a:srgbClr val="003399"/>
                </a:solidFill>
                <a:latin typeface="Tahoma" charset="0"/>
              </a:rPr>
              <a:t> rg = R - G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000">
                <a:solidFill>
                  <a:srgbClr val="003399"/>
                </a:solidFill>
                <a:latin typeface="Tahoma" charset="0"/>
              </a:rPr>
              <a:t> by = 2B - R - G</a:t>
            </a:r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1219200" y="4495800"/>
            <a:ext cx="6630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Tahoma" charset="0"/>
              </a:rPr>
              <a:t>intersection(h(I),h(M)) = </a:t>
            </a:r>
            <a:r>
              <a:rPr lang="en-US" altLang="en-US" sz="2400">
                <a:solidFill>
                  <a:schemeClr val="tx2"/>
                </a:solidFill>
                <a:latin typeface="Tahoma" charset="0"/>
                <a:sym typeface="Symbol" pitchFamily="18" charset="2"/>
              </a:rPr>
              <a:t> min{h(I)[j],h(M)[j]}</a:t>
            </a:r>
            <a:endParaRPr lang="en-US" altLang="en-US" sz="2400">
              <a:solidFill>
                <a:schemeClr val="tx2"/>
              </a:solidFill>
              <a:latin typeface="Tahoma" charset="0"/>
            </a:endParaRPr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533400" y="6021388"/>
            <a:ext cx="7532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3399"/>
                </a:solidFill>
                <a:latin typeface="Tahoma" charset="0"/>
              </a:rPr>
              <a:t>match(h(I),h(M)) = intersection(h(I),h(M)) / </a:t>
            </a:r>
            <a:r>
              <a:rPr lang="en-US" altLang="en-US" sz="2400">
                <a:solidFill>
                  <a:srgbClr val="003399"/>
                </a:solidFill>
                <a:latin typeface="Tahoma" charset="0"/>
                <a:sym typeface="Symbol" pitchFamily="18" charset="2"/>
              </a:rPr>
              <a:t> h(M)[j]</a:t>
            </a: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4632325" y="4832350"/>
            <a:ext cx="541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ahoma" charset="0"/>
              </a:rPr>
              <a:t>j=1</a:t>
            </a:r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4479925" y="4298950"/>
            <a:ext cx="1038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ahoma" charset="0"/>
              </a:rPr>
              <a:t>numbins</a:t>
            </a:r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6553200" y="6324600"/>
            <a:ext cx="541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3399"/>
                </a:solidFill>
                <a:latin typeface="Tahoma" charset="0"/>
              </a:rPr>
              <a:t>j=1</a:t>
            </a:r>
            <a:endParaRPr lang="en-US" altLang="en-US" sz="2400">
              <a:solidFill>
                <a:srgbClr val="003399"/>
              </a:solidFill>
              <a:latin typeface="Tahoma" charset="0"/>
            </a:endParaRPr>
          </a:p>
        </p:txBody>
      </p:sp>
      <p:sp>
        <p:nvSpPr>
          <p:cNvPr id="23562" name="Text Box 10"/>
          <p:cNvSpPr txBox="1">
            <a:spLocks noChangeArrowheads="1"/>
          </p:cNvSpPr>
          <p:nvPr/>
        </p:nvSpPr>
        <p:spPr bwMode="auto">
          <a:xfrm>
            <a:off x="6384925" y="5822950"/>
            <a:ext cx="1038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3399"/>
                </a:solidFill>
                <a:latin typeface="Tahoma" charset="0"/>
              </a:rPr>
              <a:t>numbins</a:t>
            </a:r>
          </a:p>
        </p:txBody>
      </p:sp>
      <p:sp>
        <p:nvSpPr>
          <p:cNvPr id="23563" name="Slide Number Placeholder 1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3577524-1B1F-4389-857B-B361863EFF1C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F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025" y="1951038"/>
            <a:ext cx="5949950" cy="295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1889125" y="795338"/>
            <a:ext cx="3544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charset="0"/>
              </a:rPr>
              <a:t>(from Swain and Ballard)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1600200" y="5105400"/>
            <a:ext cx="2474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charset="0"/>
              </a:rPr>
              <a:t>cereal box image</a:t>
            </a: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4632325" y="5062538"/>
            <a:ext cx="2735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charset="0"/>
              </a:rPr>
              <a:t>3D color histogram</a:t>
            </a:r>
          </a:p>
        </p:txBody>
      </p:sp>
      <p:sp>
        <p:nvSpPr>
          <p:cNvPr id="24582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4B92550-5BBE-4A42-B27A-1961840A1997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F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317006"/>
            <a:ext cx="24511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 descr="F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383806"/>
            <a:ext cx="2098675" cy="197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1431925" y="4855544"/>
            <a:ext cx="5534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charset="0"/>
              </a:rPr>
              <a:t>Four views of Snoopy          Histograms</a:t>
            </a:r>
          </a:p>
        </p:txBody>
      </p:sp>
      <p:sp>
        <p:nvSpPr>
          <p:cNvPr id="2560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58A4A98-BFCA-45E0-BA3E-A3352DDA196A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Multi-scale spatial color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17316"/>
                <a:ext cx="8229600" cy="4525963"/>
              </a:xfrm>
              <a:ln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altLang="en-US" sz="2800" dirty="0"/>
                  <a:t>Divide an image into</a:t>
                </a:r>
                <a14:m>
                  <m:oMath xmlns:m="http://schemas.openxmlformats.org/officeDocument/2006/math">
                    <m:r>
                      <a:rPr lang="en-US" alt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en-US" sz="2800" dirty="0"/>
                  <a:t> grids at multiple scales</a:t>
                </a:r>
              </a:p>
              <a:p>
                <a:pPr eaLnBrk="1" hangingPunct="1"/>
                <a:r>
                  <a:rPr lang="en-US" altLang="en-US" sz="2800" dirty="0"/>
                  <a:t>Compute color histogram for each grid</a:t>
                </a:r>
              </a:p>
              <a:p>
                <a:pPr eaLnBrk="1" hangingPunct="1"/>
                <a:r>
                  <a:rPr lang="en-US" altLang="en-US" sz="2800" dirty="0"/>
                  <a:t>Concatenate all the histograms across scales and grids as a feature vector</a:t>
                </a:r>
              </a:p>
              <a:p>
                <a:pPr marL="0" indent="0" eaLnBrk="1" hangingPunct="1">
                  <a:buNone/>
                </a:pPr>
                <a:endParaRPr lang="en-US" altLang="en-US" sz="2800" dirty="0"/>
              </a:p>
            </p:txBody>
          </p:sp>
        </mc:Choice>
        <mc:Fallback xmlns="">
          <p:sp>
            <p:nvSpPr>
              <p:cNvPr id="1843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17316"/>
                <a:ext cx="8229600" cy="4525963"/>
              </a:xfrm>
              <a:blipFill>
                <a:blip r:embed="rId3"/>
                <a:stretch>
                  <a:fillRect l="-1389" t="-1401"/>
                </a:stretch>
              </a:blipFill>
              <a:ln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C5186137-8937-8B49-90FF-8FE2EBD92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8095" y="3293871"/>
            <a:ext cx="5625905" cy="350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341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>
                <a:solidFill>
                  <a:srgbClr val="FF0000"/>
                </a:solidFill>
              </a:rPr>
              <a:t>Quiz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7316"/>
            <a:ext cx="8229600" cy="4525963"/>
          </a:xfrm>
          <a:ln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800" dirty="0"/>
              <a:t>Which of the following about the color histogram is correct?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	It is invariant to 2D rotation</a:t>
            </a:r>
          </a:p>
          <a:p>
            <a:pPr marL="0" indent="0">
              <a:buNone/>
            </a:pPr>
            <a:r>
              <a:rPr lang="en-US" altLang="en-US" sz="2800" dirty="0"/>
              <a:t>	It is invariant to 3D rotation</a:t>
            </a:r>
          </a:p>
          <a:p>
            <a:pPr marL="0" indent="0">
              <a:buNone/>
            </a:pPr>
            <a:r>
              <a:rPr lang="en-US" altLang="en-US" sz="2800" dirty="0"/>
              <a:t>	It is invariant to </a:t>
            </a:r>
            <a:r>
              <a:rPr lang="en-US" altLang="zh-CN" sz="2800" dirty="0"/>
              <a:t>change in camera-to-object distance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70507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6425"/>
            <a:ext cx="8229600" cy="4525963"/>
          </a:xfrm>
        </p:spPr>
        <p:txBody>
          <a:bodyPr/>
          <a:lstStyle/>
          <a:p>
            <a:r>
              <a:rPr lang="en-US" dirty="0"/>
              <a:t>Color is well defined.</a:t>
            </a:r>
          </a:p>
          <a:p>
            <a:r>
              <a:rPr lang="en-US" dirty="0"/>
              <a:t>But what </a:t>
            </a:r>
            <a:r>
              <a:rPr lang="en-US" i="1" dirty="0"/>
              <a:t>is</a:t>
            </a:r>
            <a:r>
              <a:rPr lang="en-US" dirty="0"/>
              <a:t> texture?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039" y="2813116"/>
            <a:ext cx="5275690" cy="321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285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Structural Texture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381000" y="1577453"/>
            <a:ext cx="82057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itchFamily="18" charset="0"/>
              </a:rPr>
              <a:t>Texture is a description of the spatial arrangement of color 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itchFamily="18" charset="0"/>
              </a:rPr>
              <a:t>intensities in an image or a selected region of an image.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177653"/>
            <a:ext cx="823913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177653"/>
            <a:ext cx="823913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177653"/>
            <a:ext cx="823913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320653"/>
            <a:ext cx="823913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244453"/>
            <a:ext cx="823913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244453"/>
            <a:ext cx="823913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4092053"/>
            <a:ext cx="823913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5158853"/>
            <a:ext cx="823913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5158853"/>
            <a:ext cx="823913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5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5158853"/>
            <a:ext cx="823913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6" name="Rectangle 14"/>
          <p:cNvSpPr>
            <a:spLocks noChangeArrowheads="1"/>
          </p:cNvSpPr>
          <p:nvPr/>
        </p:nvSpPr>
        <p:spPr bwMode="auto">
          <a:xfrm>
            <a:off x="914400" y="2949053"/>
            <a:ext cx="7848600" cy="3352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3087" name="Picture 15" descr="PE01832_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177653"/>
            <a:ext cx="91440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8" name="Picture 16" descr="PE01832_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177653"/>
            <a:ext cx="91440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9" name="Picture 17" descr="PE01832_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177653"/>
            <a:ext cx="91440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0" name="Picture 18" descr="PE01832_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3177653"/>
            <a:ext cx="91440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1" name="Picture 19" descr="PE01832_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168253"/>
            <a:ext cx="91440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2" name="Picture 20" descr="PE01832_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244453"/>
            <a:ext cx="91440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3" name="Picture 21" descr="PE01832_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244453"/>
            <a:ext cx="91440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4" name="Picture 22" descr="PE01832_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235053"/>
            <a:ext cx="91440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5" name="Picture 23" descr="PE01832_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5235053"/>
            <a:ext cx="91440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6" name="Picture 24" descr="PE01832_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5235053"/>
            <a:ext cx="91440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7" name="Picture 25" descr="PE01832_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5158853"/>
            <a:ext cx="91440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98" name="Text Box 26"/>
          <p:cNvSpPr txBox="1">
            <a:spLocks noChangeArrowheads="1"/>
          </p:cNvSpPr>
          <p:nvPr/>
        </p:nvSpPr>
        <p:spPr bwMode="auto">
          <a:xfrm>
            <a:off x="914400" y="2491853"/>
            <a:ext cx="79136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chemeClr val="accent2"/>
                </a:solidFill>
                <a:latin typeface="Times New Roman" pitchFamily="18" charset="0"/>
              </a:rPr>
              <a:t>Structural approach: a set of texels in some regular or repeated pattern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BE6AC2-A02B-0DFD-1920-C97BD1167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116A-A103-9F48-8AAE-8BFFF09208AE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Natural Textures from </a:t>
            </a:r>
            <a:r>
              <a:rPr lang="en-US" altLang="en-US" dirty="0" err="1"/>
              <a:t>VisTex</a:t>
            </a:r>
            <a:endParaRPr lang="en-US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50" t="56250" r="43124" b="27344"/>
          <a:stretch>
            <a:fillRect/>
          </a:stretch>
        </p:blipFill>
        <p:spPr bwMode="auto">
          <a:xfrm>
            <a:off x="609600" y="2209800"/>
            <a:ext cx="32766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752600" y="5486400"/>
            <a:ext cx="862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CC"/>
                </a:solidFill>
                <a:latin typeface="Times New Roman" pitchFamily="18" charset="0"/>
              </a:rPr>
              <a:t>grass</a:t>
            </a:r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78" t="56522" r="43478" b="27174"/>
          <a:stretch>
            <a:fillRect/>
          </a:stretch>
        </p:blipFill>
        <p:spPr bwMode="auto">
          <a:xfrm>
            <a:off x="4495800" y="2209800"/>
            <a:ext cx="32766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5562600" y="5486400"/>
            <a:ext cx="96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CC"/>
                </a:solidFill>
                <a:latin typeface="Times New Roman" pitchFamily="18" charset="0"/>
              </a:rPr>
              <a:t>leaves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2209800" y="6019800"/>
            <a:ext cx="3813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itchFamily="18" charset="0"/>
              </a:rPr>
              <a:t>What/Where are the texels?</a:t>
            </a:r>
          </a:p>
        </p:txBody>
      </p:sp>
      <p:sp>
        <p:nvSpPr>
          <p:cNvPr id="5128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A9D4A59-CAB9-4812-8C6B-C03E753D586F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Case for Statistical Texture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344304" y="2514600"/>
            <a:ext cx="8455392" cy="3046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 dirty="0">
                <a:latin typeface="Times New Roman" pitchFamily="18" charset="0"/>
              </a:rPr>
              <a:t> Segmenting out </a:t>
            </a:r>
            <a:r>
              <a:rPr lang="en-US" altLang="en-US" sz="2400" dirty="0" err="1">
                <a:latin typeface="Times New Roman" pitchFamily="18" charset="0"/>
              </a:rPr>
              <a:t>texels</a:t>
            </a:r>
            <a:r>
              <a:rPr lang="en-US" altLang="en-US" sz="2400" dirty="0">
                <a:latin typeface="Times New Roman" pitchFamily="18" charset="0"/>
              </a:rPr>
              <a:t> is difficult or impossible in natural images.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400" dirty="0">
                <a:latin typeface="Times New Roman" pitchFamily="18" charset="0"/>
              </a:rPr>
              <a:t> Numeric quantities or statistics that describe a texture can be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itchFamily="18" charset="0"/>
              </a:rPr>
              <a:t>   computed from the gray tones (or colors) alone.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400" dirty="0">
                <a:latin typeface="Times New Roman" pitchFamily="18" charset="0"/>
              </a:rPr>
              <a:t> This approach is less intuitive but computationally efficient.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 dirty="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400" dirty="0">
                <a:latin typeface="Times New Roman" pitchFamily="18" charset="0"/>
              </a:rPr>
              <a:t> It can be used for both classification and segmentation.</a:t>
            </a: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DC29477-2B66-45C7-A174-098084FE97F6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930275"/>
            <a:ext cx="8991600" cy="11430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Some Simple Statistical Texture Measures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593725" y="2251075"/>
            <a:ext cx="414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itchFamily="18" charset="0"/>
              </a:rPr>
              <a:t>1.  Edge Density and Direction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898525" y="2936875"/>
            <a:ext cx="7753350" cy="2292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>
                <a:latin typeface="Times New Roman" pitchFamily="18" charset="0"/>
              </a:rPr>
              <a:t> Use an edge detector as the first step in texture analysis.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400">
                <a:latin typeface="Times New Roman" pitchFamily="18" charset="0"/>
              </a:rPr>
              <a:t> The number of edge pixels in a fixed-size region tells 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   how busy that region is.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400">
                <a:latin typeface="Times New Roman" pitchFamily="18" charset="0"/>
              </a:rPr>
              <a:t> The directions of the edges also help characterize the texture</a:t>
            </a: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B540441-9044-4644-9191-E3D701787AAC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Two Edge-based Texture Measures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609600" y="1905000"/>
            <a:ext cx="812800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itchFamily="18" charset="0"/>
              </a:rPr>
              <a:t>1.  </a:t>
            </a:r>
            <a:r>
              <a:rPr lang="en-US" altLang="en-US" sz="2400" dirty="0" err="1">
                <a:latin typeface="Times New Roman" pitchFamily="18" charset="0"/>
              </a:rPr>
              <a:t>edgeness</a:t>
            </a:r>
            <a:r>
              <a:rPr lang="en-US" altLang="en-US" sz="2400" dirty="0">
                <a:latin typeface="Times New Roman" pitchFamily="18" charset="0"/>
              </a:rPr>
              <a:t> per unit area (measure of texture richness)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itchFamily="18" charset="0"/>
              </a:rPr>
              <a:t>2. edge magnitude and direction histograms (measure of texture uniqueness)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990600" y="2438400"/>
            <a:ext cx="7575550" cy="46672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  <a:latin typeface="Times New Roman" pitchFamily="18" charset="0"/>
              </a:rPr>
              <a:t>F</a:t>
            </a:r>
            <a:r>
              <a:rPr lang="en-US" altLang="en-US" sz="1800" b="1">
                <a:solidFill>
                  <a:srgbClr val="FF3300"/>
                </a:solidFill>
                <a:latin typeface="Times New Roman" pitchFamily="18" charset="0"/>
              </a:rPr>
              <a:t>edgeness</a:t>
            </a:r>
            <a:r>
              <a:rPr lang="en-US" altLang="en-US" sz="2400" b="1">
                <a:solidFill>
                  <a:srgbClr val="FF3300"/>
                </a:solidFill>
                <a:latin typeface="Times New Roman" pitchFamily="18" charset="0"/>
              </a:rPr>
              <a:t> =  |{ p |  gradient_magnitude(p) </a:t>
            </a:r>
            <a:r>
              <a:rPr lang="en-US" altLang="en-US" sz="2400" b="1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 threshold}| / N</a:t>
            </a:r>
            <a:endParaRPr lang="en-US" altLang="en-US" sz="24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990600" y="3124200"/>
            <a:ext cx="4411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itchFamily="18" charset="0"/>
              </a:rPr>
              <a:t>where N is the size of the unit area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1048543" y="4823484"/>
            <a:ext cx="4295775" cy="46672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  <a:latin typeface="Times New Roman" pitchFamily="18" charset="0"/>
              </a:rPr>
              <a:t>F</a:t>
            </a:r>
            <a:r>
              <a:rPr lang="en-US" altLang="en-US" sz="1800" b="1">
                <a:solidFill>
                  <a:srgbClr val="FF3300"/>
                </a:solidFill>
                <a:latin typeface="Times New Roman" pitchFamily="18" charset="0"/>
              </a:rPr>
              <a:t>magdir</a:t>
            </a:r>
            <a:r>
              <a:rPr lang="en-US" altLang="en-US" sz="2400" b="1">
                <a:solidFill>
                  <a:srgbClr val="FF3300"/>
                </a:solidFill>
                <a:latin typeface="Times New Roman" pitchFamily="18" charset="0"/>
              </a:rPr>
              <a:t> = ( H</a:t>
            </a:r>
            <a:r>
              <a:rPr lang="en-US" altLang="en-US" sz="1800" b="1">
                <a:solidFill>
                  <a:srgbClr val="FF3300"/>
                </a:solidFill>
                <a:latin typeface="Times New Roman" pitchFamily="18" charset="0"/>
              </a:rPr>
              <a:t>magnitude</a:t>
            </a:r>
            <a:r>
              <a:rPr lang="en-US" altLang="en-US" sz="2400" b="1">
                <a:solidFill>
                  <a:srgbClr val="FF3300"/>
                </a:solidFill>
                <a:latin typeface="Times New Roman" pitchFamily="18" charset="0"/>
              </a:rPr>
              <a:t>, H</a:t>
            </a:r>
            <a:r>
              <a:rPr lang="en-US" altLang="en-US" sz="1800" b="1">
                <a:solidFill>
                  <a:srgbClr val="FF3300"/>
                </a:solidFill>
                <a:latin typeface="Times New Roman" pitchFamily="18" charset="0"/>
              </a:rPr>
              <a:t>direction </a:t>
            </a:r>
            <a:r>
              <a:rPr lang="en-US" altLang="en-US" sz="2400" b="1">
                <a:solidFill>
                  <a:srgbClr val="FF3300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936812" y="5531037"/>
            <a:ext cx="67865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itchFamily="18" charset="0"/>
              </a:rPr>
              <a:t>where these are the normalized histograms of gradient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itchFamily="18" charset="0"/>
              </a:rPr>
              <a:t>magnitudes and gradient directions, respectively.</a:t>
            </a:r>
          </a:p>
        </p:txBody>
      </p:sp>
      <p:sp>
        <p:nvSpPr>
          <p:cNvPr id="8200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FB5F5EF-8084-444E-A2B6-BA50E0F10461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Local Binary Pattern Measure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2209800" y="4800600"/>
            <a:ext cx="1717675" cy="1196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100 101 103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 40    </a:t>
            </a: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</a:rPr>
              <a:t>50</a:t>
            </a:r>
            <a:r>
              <a:rPr lang="en-US" altLang="en-US" sz="2400">
                <a:solidFill>
                  <a:srgbClr val="0000FF"/>
                </a:solidFill>
                <a:latin typeface="Times New Roman" pitchFamily="18" charset="0"/>
              </a:rPr>
              <a:t> </a:t>
            </a:r>
            <a:r>
              <a:rPr lang="en-US" altLang="en-US" sz="2400">
                <a:latin typeface="Times New Roman" pitchFamily="18" charset="0"/>
              </a:rPr>
              <a:t>  80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 50    60   90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593725" y="1946275"/>
            <a:ext cx="7962900" cy="2292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>
                <a:latin typeface="Times New Roman" pitchFamily="18" charset="0"/>
              </a:rPr>
              <a:t> For each pixel p, create an 8-bit number </a:t>
            </a: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</a:rPr>
              <a:t>b</a:t>
            </a:r>
            <a:r>
              <a:rPr lang="en-US" altLang="en-US" sz="160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</a:rPr>
              <a:t> b</a:t>
            </a:r>
            <a:r>
              <a:rPr lang="en-US" altLang="en-US" sz="160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</a:rPr>
              <a:t> b</a:t>
            </a:r>
            <a:r>
              <a:rPr lang="en-US" altLang="en-US" sz="1600">
                <a:solidFill>
                  <a:srgbClr val="FF0000"/>
                </a:solidFill>
                <a:latin typeface="Times New Roman" pitchFamily="18" charset="0"/>
              </a:rPr>
              <a:t>3</a:t>
            </a: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</a:rPr>
              <a:t> b</a:t>
            </a:r>
            <a:r>
              <a:rPr lang="en-US" altLang="en-US" sz="1600">
                <a:solidFill>
                  <a:srgbClr val="FF0000"/>
                </a:solidFill>
                <a:latin typeface="Times New Roman" pitchFamily="18" charset="0"/>
              </a:rPr>
              <a:t>4</a:t>
            </a: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</a:rPr>
              <a:t> b</a:t>
            </a:r>
            <a:r>
              <a:rPr lang="en-US" altLang="en-US" sz="1600">
                <a:solidFill>
                  <a:srgbClr val="FF0000"/>
                </a:solidFill>
                <a:latin typeface="Times New Roman" pitchFamily="18" charset="0"/>
              </a:rPr>
              <a:t>5</a:t>
            </a: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</a:rPr>
              <a:t> b</a:t>
            </a:r>
            <a:r>
              <a:rPr lang="en-US" altLang="en-US" sz="1600">
                <a:solidFill>
                  <a:srgbClr val="FF0000"/>
                </a:solidFill>
                <a:latin typeface="Times New Roman" pitchFamily="18" charset="0"/>
              </a:rPr>
              <a:t>6</a:t>
            </a: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</a:rPr>
              <a:t> b</a:t>
            </a:r>
            <a:r>
              <a:rPr lang="en-US" altLang="en-US" sz="1600">
                <a:solidFill>
                  <a:srgbClr val="FF0000"/>
                </a:solidFill>
                <a:latin typeface="Times New Roman" pitchFamily="18" charset="0"/>
              </a:rPr>
              <a:t>7</a:t>
            </a: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</a:rPr>
              <a:t> b</a:t>
            </a:r>
            <a:r>
              <a:rPr lang="en-US" altLang="en-US" sz="1600">
                <a:solidFill>
                  <a:srgbClr val="FF0000"/>
                </a:solidFill>
                <a:latin typeface="Times New Roman" pitchFamily="18" charset="0"/>
              </a:rPr>
              <a:t>8</a:t>
            </a:r>
            <a:r>
              <a:rPr lang="en-US" altLang="en-US" sz="2400">
                <a:latin typeface="Times New Roman" pitchFamily="18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   where b</a:t>
            </a:r>
            <a:r>
              <a:rPr lang="en-US" altLang="en-US" sz="1600">
                <a:latin typeface="Times New Roman" pitchFamily="18" charset="0"/>
              </a:rPr>
              <a:t>i </a:t>
            </a:r>
            <a:r>
              <a:rPr lang="en-US" altLang="en-US" sz="2400">
                <a:latin typeface="Times New Roman" pitchFamily="18" charset="0"/>
              </a:rPr>
              <a:t>= 0 if neighbor i has value less than or equal to p’s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   value and  1 otherwise.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400">
                <a:latin typeface="Times New Roman" pitchFamily="18" charset="0"/>
              </a:rPr>
              <a:t> Represent the texture in the image (or a region) by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   histogram of these numbers.</a:t>
            </a: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6019800" y="5105400"/>
            <a:ext cx="194627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</a:rPr>
              <a:t>1 1 1 1 1 1 0 0</a:t>
            </a:r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4800600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>
            <a:off x="2819400" y="4800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>
            <a:off x="3352800" y="4800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49" name="Line 9"/>
          <p:cNvSpPr>
            <a:spLocks noChangeShapeType="1"/>
          </p:cNvSpPr>
          <p:nvPr/>
        </p:nvSpPr>
        <p:spPr bwMode="auto">
          <a:xfrm>
            <a:off x="2209800" y="5562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>
            <a:off x="2209800" y="5181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2270125" y="4433888"/>
            <a:ext cx="1511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itchFamily="18" charset="0"/>
              </a:rPr>
              <a:t>  </a:t>
            </a:r>
            <a:r>
              <a:rPr lang="en-US" altLang="en-US" sz="1800">
                <a:latin typeface="Times New Roman" pitchFamily="18" charset="0"/>
              </a:rPr>
              <a:t>1       2        3</a:t>
            </a:r>
          </a:p>
        </p:txBody>
      </p:sp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4114800" y="4800600"/>
            <a:ext cx="29845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itchFamily="18" charset="0"/>
              </a:rPr>
              <a:t>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itchFamily="18" charset="0"/>
              </a:rPr>
              <a:t>5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2362200" y="60198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itchFamily="18" charset="0"/>
              </a:rPr>
              <a:t> 7        6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1660525" y="51435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itchFamily="18" charset="0"/>
              </a:rPr>
              <a:t>8</a:t>
            </a:r>
          </a:p>
        </p:txBody>
      </p:sp>
      <p:sp>
        <p:nvSpPr>
          <p:cNvPr id="10255" name="Slide Number Placeholder 1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39001AA-A98B-4D0C-BD70-F6E810B5C5BA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01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cs typeface="Times New Roman" pitchFamily="18" charset="0"/>
              </a:rPr>
              <a:t>Local Binary Pattern (LBP)</a:t>
            </a:r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060" y="1784522"/>
            <a:ext cx="11257973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553D88-BE07-C022-B7D2-7AE51E6B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D95-CAE5-447D-8A92-855FBF9357D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529555" y="4699476"/>
                <a:ext cx="6084887" cy="12854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914400"/>
                <a:r>
                  <a:rPr lang="en-US" sz="2400" dirty="0">
                    <a:solidFill>
                      <a:prstClr val="black"/>
                    </a:solidFill>
                  </a:rPr>
                  <a:t>binary threshold function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black"/>
                        </a:solidFill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is,</a:t>
                </a:r>
              </a:p>
              <a:p>
                <a:pPr algn="ctr" defTabSz="9144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0,  &amp;</m:t>
                              </m:r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1,  &amp;</m:t>
                              </m:r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555" y="4699476"/>
                <a:ext cx="6084887" cy="1285480"/>
              </a:xfrm>
              <a:prstGeom prst="rect">
                <a:avLst/>
              </a:prstGeom>
              <a:blipFill rotWithShape="0">
                <a:blip r:embed="rId3"/>
                <a:stretch>
                  <a:fillRect t="-3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83" name="TextBox 20482"/>
              <p:cNvSpPr txBox="1"/>
              <p:nvPr/>
            </p:nvSpPr>
            <p:spPr>
              <a:xfrm>
                <a:off x="2469456" y="2807043"/>
                <a:ext cx="4205087" cy="2059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/>
                <a:endParaRPr lang="en-US" dirty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defTabSz="914400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70C0"/>
                    </a:solidFill>
                    <a:latin typeface="Times New Roman" pitchFamily="18" charset="0"/>
                  </a:rPr>
                  <a:t>: center pixel</a:t>
                </a:r>
              </a:p>
              <a:p>
                <a:pPr defTabSz="914400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70C0"/>
                    </a:solidFill>
                    <a:latin typeface="Times New Roman" pitchFamily="18" charset="0"/>
                  </a:rPr>
                  <a:t>: neighbor pixel</a:t>
                </a:r>
              </a:p>
              <a:p>
                <a:pPr defTabSz="914400"/>
                <a:r>
                  <a:rPr lang="en-US" sz="2400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  <a:sym typeface="Wingdings" pitchFamily="2" charset="2"/>
                  </a:rPr>
                  <a:t>r</a:t>
                </a:r>
                <a:r>
                  <a:rPr lang="en-US" sz="24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  <a:sym typeface="Wingdings" pitchFamily="2" charset="2"/>
                  </a:rPr>
                  <a:t>: radius (for 3x3 cell, it is 1).</a:t>
                </a:r>
              </a:p>
              <a:p>
                <a:pPr defTabSz="914400"/>
                <a:endParaRPr lang="en-US" dirty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defTabSz="914400"/>
                <a:endParaRPr lang="en-US" dirty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0483" name="TextBox 204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456" y="2807043"/>
                <a:ext cx="4205087" cy="2059859"/>
              </a:xfrm>
              <a:prstGeom prst="rect">
                <a:avLst/>
              </a:prstGeom>
              <a:blipFill rotWithShape="0">
                <a:blip r:embed="rId4"/>
                <a:stretch>
                  <a:fillRect l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59978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69" r="64999" b="37500"/>
          <a:stretch>
            <a:fillRect/>
          </a:stretch>
        </p:blipFill>
        <p:spPr bwMode="auto">
          <a:xfrm>
            <a:off x="4343400" y="914400"/>
            <a:ext cx="4267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228600" y="1524000"/>
            <a:ext cx="401320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itchFamily="18" charset="0"/>
              </a:rPr>
              <a:t>Fids (Flexible Image Database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itchFamily="18" charset="0"/>
              </a:rPr>
              <a:t>System) is retrieving images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itchFamily="18" charset="0"/>
              </a:rPr>
              <a:t>similar to the query image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itchFamily="18" charset="0"/>
              </a:rPr>
              <a:t>using LBP texture as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itchFamily="18" charset="0"/>
              </a:rPr>
              <a:t>texture measure and comparing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itchFamily="18" charset="0"/>
              </a:rPr>
              <a:t>their LBP histograms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1279525" y="119063"/>
            <a:ext cx="1962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CC"/>
                </a:solidFill>
              </a:rPr>
              <a:t>Example</a:t>
            </a:r>
          </a:p>
        </p:txBody>
      </p:sp>
      <p:sp>
        <p:nvSpPr>
          <p:cNvPr id="1126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90D54CC-F294-4263-873D-D8B1FFB76695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69" r="48750" b="37500"/>
          <a:stretch>
            <a:fillRect/>
          </a:stretch>
        </p:blipFill>
        <p:spPr bwMode="auto">
          <a:xfrm>
            <a:off x="2438400" y="990600"/>
            <a:ext cx="6248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228600" y="1828800"/>
            <a:ext cx="2043113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Low-level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measures don’t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always find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semantically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similar images.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304800" y="152400"/>
            <a:ext cx="1962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CC"/>
                </a:solidFill>
              </a:rPr>
              <a:t>Example</a:t>
            </a:r>
          </a:p>
        </p:txBody>
      </p:sp>
      <p:sp>
        <p:nvSpPr>
          <p:cNvPr id="1229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E3B4377-AF73-4AD7-A960-B788E0260D7B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Co-occurrence Matrix Features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822325" y="2098675"/>
            <a:ext cx="6129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A co-occurrence matrix is a 2D array C in which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1050925" y="2784475"/>
            <a:ext cx="7564438" cy="2657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>
                <a:latin typeface="Times New Roman" pitchFamily="18" charset="0"/>
              </a:rPr>
              <a:t> Both the rows and columns represent a set of possible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   image values.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400">
                <a:solidFill>
                  <a:srgbClr val="FF3300"/>
                </a:solidFill>
                <a:latin typeface="Times New Roman" pitchFamily="18" charset="0"/>
              </a:rPr>
              <a:t> C  (i,j)</a:t>
            </a:r>
            <a:r>
              <a:rPr lang="en-US" altLang="en-US" sz="2400">
                <a:solidFill>
                  <a:srgbClr val="0000FF"/>
                </a:solidFill>
                <a:latin typeface="Times New Roman" pitchFamily="18" charset="0"/>
              </a:rPr>
              <a:t> </a:t>
            </a:r>
            <a:r>
              <a:rPr lang="en-US" altLang="en-US" sz="2400">
                <a:latin typeface="Times New Roman" pitchFamily="18" charset="0"/>
              </a:rPr>
              <a:t>indicates how many times value</a:t>
            </a:r>
            <a:r>
              <a:rPr lang="en-US" altLang="en-US" sz="2400">
                <a:solidFill>
                  <a:srgbClr val="0000FF"/>
                </a:solidFill>
                <a:latin typeface="Times New Roman" pitchFamily="18" charset="0"/>
              </a:rPr>
              <a:t> </a:t>
            </a:r>
            <a:r>
              <a:rPr lang="en-US" altLang="en-US" sz="2400">
                <a:solidFill>
                  <a:srgbClr val="FF3300"/>
                </a:solidFill>
                <a:latin typeface="Times New Roman" pitchFamily="18" charset="0"/>
              </a:rPr>
              <a:t>i</a:t>
            </a:r>
            <a:r>
              <a:rPr lang="en-US" altLang="en-US" sz="2400">
                <a:solidFill>
                  <a:srgbClr val="0000FF"/>
                </a:solidFill>
                <a:latin typeface="Times New Roman" pitchFamily="18" charset="0"/>
              </a:rPr>
              <a:t> </a:t>
            </a:r>
            <a:r>
              <a:rPr lang="en-US" altLang="en-US" sz="2400">
                <a:latin typeface="Times New Roman" pitchFamily="18" charset="0"/>
              </a:rPr>
              <a:t>co-occurs with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   value</a:t>
            </a:r>
            <a:r>
              <a:rPr lang="en-US" altLang="en-US" sz="2400">
                <a:solidFill>
                  <a:srgbClr val="0000FF"/>
                </a:solidFill>
                <a:latin typeface="Times New Roman" pitchFamily="18" charset="0"/>
              </a:rPr>
              <a:t> </a:t>
            </a:r>
            <a:r>
              <a:rPr lang="en-US" altLang="en-US" sz="2400">
                <a:solidFill>
                  <a:srgbClr val="FF3300"/>
                </a:solidFill>
                <a:latin typeface="Times New Roman" pitchFamily="18" charset="0"/>
              </a:rPr>
              <a:t>j</a:t>
            </a:r>
            <a:r>
              <a:rPr lang="en-US" altLang="en-US" sz="2400">
                <a:solidFill>
                  <a:srgbClr val="0000FF"/>
                </a:solidFill>
                <a:latin typeface="Times New Roman" pitchFamily="18" charset="0"/>
              </a:rPr>
              <a:t> </a:t>
            </a:r>
            <a:r>
              <a:rPr lang="en-US" altLang="en-US" sz="2400">
                <a:latin typeface="Times New Roman" pitchFamily="18" charset="0"/>
              </a:rPr>
              <a:t>in a particular spatial relationship</a:t>
            </a:r>
            <a:r>
              <a:rPr lang="en-US" altLang="en-US" sz="2400">
                <a:solidFill>
                  <a:srgbClr val="0000FF"/>
                </a:solidFill>
                <a:latin typeface="Times New Roman" pitchFamily="18" charset="0"/>
              </a:rPr>
              <a:t> </a:t>
            </a:r>
            <a:r>
              <a:rPr lang="en-US" altLang="en-US" sz="2400">
                <a:solidFill>
                  <a:srgbClr val="FF3300"/>
                </a:solidFill>
                <a:latin typeface="Times New Roman" pitchFamily="18" charset="0"/>
              </a:rPr>
              <a:t>d</a:t>
            </a:r>
            <a:r>
              <a:rPr lang="en-US" altLang="en-US" sz="2400">
                <a:solidFill>
                  <a:schemeClr val="hlink"/>
                </a:solidFill>
                <a:latin typeface="Times New Roman" pitchFamily="18" charset="0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FF"/>
              </a:solidFill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400">
                <a:latin typeface="Times New Roman" pitchFamily="18" charset="0"/>
              </a:rPr>
              <a:t> The spatial relationship is specified by a vector</a:t>
            </a:r>
            <a:r>
              <a:rPr lang="en-US" altLang="en-US" sz="2400">
                <a:solidFill>
                  <a:schemeClr val="hlink"/>
                </a:solidFill>
                <a:latin typeface="Times New Roman" pitchFamily="18" charset="0"/>
              </a:rPr>
              <a:t> </a:t>
            </a: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</a:rPr>
              <a:t>d = (dr,dc</a:t>
            </a:r>
            <a:r>
              <a:rPr lang="en-US" altLang="en-US" sz="2400">
                <a:solidFill>
                  <a:srgbClr val="FF3300"/>
                </a:solidFill>
                <a:latin typeface="Times New Roman" pitchFamily="18" charset="0"/>
              </a:rPr>
              <a:t>)</a:t>
            </a:r>
            <a:r>
              <a:rPr lang="en-US" altLang="en-US" sz="2400">
                <a:solidFill>
                  <a:srgbClr val="0000FF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1447800" y="40386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33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33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6C3798E-F6CC-45E0-99C7-932C94757E28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685800" y="1752600"/>
            <a:ext cx="1260475" cy="2292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1  1  0  0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1  1  0  0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0  0  2  2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0  0  2  2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0  0  2  2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0  0  2  2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3124200" y="1752600"/>
            <a:ext cx="277813" cy="156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</a:rPr>
              <a:t>j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2819400" y="1752600"/>
            <a:ext cx="27781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</a:rPr>
              <a:t>i</a:t>
            </a:r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3048000" y="2209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>
            <a:off x="3124200" y="2895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3124200" y="2590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4" name="Line 8"/>
          <p:cNvSpPr>
            <a:spLocks noChangeShapeType="1"/>
          </p:cNvSpPr>
          <p:nvPr/>
        </p:nvSpPr>
        <p:spPr bwMode="auto">
          <a:xfrm>
            <a:off x="2895600" y="1600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5" name="Line 9"/>
          <p:cNvSpPr>
            <a:spLocks noChangeShapeType="1"/>
          </p:cNvSpPr>
          <p:nvPr/>
        </p:nvSpPr>
        <p:spPr bwMode="auto">
          <a:xfrm>
            <a:off x="3581400" y="19050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2971800" y="1143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itchFamily="18" charset="0"/>
              </a:rPr>
              <a:t>1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641725" y="2324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itchFamily="18" charset="0"/>
              </a:rPr>
              <a:t>3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2651125" y="3698875"/>
            <a:ext cx="1254125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</a:rPr>
              <a:t>d = (3,1)</a:t>
            </a:r>
          </a:p>
        </p:txBody>
      </p:sp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5486400" y="18288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4800600" y="160020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0 1 2</a:t>
            </a:r>
          </a:p>
        </p:txBody>
      </p:sp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4419600" y="2133600"/>
            <a:ext cx="3365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2</a:t>
            </a:r>
          </a:p>
        </p:txBody>
      </p:sp>
      <p:sp>
        <p:nvSpPr>
          <p:cNvPr id="14352" name="Text Box 16"/>
          <p:cNvSpPr txBox="1">
            <a:spLocks noChangeArrowheads="1"/>
          </p:cNvSpPr>
          <p:nvPr/>
        </p:nvSpPr>
        <p:spPr bwMode="auto">
          <a:xfrm>
            <a:off x="4876800" y="2133600"/>
            <a:ext cx="803275" cy="1196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1 0 3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2 0 2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0 0 1</a:t>
            </a:r>
          </a:p>
        </p:txBody>
      </p:sp>
      <p:sp>
        <p:nvSpPr>
          <p:cNvPr id="14353" name="Text Box 17"/>
          <p:cNvSpPr txBox="1">
            <a:spLocks noChangeArrowheads="1"/>
          </p:cNvSpPr>
          <p:nvPr/>
        </p:nvSpPr>
        <p:spPr bwMode="auto">
          <a:xfrm>
            <a:off x="5927725" y="24034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</a:rPr>
              <a:t>C</a:t>
            </a:r>
            <a:r>
              <a:rPr lang="en-US" altLang="en-US" sz="2400" baseline="-25000">
                <a:solidFill>
                  <a:srgbClr val="FF00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4354" name="Text Box 19"/>
          <p:cNvSpPr txBox="1">
            <a:spLocks noChangeArrowheads="1"/>
          </p:cNvSpPr>
          <p:nvPr/>
        </p:nvSpPr>
        <p:spPr bwMode="auto">
          <a:xfrm>
            <a:off x="669925" y="4308475"/>
            <a:ext cx="13509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  <a:latin typeface="Times New Roman" pitchFamily="18" charset="0"/>
              </a:rPr>
              <a:t>gray-tone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  <a:latin typeface="Times New Roman" pitchFamily="18" charset="0"/>
              </a:rPr>
              <a:t>  image</a:t>
            </a:r>
          </a:p>
        </p:txBody>
      </p:sp>
      <p:sp>
        <p:nvSpPr>
          <p:cNvPr id="14355" name="Text Box 20"/>
          <p:cNvSpPr txBox="1">
            <a:spLocks noChangeArrowheads="1"/>
          </p:cNvSpPr>
          <p:nvPr/>
        </p:nvSpPr>
        <p:spPr bwMode="auto">
          <a:xfrm>
            <a:off x="4495800" y="3581400"/>
            <a:ext cx="19081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  <a:latin typeface="Times New Roman" pitchFamily="18" charset="0"/>
              </a:rPr>
              <a:t>co-occurrence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  <a:latin typeface="Times New Roman" pitchFamily="18" charset="0"/>
              </a:rPr>
              <a:t>      matrix</a:t>
            </a:r>
          </a:p>
        </p:txBody>
      </p:sp>
      <p:sp>
        <p:nvSpPr>
          <p:cNvPr id="14356" name="Text Box 21"/>
          <p:cNvSpPr txBox="1">
            <a:spLocks noChangeArrowheads="1"/>
          </p:cNvSpPr>
          <p:nvPr/>
        </p:nvSpPr>
        <p:spPr bwMode="auto">
          <a:xfrm>
            <a:off x="533400" y="5334000"/>
            <a:ext cx="8478838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From C</a:t>
            </a:r>
            <a:r>
              <a:rPr lang="en-US" altLang="en-US" sz="2400" baseline="-25000">
                <a:latin typeface="Times New Roman" pitchFamily="18" charset="0"/>
              </a:rPr>
              <a:t>d</a:t>
            </a:r>
            <a:r>
              <a:rPr lang="en-US" altLang="en-US" sz="2400">
                <a:latin typeface="Times New Roman" pitchFamily="18" charset="0"/>
              </a:rPr>
              <a:t>  we can compute </a:t>
            </a: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en-US" sz="2400" baseline="-25000">
                <a:solidFill>
                  <a:srgbClr val="FF0000"/>
                </a:solidFill>
                <a:latin typeface="Times New Roman" pitchFamily="18" charset="0"/>
              </a:rPr>
              <a:t>d</a:t>
            </a: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</a:rPr>
              <a:t>, the normalized co-occurrence matrix</a:t>
            </a:r>
            <a:r>
              <a:rPr lang="en-US" altLang="en-US" sz="2400">
                <a:latin typeface="Times New Roman" pitchFamily="18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where each value is divided by the sum of all the values.</a:t>
            </a:r>
          </a:p>
        </p:txBody>
      </p:sp>
      <p:sp>
        <p:nvSpPr>
          <p:cNvPr id="14357" name="Text Box 24"/>
          <p:cNvSpPr txBox="1">
            <a:spLocks noChangeArrowheads="1"/>
          </p:cNvSpPr>
          <p:nvPr/>
        </p:nvSpPr>
        <p:spPr bwMode="auto">
          <a:xfrm>
            <a:off x="1524000" y="304800"/>
            <a:ext cx="5086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CC"/>
                </a:solidFill>
              </a:rPr>
              <a:t>Co-occurrence Example</a:t>
            </a:r>
          </a:p>
        </p:txBody>
      </p:sp>
      <p:sp>
        <p:nvSpPr>
          <p:cNvPr id="14358" name="Slide Number Placeholder 2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973E385-501A-475D-A74D-6C586596F49B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2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But how do you choose d?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898525" y="2098675"/>
            <a:ext cx="6451600" cy="2292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>
                <a:latin typeface="Times New Roman" pitchFamily="18" charset="0"/>
              </a:rPr>
              <a:t> This is actually a critical question with </a:t>
            </a:r>
            <a:r>
              <a:rPr lang="en-US" altLang="en-US" sz="2400" b="1">
                <a:solidFill>
                  <a:srgbClr val="FF0000"/>
                </a:solidFill>
                <a:latin typeface="Times New Roman" pitchFamily="18" charset="0"/>
              </a:rPr>
              <a:t>all</a:t>
            </a:r>
            <a:r>
              <a:rPr lang="en-US" altLang="en-US" sz="2400">
                <a:latin typeface="Times New Roman" pitchFamily="18" charset="0"/>
              </a:rPr>
              <a:t>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itchFamily="18" charset="0"/>
              </a:rPr>
              <a:t>   statistical texture methods.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400">
                <a:latin typeface="Times New Roman" pitchFamily="18" charset="0"/>
              </a:rPr>
              <a:t> Are the “texels” tiny, medium, large, all three …?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400">
                <a:latin typeface="Times New Roman" pitchFamily="18" charset="0"/>
              </a:rPr>
              <a:t> Not really a solved problem.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9711E37-7FB9-4801-BF67-46FA45476C92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1" name="Title 1"/>
          <p:cNvSpPr>
            <a:spLocks noGrp="1"/>
          </p:cNvSpPr>
          <p:nvPr>
            <p:ph type="title"/>
          </p:nvPr>
        </p:nvSpPr>
        <p:spPr>
          <a:xfrm>
            <a:off x="457200" y="142875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Filter banks</a:t>
            </a:r>
            <a:endParaRPr lang="en-US" sz="3100" i="1" dirty="0">
              <a:solidFill>
                <a:srgbClr val="0000CC"/>
              </a:solidFill>
            </a:endParaRPr>
          </a:p>
        </p:txBody>
      </p:sp>
      <p:sp>
        <p:nvSpPr>
          <p:cNvPr id="378882" name="Content Placeholder 2"/>
          <p:cNvSpPr>
            <a:spLocks noGrp="1"/>
          </p:cNvSpPr>
          <p:nvPr>
            <p:ph idx="1"/>
          </p:nvPr>
        </p:nvSpPr>
        <p:spPr>
          <a:xfrm>
            <a:off x="457200" y="4545467"/>
            <a:ext cx="8229600" cy="2112963"/>
          </a:xfrm>
        </p:spPr>
        <p:txBody>
          <a:bodyPr/>
          <a:lstStyle/>
          <a:p>
            <a:r>
              <a:rPr lang="en-US" dirty="0"/>
              <a:t>What filters to put in the bank?</a:t>
            </a:r>
          </a:p>
          <a:p>
            <a:pPr lvl="1"/>
            <a:r>
              <a:rPr lang="en-US" dirty="0"/>
              <a:t>Typically we want a combination of scales and orientations, different types of patterns.</a:t>
            </a:r>
          </a:p>
        </p:txBody>
      </p:sp>
      <p:pic>
        <p:nvPicPr>
          <p:cNvPr id="378883" name="Content Placeholder 3" descr="lmfilters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1953080"/>
            <a:ext cx="6832600" cy="231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0" y="2537280"/>
            <a:ext cx="10223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</a:rPr>
              <a:t>scales</a:t>
            </a:r>
          </a:p>
        </p:txBody>
      </p:sp>
      <p:sp>
        <p:nvSpPr>
          <p:cNvPr id="9" name="Left Brace 8"/>
          <p:cNvSpPr>
            <a:spLocks/>
          </p:cNvSpPr>
          <p:nvPr/>
        </p:nvSpPr>
        <p:spPr bwMode="auto">
          <a:xfrm>
            <a:off x="993775" y="2026105"/>
            <a:ext cx="292100" cy="1570037"/>
          </a:xfrm>
          <a:prstGeom prst="leftBrace">
            <a:avLst>
              <a:gd name="adj1" fmla="val 8336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Left Brace 9"/>
          <p:cNvSpPr>
            <a:spLocks/>
          </p:cNvSpPr>
          <p:nvPr/>
        </p:nvSpPr>
        <p:spPr bwMode="auto">
          <a:xfrm rot="5400000">
            <a:off x="2837656" y="182224"/>
            <a:ext cx="328613" cy="3359150"/>
          </a:xfrm>
          <a:prstGeom prst="leftBrace">
            <a:avLst>
              <a:gd name="adj1" fmla="val 8329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504950" y="1514930"/>
            <a:ext cx="2008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</a:rPr>
              <a:t>orientations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1220" y="2500747"/>
            <a:ext cx="18621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FF0000"/>
                </a:solidFill>
              </a:rPr>
              <a:t>“Edges”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9494" y="2525222"/>
            <a:ext cx="18621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FF0000"/>
                </a:solidFill>
              </a:rPr>
              <a:t>“Bars”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4766" y="3742189"/>
            <a:ext cx="18621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FF0000"/>
                </a:solidFill>
              </a:rPr>
              <a:t>“Spots”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602292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BC3A1-0B1E-30B0-4CB3-C04342D0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137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  <p:bldP spid="10" grpId="0" animBg="1"/>
      <p:bldP spid="11" grpId="0"/>
      <p:bldP spid="12" grpId="0"/>
      <p:bldP spid="13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1" name="Title 1"/>
          <p:cNvSpPr>
            <a:spLocks noGrp="1"/>
          </p:cNvSpPr>
          <p:nvPr>
            <p:ph type="title"/>
          </p:nvPr>
        </p:nvSpPr>
        <p:spPr>
          <a:xfrm>
            <a:off x="457200" y="142875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Filter banks</a:t>
            </a:r>
            <a:endParaRPr lang="en-US" sz="3100" i="1" dirty="0">
              <a:solidFill>
                <a:srgbClr val="0000CC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882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69742" y="1285875"/>
                <a:ext cx="8229600" cy="496018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600" dirty="0"/>
                  <a:t>4 Gaussian filters with </a:t>
                </a:r>
                <a14:m>
                  <m:oMath xmlns:m="http://schemas.openxmlformats.org/officeDocument/2006/math">
                    <m:r>
                      <a:rPr lang="en-US" sz="2600" b="1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={1,</m:t>
                    </m:r>
                    <m:rad>
                      <m:radPr>
                        <m:degHide m:val="on"/>
                        <m:ctrlPr>
                          <a:rPr lang="en-HK" sz="26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sz="2600" b="1" i="1">
                        <a:latin typeface="Cambria Math" panose="02040503050406030204" pitchFamily="18" charset="0"/>
                      </a:rPr>
                      <m:t>, 2, 2</m:t>
                    </m:r>
                    <m:rad>
                      <m:radPr>
                        <m:degHide m:val="on"/>
                        <m:ctrlPr>
                          <a:rPr lang="en-HK" sz="26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sz="2600" b="1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HK" sz="2600" b="1" dirty="0"/>
              </a:p>
              <a:p>
                <a:r>
                  <a:rPr lang="en-US" sz="2600" dirty="0"/>
                  <a:t>8 LOG (Laplacian of Gaussian) filters with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={</m:t>
                    </m:r>
                    <m:rad>
                      <m:radPr>
                        <m:degHide m:val="on"/>
                        <m:ctrlPr>
                          <a:rPr lang="en-HK" sz="2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sz="2600" i="1">
                        <a:latin typeface="Cambria Math" panose="02040503050406030204" pitchFamily="18" charset="0"/>
                      </a:rPr>
                      <m:t>, 2, 2</m:t>
                    </m:r>
                    <m:rad>
                      <m:radPr>
                        <m:degHide m:val="on"/>
                        <m:ctrlPr>
                          <a:rPr lang="en-HK" sz="2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sz="2600" i="1">
                        <a:latin typeface="Cambria Math" panose="02040503050406030204" pitchFamily="18" charset="0"/>
                      </a:rPr>
                      <m:t>, 4, 3</m:t>
                    </m:r>
                    <m:rad>
                      <m:radPr>
                        <m:degHide m:val="on"/>
                        <m:ctrlPr>
                          <a:rPr lang="en-HK" sz="2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sz="2600" i="1">
                        <a:latin typeface="Cambria Math" panose="02040503050406030204" pitchFamily="18" charset="0"/>
                      </a:rPr>
                      <m:t>, 6, 6</m:t>
                    </m:r>
                    <m:rad>
                      <m:radPr>
                        <m:degHide m:val="on"/>
                        <m:ctrlPr>
                          <a:rPr lang="en-HK" sz="2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sz="2600" i="1">
                        <a:latin typeface="Cambria Math" panose="02040503050406030204" pitchFamily="18" charset="0"/>
                      </a:rPr>
                      <m:t>, 12}</m:t>
                    </m:r>
                  </m:oMath>
                </a14:m>
                <a:endParaRPr lang="en-HK" sz="2600" b="1" dirty="0"/>
              </a:p>
              <a:p>
                <a:r>
                  <a:rPr lang="en-US" sz="2600" dirty="0"/>
                  <a:t>18 </a:t>
                </a:r>
                <a:r>
                  <a:rPr lang="en-US" sz="2600" i="1" dirty="0"/>
                  <a:t>x</a:t>
                </a:r>
                <a:r>
                  <a:rPr lang="en-US" sz="2600" dirty="0"/>
                  <a:t>-directional first derivation of Gaussian filters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600" dirty="0"/>
                  <a:t> in three different scales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={1,</m:t>
                    </m:r>
                    <m:rad>
                      <m:radPr>
                        <m:degHide m:val="on"/>
                        <m:ctrlPr>
                          <a:rPr lang="en-HK" sz="2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sz="2600" i="1">
                        <a:latin typeface="Cambria Math" panose="02040503050406030204" pitchFamily="18" charset="0"/>
                      </a:rPr>
                      <m:t>, 2}</m:t>
                    </m:r>
                  </m:oMath>
                </a14:m>
                <a:r>
                  <a:rPr lang="en-US" sz="2600" dirty="0"/>
                  <a:t> and six rotation orientations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0, </m:t>
                        </m:r>
                        <m:f>
                          <m:fPr>
                            <m:ctrlPr>
                              <a:rPr lang="en-HK" sz="2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, </m:t>
                        </m:r>
                        <m:f>
                          <m:fPr>
                            <m:ctrlPr>
                              <a:rPr lang="en-HK" sz="2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, </m:t>
                        </m:r>
                        <m:f>
                          <m:fPr>
                            <m:ctrlPr>
                              <a:rPr lang="en-HK" sz="2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, </m:t>
                        </m:r>
                        <m:f>
                          <m:fPr>
                            <m:ctrlPr>
                              <a:rPr lang="en-HK" sz="2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, </m:t>
                        </m:r>
                        <m:f>
                          <m:fPr>
                            <m:ctrlPr>
                              <a:rPr lang="en-HK" sz="2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endParaRPr lang="en-US" sz="2600" dirty="0"/>
              </a:p>
              <a:p>
                <a:r>
                  <a:rPr lang="en-US" sz="2600" dirty="0"/>
                  <a:t>18 </a:t>
                </a:r>
                <a:r>
                  <a:rPr lang="en-US" sz="2600" i="1" dirty="0"/>
                  <a:t>x</a:t>
                </a:r>
                <a:r>
                  <a:rPr lang="en-US" sz="2600" dirty="0"/>
                  <a:t>-directional second derivation of Gaussian filters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600" b="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6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600" b="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600" b="0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sz="2600" b="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600" dirty="0"/>
                  <a:t> in three different scales </a:t>
                </a:r>
                <a14:m>
                  <m:oMath xmlns:m="http://schemas.openxmlformats.org/officeDocument/2006/math">
                    <m:r>
                      <a:rPr lang="en-US" sz="2600" b="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600" b="0" i="1">
                        <a:latin typeface="Cambria Math" panose="02040503050406030204" pitchFamily="18" charset="0"/>
                      </a:rPr>
                      <m:t>={1,</m:t>
                    </m:r>
                    <m:rad>
                      <m:radPr>
                        <m:degHide m:val="on"/>
                        <m:ctrlPr>
                          <a:rPr lang="en-HK" sz="2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600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sz="2600" b="0" i="1">
                        <a:latin typeface="Cambria Math" panose="02040503050406030204" pitchFamily="18" charset="0"/>
                      </a:rPr>
                      <m:t>, 2}</m:t>
                    </m:r>
                  </m:oMath>
                </a14:m>
                <a:r>
                  <a:rPr lang="en-US" sz="2600" dirty="0"/>
                  <a:t> and six rotation orientations </a:t>
                </a:r>
                <a14:m>
                  <m:oMath xmlns:m="http://schemas.openxmlformats.org/officeDocument/2006/math">
                    <m:r>
                      <a:rPr lang="en-US" sz="2600" b="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600" b="0" i="1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0, </m:t>
                    </m:r>
                    <m:f>
                      <m:fPr>
                        <m:ctrlPr>
                          <a:rPr lang="en-HK" sz="2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600" b="1" i="1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HK" sz="2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600" b="1" i="1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HK" sz="2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600" b="1" i="1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HK" sz="2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600" b="1" i="1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HK" sz="2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600" b="1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600" b="1" dirty="0"/>
                  <a:t>.</a:t>
                </a:r>
                <a:endParaRPr lang="en-HK" sz="2600" b="1" dirty="0"/>
              </a:p>
              <a:p>
                <a:endParaRPr lang="en-HK" sz="2400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78882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9742" y="1285875"/>
                <a:ext cx="8229600" cy="4960180"/>
              </a:xfrm>
              <a:blipFill>
                <a:blip r:embed="rId3"/>
                <a:stretch>
                  <a:fillRect l="-1079" t="-1020" r="-2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25B463-2236-BB16-B769-F370AE83D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482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terbank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3466" y="946116"/>
            <a:ext cx="8658225" cy="65913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CC"/>
                </a:solidFill>
              </a:rPr>
              <a:t>Filter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A2A0EC-BC6D-EA89-2B38-6549EDB33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5509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capita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28800" y="101600"/>
            <a:ext cx="5486400" cy="665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rot="16200000">
            <a:off x="-4399674" y="2165936"/>
            <a:ext cx="909173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dirty="0">
                <a:solidFill>
                  <a:srgbClr val="000000"/>
                </a:solidFill>
              </a:rPr>
              <a:t>Image from http://www.texasexplorer.com/austincap2.jpg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0D9C00-EDEA-991B-FECB-577068E1F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3071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709837" y="325395"/>
            <a:ext cx="4198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Showing magnitude of responses</a:t>
            </a:r>
          </a:p>
        </p:txBody>
      </p:sp>
      <p:pic>
        <p:nvPicPr>
          <p:cNvPr id="9" name="Picture 8" descr="capital.jpgfiltermag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0" name="Picture 9" descr="filter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73310" y="1"/>
            <a:ext cx="2770689" cy="20780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9C1A9F-E014-C133-CFBB-F1A62336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3421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apital.jpgfiltermag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filter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97650" y="0"/>
            <a:ext cx="2746349" cy="20597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06AD3-C9E0-EB4D-515E-86F728E5A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0245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apital.jpgfiltermag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filter3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70676" y="0"/>
            <a:ext cx="2673324" cy="20049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46740-5A8C-7A16-9792-1160F600A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8643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apital.jpgfiltermag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filter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70676" y="0"/>
            <a:ext cx="2673324" cy="20049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DF26-F93B-87C0-7398-4E8C3E64B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6557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apital.jpgfiltermag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filter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70676" y="0"/>
            <a:ext cx="2673324" cy="20049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4F334-9FF7-A7EF-EE01-689077C21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6195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apital.jpgfiltermag6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filter6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507188" y="0"/>
            <a:ext cx="2636811" cy="1977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F4406-7C81-826C-3DF6-E57CEA53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3399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apital.jpgfiltermag7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filter7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70676" y="0"/>
            <a:ext cx="2673324" cy="20049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2AB20-8B23-60E1-9F12-E0E908C1E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2426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apital.jpgfiltermag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filter8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70676" y="0"/>
            <a:ext cx="2673324" cy="20049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93787-041F-F9DE-2B1D-0DD94009F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7434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apital.jpgfiltermag9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filter9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507188" y="0"/>
            <a:ext cx="2636811" cy="1977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0C73E-94B0-D521-DFB0-B28D08B9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7387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apital.jpgfiltermag1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filter10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34162" y="0"/>
            <a:ext cx="2709837" cy="20323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4110D-F4CD-97D6-EE3D-EC690526B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5398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apital.jpgfiltermag1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filter1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21992" y="0"/>
            <a:ext cx="2722008" cy="20415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29F4C-9D91-1CA6-EEC4-E3246429B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150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apital.jpgfiltermag1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 descr="filter1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714096" y="0"/>
            <a:ext cx="2429904" cy="1822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D8F9B-5218-0196-CBB6-819659F95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2477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apital.jpgfiltermag1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filter13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568044" y="-1"/>
            <a:ext cx="2575956" cy="19319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327DD-4FEF-F7AB-73A8-AF3FB6861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7442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apital.jpgfiltermag1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filter1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70676" y="0"/>
            <a:ext cx="2673324" cy="20049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D0059-817C-0E87-B406-53AE93FE3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5686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apital.jpgfiltermag1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filter15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34162" y="0"/>
            <a:ext cx="2709837" cy="20323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0ED3F-DE6F-B16C-6F3C-58F82FC36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6438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apital.jpgfiltermag16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filter16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73308" y="0"/>
            <a:ext cx="2770692" cy="20780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7D075-9C5C-330C-CE24-01EAA686D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2645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apital.jpgfiltermag1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filter17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75940" y="0"/>
            <a:ext cx="2868060" cy="21510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6AAE9-CFD2-01AF-CCF1-8CF990049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896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apital.jpgfiltermag1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filter18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97650" y="0"/>
            <a:ext cx="2746350" cy="20597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324A6-34C0-1CD3-27A3-902E65D56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7580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apital_filter38_magnitude_Sqr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85830" y="398421"/>
            <a:ext cx="5942019" cy="61387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filter37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34162" y="0"/>
            <a:ext cx="2709837" cy="20323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0FA441-3C36-8AB2-121C-507291CC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3781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14A973E-8FD2-4FDC-83AF-11561E452682}"/>
              </a:ext>
            </a:extLst>
          </p:cNvPr>
          <p:cNvSpPr txBox="1"/>
          <p:nvPr/>
        </p:nvSpPr>
        <p:spPr>
          <a:xfrm>
            <a:off x="5673323" y="3433555"/>
            <a:ext cx="265303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2000" dirty="0">
                <a:solidFill>
                  <a:prstClr val="black"/>
                </a:solidFill>
              </a:rPr>
              <a:t>1x38 	vector </a:t>
            </a:r>
          </a:p>
          <a:p>
            <a:pPr defTabSz="914400"/>
            <a:r>
              <a:rPr lang="en-US" sz="2000" dirty="0">
                <a:solidFill>
                  <a:prstClr val="black"/>
                </a:solidFill>
              </a:rPr>
              <a:t>	representation</a:t>
            </a:r>
          </a:p>
          <a:p>
            <a:pPr defTabSz="914400"/>
            <a:r>
              <a:rPr lang="en-US" sz="2000" dirty="0">
                <a:solidFill>
                  <a:prstClr val="black"/>
                </a:solidFill>
              </a:rPr>
              <a:t>	feature</a:t>
            </a:r>
          </a:p>
        </p:txBody>
      </p:sp>
      <p:pic>
        <p:nvPicPr>
          <p:cNvPr id="7" name="Picture 6" descr="capital_filter38_magnitude_Sqr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90162" y="820455"/>
            <a:ext cx="5942019" cy="6138706"/>
          </a:xfrm>
          <a:prstGeom prst="rect">
            <a:avLst/>
          </a:prstGeom>
        </p:spPr>
      </p:pic>
      <p:pic>
        <p:nvPicPr>
          <p:cNvPr id="6" name="Picture 5" descr="filterbank.jpg"/>
          <p:cNvPicPr>
            <a:picLocks noChangeAspect="1"/>
          </p:cNvPicPr>
          <p:nvPr/>
        </p:nvPicPr>
        <p:blipFill>
          <a:blip r:embed="rId4" cstate="print"/>
          <a:srcRect l="9699" t="5540" r="7644" b="19122"/>
          <a:stretch>
            <a:fillRect/>
          </a:stretch>
        </p:blipFill>
        <p:spPr>
          <a:xfrm>
            <a:off x="5602982" y="1549527"/>
            <a:ext cx="2455544" cy="170384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auto">
          <a:xfrm>
            <a:off x="1917012" y="3834279"/>
            <a:ext cx="146052" cy="182565"/>
          </a:xfrm>
          <a:prstGeom prst="rect">
            <a:avLst/>
          </a:prstGeom>
          <a:noFill/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02981" y="4403929"/>
            <a:ext cx="324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[r1, r2, …, r38]</a:t>
            </a:r>
          </a:p>
        </p:txBody>
      </p:sp>
      <p:cxnSp>
        <p:nvCxnSpPr>
          <p:cNvPr id="11" name="Straight Arrow Connector 10"/>
          <p:cNvCxnSpPr>
            <a:cxnSpLocks/>
            <a:stCxn id="9" idx="1"/>
            <a:endCxn id="8" idx="3"/>
          </p:cNvCxnSpPr>
          <p:nvPr/>
        </p:nvCxnSpPr>
        <p:spPr bwMode="auto">
          <a:xfrm flipH="1" flipV="1">
            <a:off x="2063064" y="3925562"/>
            <a:ext cx="3539917" cy="70920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0" y="6561348"/>
            <a:ext cx="3491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Adapted from Kristen </a:t>
            </a:r>
            <a:r>
              <a:rPr lang="en-US" sz="1200" dirty="0" err="1">
                <a:solidFill>
                  <a:srgbClr val="000000"/>
                </a:solidFill>
              </a:rPr>
              <a:t>Grauman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CC"/>
                </a:solidFill>
              </a:rPr>
              <a:t>Vectors of texture responses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A88DEF-1D7E-4B0A-9D9A-DD1841E482F8}"/>
              </a:ext>
            </a:extLst>
          </p:cNvPr>
          <p:cNvSpPr txBox="1"/>
          <p:nvPr/>
        </p:nvSpPr>
        <p:spPr>
          <a:xfrm>
            <a:off x="5602981" y="1155963"/>
            <a:ext cx="10976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2000" dirty="0">
                <a:solidFill>
                  <a:prstClr val="black"/>
                </a:solidFill>
              </a:rPr>
              <a:t>38 filters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53DFAB9-A529-4306-8A73-C77B9C077C68}"/>
              </a:ext>
            </a:extLst>
          </p:cNvPr>
          <p:cNvGrpSpPr/>
          <p:nvPr/>
        </p:nvGrpSpPr>
        <p:grpSpPr>
          <a:xfrm>
            <a:off x="5336508" y="4765669"/>
            <a:ext cx="3350292" cy="1293867"/>
            <a:chOff x="5336508" y="4852753"/>
            <a:chExt cx="3350292" cy="129386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AC1977A-C7D5-431F-B722-83E7CADB8DCF}"/>
                </a:ext>
              </a:extLst>
            </p:cNvPr>
            <p:cNvGrpSpPr/>
            <p:nvPr/>
          </p:nvGrpSpPr>
          <p:grpSpPr>
            <a:xfrm>
              <a:off x="5751857" y="4981706"/>
              <a:ext cx="2934943" cy="765556"/>
              <a:chOff x="5751857" y="5271989"/>
              <a:chExt cx="2934943" cy="76555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A8E8A72-1B21-42D2-9B5A-4A9309352FD5}"/>
                  </a:ext>
                </a:extLst>
              </p:cNvPr>
              <p:cNvSpPr/>
              <p:nvPr/>
            </p:nvSpPr>
            <p:spPr>
              <a:xfrm>
                <a:off x="5936342" y="5452838"/>
                <a:ext cx="182880" cy="56779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B0990AE-1BAB-4AF2-A252-46757D415BE3}"/>
                  </a:ext>
                </a:extLst>
              </p:cNvPr>
              <p:cNvSpPr/>
              <p:nvPr/>
            </p:nvSpPr>
            <p:spPr>
              <a:xfrm>
                <a:off x="6719057" y="5849440"/>
                <a:ext cx="182880" cy="18288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664F6E8-CB35-49C0-8975-10A2DDC74F81}"/>
                  </a:ext>
                </a:extLst>
              </p:cNvPr>
              <p:cNvSpPr/>
              <p:nvPr/>
            </p:nvSpPr>
            <p:spPr>
              <a:xfrm>
                <a:off x="8156428" y="5558969"/>
                <a:ext cx="182880" cy="46166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/>
                <a:endParaRPr lang="en-US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2857C87A-2C79-4804-822E-A2673FDBDFA5}"/>
                  </a:ext>
                </a:extLst>
              </p:cNvPr>
              <p:cNvCxnSpPr/>
              <p:nvPr/>
            </p:nvCxnSpPr>
            <p:spPr>
              <a:xfrm>
                <a:off x="5751857" y="6037545"/>
                <a:ext cx="293494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598AC435-9E4F-4950-A2E2-C2C9DA84FD58}"/>
                  </a:ext>
                </a:extLst>
              </p:cNvPr>
              <p:cNvCxnSpPr/>
              <p:nvPr/>
            </p:nvCxnSpPr>
            <p:spPr>
              <a:xfrm flipV="1">
                <a:off x="5751857" y="5271989"/>
                <a:ext cx="0" cy="76555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075702-051E-456C-A990-A7831D4C44B4}"/>
                </a:ext>
              </a:extLst>
            </p:cNvPr>
            <p:cNvSpPr txBox="1"/>
            <p:nvPr/>
          </p:nvSpPr>
          <p:spPr>
            <a:xfrm>
              <a:off x="6741223" y="5777288"/>
              <a:ext cx="9195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dirty="0">
                  <a:solidFill>
                    <a:prstClr val="black"/>
                  </a:solidFill>
                </a:rPr>
                <a:t>Filter ID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B2F5F9E-3AC9-4689-8083-7B7D91C38758}"/>
                </a:ext>
              </a:extLst>
            </p:cNvPr>
            <p:cNvSpPr txBox="1"/>
            <p:nvPr/>
          </p:nvSpPr>
          <p:spPr>
            <a:xfrm rot="16200000">
              <a:off x="4980416" y="5208845"/>
              <a:ext cx="108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dirty="0">
                  <a:solidFill>
                    <a:prstClr val="black"/>
                  </a:solidFill>
                </a:rPr>
                <a:t>Response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36DA692-987B-4737-B1E2-B951BFE34AF1}"/>
              </a:ext>
            </a:extLst>
          </p:cNvPr>
          <p:cNvGrpSpPr/>
          <p:nvPr/>
        </p:nvGrpSpPr>
        <p:grpSpPr>
          <a:xfrm>
            <a:off x="5838826" y="6117929"/>
            <a:ext cx="2598385" cy="378686"/>
            <a:chOff x="5838826" y="6263069"/>
            <a:chExt cx="2598385" cy="37868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343394B-3142-47F1-88BA-92C72218C12A}"/>
                </a:ext>
              </a:extLst>
            </p:cNvPr>
            <p:cNvSpPr/>
            <p:nvPr/>
          </p:nvSpPr>
          <p:spPr>
            <a:xfrm>
              <a:off x="6621154" y="6263069"/>
              <a:ext cx="378686" cy="37868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17C13E9-0CB5-4A3C-ACA9-25883ABF95B6}"/>
                </a:ext>
              </a:extLst>
            </p:cNvPr>
            <p:cNvSpPr/>
            <p:nvPr/>
          </p:nvSpPr>
          <p:spPr>
            <a:xfrm>
              <a:off x="5838826" y="6263069"/>
              <a:ext cx="378686" cy="3786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BD1D2D7-ED81-4ED4-9E4E-BEDC4E06A172}"/>
                </a:ext>
              </a:extLst>
            </p:cNvPr>
            <p:cNvSpPr/>
            <p:nvPr/>
          </p:nvSpPr>
          <p:spPr>
            <a:xfrm>
              <a:off x="8058525" y="6263069"/>
              <a:ext cx="378686" cy="37868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FE01565-D5F9-414F-9C0D-6907E4B4A883}"/>
              </a:ext>
            </a:extLst>
          </p:cNvPr>
          <p:cNvSpPr txBox="1"/>
          <p:nvPr/>
        </p:nvSpPr>
        <p:spPr>
          <a:xfrm>
            <a:off x="920548" y="1601163"/>
            <a:ext cx="3651949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prstClr val="white"/>
                </a:solidFill>
              </a:rPr>
              <a:t>To represent pixel, form a “feature vector” from the responses at that pixel.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A8DA5E-D134-8425-2D8A-DC02CB71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03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 animBg="1"/>
      <p:bldP spid="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920547" y="3066733"/>
            <a:ext cx="6031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</a:t>
            </a:r>
            <a:r>
              <a:rPr lang="en-US" sz="2400" baseline="-25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(1,1)</a:t>
            </a:r>
            <a:r>
              <a:rPr lang="en-US" sz="2400" baseline="30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r</a:t>
            </a:r>
            <a:r>
              <a:rPr lang="en-US" sz="2400" baseline="-25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(1,1)</a:t>
            </a:r>
            <a:r>
              <a:rPr lang="en-US" sz="2400" baseline="30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…, r</a:t>
            </a:r>
            <a:r>
              <a:rPr lang="en-US" sz="2400" baseline="-25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(1,1)</a:t>
            </a:r>
            <a:r>
              <a:rPr lang="en-US" sz="2400" baseline="30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CC"/>
                </a:solidFill>
              </a:rPr>
              <a:t>Vectors of texture responses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B8FC5B-E090-47F0-BFF7-9884EF3D2883}"/>
              </a:ext>
            </a:extLst>
          </p:cNvPr>
          <p:cNvSpPr txBox="1"/>
          <p:nvPr/>
        </p:nvSpPr>
        <p:spPr>
          <a:xfrm>
            <a:off x="920548" y="1601163"/>
            <a:ext cx="3651949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prstClr val="white"/>
                </a:solidFill>
              </a:rPr>
              <a:t>To represent pixel, form a “feature vector” from the responses at that pixel.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3A99625-79A5-4F7A-AF58-EACA03011760}"/>
              </a:ext>
            </a:extLst>
          </p:cNvPr>
          <p:cNvCxnSpPr>
            <a:cxnSpLocks/>
          </p:cNvCxnSpPr>
          <p:nvPr/>
        </p:nvCxnSpPr>
        <p:spPr>
          <a:xfrm flipH="1" flipV="1">
            <a:off x="2069432" y="3433011"/>
            <a:ext cx="412512" cy="5584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49BB9F0-B850-4ADC-B3BE-02B318591E47}"/>
              </a:ext>
            </a:extLst>
          </p:cNvPr>
          <p:cNvCxnSpPr/>
          <p:nvPr/>
        </p:nvCxnSpPr>
        <p:spPr>
          <a:xfrm flipV="1">
            <a:off x="1637085" y="3528398"/>
            <a:ext cx="0" cy="4630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BEA0035-2735-4952-B0CD-BCFBC48AB1BA}"/>
              </a:ext>
            </a:extLst>
          </p:cNvPr>
          <p:cNvSpPr txBox="1"/>
          <p:nvPr/>
        </p:nvSpPr>
        <p:spPr>
          <a:xfrm>
            <a:off x="702482" y="3994801"/>
            <a:ext cx="1486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dirty="0">
                <a:solidFill>
                  <a:prstClr val="black"/>
                </a:solidFill>
              </a:rPr>
              <a:t>Pixel location (row, column)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4076A6-36E3-412E-AE1F-7E6FFC44D6C7}"/>
              </a:ext>
            </a:extLst>
          </p:cNvPr>
          <p:cNvSpPr txBox="1"/>
          <p:nvPr/>
        </p:nvSpPr>
        <p:spPr>
          <a:xfrm>
            <a:off x="2264229" y="4009055"/>
            <a:ext cx="1486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dirty="0">
                <a:solidFill>
                  <a:prstClr val="black"/>
                </a:solidFill>
              </a:rPr>
              <a:t>Filter 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36A6B4-88EF-458B-9547-A2AE56AF562F}"/>
              </a:ext>
            </a:extLst>
          </p:cNvPr>
          <p:cNvSpPr txBox="1"/>
          <p:nvPr/>
        </p:nvSpPr>
        <p:spPr>
          <a:xfrm>
            <a:off x="920547" y="3662140"/>
            <a:ext cx="6031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</a:t>
            </a:r>
            <a:r>
              <a:rPr lang="en-US" sz="2400" baseline="-25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(1,2)</a:t>
            </a:r>
            <a:r>
              <a:rPr lang="en-US" sz="2400" baseline="30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r</a:t>
            </a:r>
            <a:r>
              <a:rPr lang="en-US" sz="2400" baseline="-25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(1,2)</a:t>
            </a:r>
            <a:r>
              <a:rPr lang="en-US" sz="2400" baseline="30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…, r</a:t>
            </a:r>
            <a:r>
              <a:rPr lang="en-US" sz="2400" baseline="-25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(1,2)</a:t>
            </a:r>
            <a:r>
              <a:rPr lang="en-US" sz="2400" baseline="30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DDFDD5-8F3C-4C1B-BB65-E52E94451E09}"/>
              </a:ext>
            </a:extLst>
          </p:cNvPr>
          <p:cNvSpPr txBox="1"/>
          <p:nvPr/>
        </p:nvSpPr>
        <p:spPr>
          <a:xfrm>
            <a:off x="920546" y="4654394"/>
            <a:ext cx="6031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</a:t>
            </a:r>
            <a:r>
              <a:rPr lang="en-US" sz="2400" baseline="-25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(W,H)</a:t>
            </a:r>
            <a:r>
              <a:rPr lang="en-US" sz="2400" baseline="30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r</a:t>
            </a:r>
            <a:r>
              <a:rPr lang="en-US" sz="2400" baseline="-25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(W,H)</a:t>
            </a:r>
            <a:r>
              <a:rPr lang="en-US" sz="2400" baseline="30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…, r</a:t>
            </a:r>
            <a:r>
              <a:rPr lang="en-US" sz="2400" baseline="-25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(W,H)</a:t>
            </a:r>
            <a:r>
              <a:rPr lang="en-US" sz="2400" baseline="30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16422-4921-48D8-983C-FB058A061256}"/>
              </a:ext>
            </a:extLst>
          </p:cNvPr>
          <p:cNvSpPr txBox="1"/>
          <p:nvPr/>
        </p:nvSpPr>
        <p:spPr>
          <a:xfrm>
            <a:off x="2934732" y="4219754"/>
            <a:ext cx="6031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425E51-77A5-42E2-A098-8E1FB0A25CC4}"/>
              </a:ext>
            </a:extLst>
          </p:cNvPr>
          <p:cNvCxnSpPr>
            <a:cxnSpLocks/>
          </p:cNvCxnSpPr>
          <p:nvPr/>
        </p:nvCxnSpPr>
        <p:spPr>
          <a:xfrm>
            <a:off x="457200" y="5268686"/>
            <a:ext cx="80759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2913D6E-BDDA-4052-8995-D2F897725808}"/>
              </a:ext>
            </a:extLst>
          </p:cNvPr>
          <p:cNvSpPr txBox="1"/>
          <p:nvPr/>
        </p:nvSpPr>
        <p:spPr>
          <a:xfrm>
            <a:off x="920546" y="5416466"/>
            <a:ext cx="8045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[mean(r</a:t>
            </a:r>
            <a:r>
              <a:rPr lang="en-US" sz="2400" baseline="-25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(:)</a:t>
            </a:r>
            <a:r>
              <a:rPr lang="en-US" sz="2400" baseline="30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mean(r</a:t>
            </a:r>
            <a:r>
              <a:rPr lang="en-US" sz="2400" baseline="-25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(:)</a:t>
            </a:r>
            <a:r>
              <a:rPr lang="en-US" sz="2400" baseline="30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…, mean(r</a:t>
            </a:r>
            <a:r>
              <a:rPr lang="en-US" sz="2400" baseline="-25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(:)</a:t>
            </a:r>
            <a:r>
              <a:rPr lang="en-US" sz="2400" baseline="30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38832B-8A5E-4832-A4FB-D476E7D1D646}"/>
              </a:ext>
            </a:extLst>
          </p:cNvPr>
          <p:cNvSpPr txBox="1"/>
          <p:nvPr/>
        </p:nvSpPr>
        <p:spPr>
          <a:xfrm>
            <a:off x="4796842" y="1611822"/>
            <a:ext cx="40423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000000"/>
                </a:solidFill>
              </a:rPr>
              <a:t>To represent </a:t>
            </a:r>
            <a:r>
              <a:rPr lang="en-US" sz="2400" i="1" dirty="0">
                <a:solidFill>
                  <a:srgbClr val="000000"/>
                </a:solidFill>
              </a:rPr>
              <a:t>image</a:t>
            </a:r>
            <a:r>
              <a:rPr lang="en-US" sz="2400" dirty="0">
                <a:solidFill>
                  <a:srgbClr val="000000"/>
                </a:solidFill>
              </a:rPr>
              <a:t>, compute statistics over all pixel feature vectors, e.g. their mean.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EC5243-A28C-C6E8-43F3-0E816DF89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887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4" grpId="0"/>
      <p:bldP spid="35" grpId="0"/>
      <p:bldP spid="36" grpId="0"/>
      <p:bldP spid="37" grpId="0"/>
      <p:bldP spid="38" grpId="0"/>
      <p:bldP spid="4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CC"/>
                </a:solidFill>
              </a:rPr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of the following is not correct?</a:t>
            </a:r>
          </a:p>
          <a:p>
            <a:pPr lvl="1"/>
            <a:r>
              <a:rPr lang="en-US" dirty="0"/>
              <a:t>Co-occurrence matrix is expensive to compute</a:t>
            </a:r>
          </a:p>
          <a:p>
            <a:pPr marL="457200" lvl="1" indent="0">
              <a:buNone/>
            </a:pPr>
            <a:r>
              <a:rPr lang="en-US" dirty="0"/>
              <a:t>because there are many possible spatial relations to consider</a:t>
            </a:r>
          </a:p>
          <a:p>
            <a:pPr lvl="1"/>
            <a:r>
              <a:rPr lang="en-US" dirty="0"/>
              <a:t>LBP is a good method for texture classification</a:t>
            </a:r>
          </a:p>
          <a:p>
            <a:pPr lvl="1"/>
            <a:r>
              <a:rPr lang="en-US" dirty="0"/>
              <a:t>The limitation of the filter bank is that only one scale can be considered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45CB1-4172-D727-079A-B6096CC46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1088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Texture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use of color and texture together can work well for both recognition and segmentation.</a:t>
            </a:r>
          </a:p>
        </p:txBody>
      </p:sp>
    </p:spTree>
    <p:extLst>
      <p:ext uri="{BB962C8B-B14F-4D97-AF65-F5344CB8AC3E}">
        <p14:creationId xmlns:p14="http://schemas.microsoft.com/office/powerpoint/2010/main" val="2268534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1">
  <a:themeElements>
    <a:clrScheme name="custom1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custom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custom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5356</TotalTime>
  <Words>2136</Words>
  <Application>Microsoft Office PowerPoint</Application>
  <PresentationFormat>On-screen Show (4:3)</PresentationFormat>
  <Paragraphs>404</Paragraphs>
  <Slides>55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55</vt:i4>
      </vt:variant>
    </vt:vector>
  </HeadingPairs>
  <TitlesOfParts>
    <vt:vector size="66" baseType="lpstr">
      <vt:lpstr>Arial</vt:lpstr>
      <vt:lpstr>Calibri</vt:lpstr>
      <vt:lpstr>Cambria Math</vt:lpstr>
      <vt:lpstr>Courier New</vt:lpstr>
      <vt:lpstr>Kalinga</vt:lpstr>
      <vt:lpstr>Tahoma</vt:lpstr>
      <vt:lpstr>Times New Roman</vt:lpstr>
      <vt:lpstr>Wingdings</vt:lpstr>
      <vt:lpstr>Office Theme</vt:lpstr>
      <vt:lpstr>2_Office Theme</vt:lpstr>
      <vt:lpstr>custom1</vt:lpstr>
      <vt:lpstr> CS 5187: Vision and Image Lecture 2-2 Color and Texture</vt:lpstr>
      <vt:lpstr>Color and Texture</vt:lpstr>
      <vt:lpstr>Color Spaces</vt:lpstr>
      <vt:lpstr>RGB Color Space</vt:lpstr>
      <vt:lpstr>Color hexagon for HSI (HSV)</vt:lpstr>
      <vt:lpstr>Editing Saturation of Colors</vt:lpstr>
      <vt:lpstr>Histograms</vt:lpstr>
      <vt:lpstr>Gray image histogram</vt:lpstr>
      <vt:lpstr>Color histograms can represent the distribution of pixel values</vt:lpstr>
      <vt:lpstr>How to make a color histogram</vt:lpstr>
      <vt:lpstr>Swain and Ballard’s Histogram Matching for Color Object Recognition  (IJCV Vol 7, No. 1, 1991)</vt:lpstr>
      <vt:lpstr>PowerPoint Presentation</vt:lpstr>
      <vt:lpstr>PowerPoint Presentation</vt:lpstr>
      <vt:lpstr>Multi-scale spatial color representation</vt:lpstr>
      <vt:lpstr>Quiz</vt:lpstr>
      <vt:lpstr>Texture</vt:lpstr>
      <vt:lpstr>Structural Texture</vt:lpstr>
      <vt:lpstr>Natural Textures from VisTex</vt:lpstr>
      <vt:lpstr>The Case for Statistical Texture</vt:lpstr>
      <vt:lpstr>Some Simple Statistical Texture Measures</vt:lpstr>
      <vt:lpstr>Two Edge-based Texture Measures</vt:lpstr>
      <vt:lpstr>Local Binary Pattern Measure</vt:lpstr>
      <vt:lpstr>Local Binary Pattern (LBP)</vt:lpstr>
      <vt:lpstr>PowerPoint Presentation</vt:lpstr>
      <vt:lpstr>PowerPoint Presentation</vt:lpstr>
      <vt:lpstr>Co-occurrence Matrix Features</vt:lpstr>
      <vt:lpstr>PowerPoint Presentation</vt:lpstr>
      <vt:lpstr>But how do you choose d?</vt:lpstr>
      <vt:lpstr>Filter banks</vt:lpstr>
      <vt:lpstr>Filter banks</vt:lpstr>
      <vt:lpstr>Filter bank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Vectors of texture responses</vt:lpstr>
      <vt:lpstr>Vectors of texture responses</vt:lpstr>
      <vt:lpstr>Quiz</vt:lpstr>
      <vt:lpstr>Use of Texture</vt:lpstr>
    </vt:vector>
  </TitlesOfParts>
  <Company>UW CSE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Sampling</dc:title>
  <dc:creator>Ali Farhadi</dc:creator>
  <cp:lastModifiedBy>Prof. WU Dapeng</cp:lastModifiedBy>
  <cp:revision>121</cp:revision>
  <cp:lastPrinted>2021-01-11T02:47:47Z</cp:lastPrinted>
  <dcterms:created xsi:type="dcterms:W3CDTF">2013-04-03T17:41:10Z</dcterms:created>
  <dcterms:modified xsi:type="dcterms:W3CDTF">2026-09-04T15:18:59Z</dcterms:modified>
</cp:coreProperties>
</file>